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gio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0237" y="1870662"/>
            <a:ext cx="5951220" cy="5105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981047" y="24726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DOCENTE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5847" y="24726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Federico Laurianti</a:t>
            </a:r>
          </a:p>
        </p:txBody>
      </p:sp>
      <p:sp>
        <p:nvSpPr>
          <p:cNvPr id="5" name="Rectangle 4"/>
          <p:cNvSpPr/>
          <p:nvPr/>
        </p:nvSpPr>
        <p:spPr>
          <a:xfrm>
            <a:off x="1981047" y="29298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UNITÀ FORMATIVA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5847" y="292984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Microsoft Azure (100 ore)</a:t>
            </a:r>
          </a:p>
        </p:txBody>
      </p:sp>
      <p:sp>
        <p:nvSpPr>
          <p:cNvPr id="7" name="Rectangle 6"/>
          <p:cNvSpPr/>
          <p:nvPr/>
        </p:nvSpPr>
        <p:spPr>
          <a:xfrm>
            <a:off x="1981047" y="3387042"/>
            <a:ext cx="4114800" cy="9479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ARGOMENTO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5847" y="3387042"/>
            <a:ext cx="4114800" cy="9479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Security, Reliability e Business Continuity - PT1: Defender for Cloud e Key Vault (4 ore)</a:t>
            </a:r>
          </a:p>
        </p:txBody>
      </p:sp>
      <p:pic>
        <p:nvPicPr>
          <p:cNvPr id="9" name="Picture 8" descr="its-i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1874" y="4426410"/>
            <a:ext cx="1247948" cy="6858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1A3C6E"/>
                </a:solidFill>
                <a:latin typeface="Segoe UI"/>
              </a:rPr>
              <a:t>Vedere il rischio e proteggere i segreti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C0392B"/>
                </a:solidFill>
                <a:latin typeface="Segoe UI"/>
              </a:rPr>
              <a:t>Defender for Cloud per la postura, Key Vault per chiavi e credenziali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Argomenti (4 ore)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Defender for Cloud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: posture management, workload protection, recommendations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Priorità del rischio: cosa guardare prima (esposizione, identity, patching)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Guest Configuration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e vulnerability assessment come controllo continuo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Ridurre la superficie esposta: WAF, segmentazione, log ed evidenze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Key Vault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: centralizzare segreti, chiavi e certificati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Accesso applicativo con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Managed Identity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e permessi minimi</a:t>
            </a:r>
          </a:p>
          <a:p>
            <a:pPr>
              <a:spcBef>
                <a:spcPts val="6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Rotazione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, scadenza, </a:t>
            </a:r>
            <a:r>
              <a:rPr sz="2000" b="1" i="0">
                <a:solidFill>
                  <a:srgbClr val="111111"/>
                </a:solidFill>
                <a:latin typeface="Segoe UI"/>
              </a:rPr>
              <a:t>HSM</a:t>
            </a:r>
            <a:r>
              <a:rPr sz="2000" b="0" i="0">
                <a:solidFill>
                  <a:srgbClr val="333333"/>
                </a:solidFill>
                <a:latin typeface="Segoe UI"/>
              </a:rPr>
              <a:t> e fiducia tra servizi (TLS/mTLS)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Perché partire da Defender for Cloud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445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La sicurezza cloud non si legge solo dal firewall o da una singola VM.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Serve una vista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trasversale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su configurazioni, rischi e priorità operative.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Defender for Cloud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legge lo stato di sicurezza di subscription e risorse.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valore: vedere i problemi ricorrenti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prima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che diventino incidente.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La sicurezza diventa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controllo continuo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non verifica occasionale.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Posture management e workload protection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3619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81047" y="16733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Livello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5847" y="167335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Cosa guarda</a:t>
            </a:r>
          </a:p>
        </p:txBody>
      </p:sp>
      <p:sp>
        <p:nvSpPr>
          <p:cNvPr id="6" name="Rectangle 5"/>
          <p:cNvSpPr/>
          <p:nvPr/>
        </p:nvSpPr>
        <p:spPr>
          <a:xfrm>
            <a:off x="1981047" y="2130552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Posture management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5847" y="2130552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configurazioni, policy, esposizioni e hardening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981047" y="2799080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Workload protection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5847" y="2799080"/>
            <a:ext cx="4114800" cy="66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minacce, vulnerabilità e segnali operativi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559048"/>
            <a:ext cx="9966960" cy="2727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primo livello misura quanto l'ambiente è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impostato bene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secondo guarda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cosa sta succedendo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ai workload reali.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Le due letture servono insieme, non una al posto dell'altra.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Recommendations e priorità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4074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recommendations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mostrano configurazioni deboli o mancanti.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Non tutte pesano uguale: alcune riducono il rischio molto più di altre.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Leggere prima: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esposizione pubblica, identity, patching, crittografia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punto non è chiudere ticket, ma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abbassare il rischio reale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Serve sempre un ordine di priorità, non una lista piatta.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Guest Configuration e vulnerability assessment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3619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73352"/>
            <a:ext cx="9966960" cy="445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Guest Configuration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verifica che le VM rispettino le impostazioni attese.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vulnerability assessment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evidenzia software e componenti deboli.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Servono a ridurre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deriva configurativa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superfici note.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La sicurezza del workload non finisce al bordo della subnet.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Anche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dentro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la macchina vanno letti stato e conformità tecnica.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Ridurre la superficie e raccogliere evidenze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3619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73352"/>
            <a:ext cx="9966960" cy="369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Meno porte aperte e meno endpoint pubblici = meno rischio.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WAF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segmentazione e regole mirate filtrano il traffico utile.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Principio guida: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esporre solo ciò che serve davvero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Activity Log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log diagnostici raccontano cosa è successo e dove.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Senza evidenze un incidente resta un sospetto: la sicurezza è anche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lettura dei segnali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Dal vedere il rischio al proteggere i segreti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3619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73352"/>
            <a:ext cx="9966960" cy="3616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Defender ci dice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dove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siamo esposti; ora vediamo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come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custodire ciò che è sensibile.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Una delle esposizioni più comuni: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credenziali e chiavi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sparse nel codice o nei file.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passo naturale è centralizzarle in un servizio dedicato: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Azure Key Vault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1000"/>
              </a:spcBef>
            </a:pPr>
            <a:r>
              <a:rPr sz="2400" b="0" i="0">
                <a:solidFill>
                  <a:srgbClr val="666666"/>
                </a:solidFill>
                <a:latin typeface="Segoe UI"/>
              </a:rPr>
              <a:t>“Stesso obiettivo (ridurre il rischio), ma ora a livello di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segreti e crittografia</a:t>
            </a:r>
            <a:r>
              <a:rPr sz="2400" b="0" i="0">
                <a:solidFill>
                  <a:srgbClr val="666666"/>
                </a:solidFill>
                <a:latin typeface="Segoe UI"/>
              </a:rPr>
              <a:t>.”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Perché centralizzare segreti e chiavi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359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Segreti e chiavi sparsi nel codice o nei config aumentano il rischio.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Un servizio centrale rende chiari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controllo accessi, rotazione e audit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Azure Key Vault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nasce per togliere le credenziali dai punti sbagliati.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L'obiettivo non è solo custodire il valore, ma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governarne il ciclo di vita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Segreti, chiavi e certificati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981047" y="9418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Oggetto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5847" y="9418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Uso tipico</a:t>
            </a:r>
          </a:p>
        </p:txBody>
      </p:sp>
      <p:sp>
        <p:nvSpPr>
          <p:cNvPr id="6" name="Rectangle 5"/>
          <p:cNvSpPr/>
          <p:nvPr/>
        </p:nvSpPr>
        <p:spPr>
          <a:xfrm>
            <a:off x="1981047" y="13990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Secret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5847" y="13990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password, connection string, token</a:t>
            </a:r>
          </a:p>
        </p:txBody>
      </p:sp>
      <p:sp>
        <p:nvSpPr>
          <p:cNvPr id="8" name="Rectangle 7"/>
          <p:cNvSpPr/>
          <p:nvPr/>
        </p:nvSpPr>
        <p:spPr>
          <a:xfrm>
            <a:off x="1981047" y="18562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Key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5847" y="18562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crittografia, firma, protezione dati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81047" y="23134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 i="0">
                <a:solidFill>
                  <a:srgbClr val="111111"/>
                </a:solidFill>
                <a:latin typeface="Segoe UI"/>
              </a:rPr>
              <a:t>Certificate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5847" y="2313432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0">
                <a:solidFill>
                  <a:srgbClr val="333333"/>
                </a:solidFill>
                <a:latin typeface="Segoe UI"/>
              </a:rPr>
              <a:t>TLS, identità del servizio, trust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62072"/>
            <a:ext cx="9966960" cy="148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Hanno tutti valore sensibile, ma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scopi diversi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Separarli bene aiuta a scegliere permessi e processo corretti.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Come un'app accede al vault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445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Il modello migliore su Azure è spesso la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Managed Identity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Così l'app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non porta con sé credenziali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da salvare altrove.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 permessi devono essere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minimi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mirati all'oggetto richiesto.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L'accesso degli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amministratori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va separato da quello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applicativo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Un vault sicuro dipende tanto dal permesso quanto dal contenuto.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Rotazione e scadenza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369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Un segreto statico per anni è un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debito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, non una soluzione.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Rotazione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scadenza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obbligano a rinnovare i valori sensibili.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L'app va progettata per leggere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credenziali aggiornate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Se la rotazione rompe il servizio, il problema è anche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architetturale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Qui si vede se la sicurezza è stata pensata davvero.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HSM e fiducia tra servizi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445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Non tutte le chiavi richiedono lo stesso livello di protezione.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Gli scenari più sensibili possono richiedere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HSM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dedicati o gestiti.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L'HSM aumenta garanzie 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isolamento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del materiale crittografico (compliance, rischio alto).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I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certificati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proteggono le connessioni e dichiarano identità: entrano in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TLS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e basi di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mTLS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Anche qui conta la gestione: rinnovo, scadenza, revoca. Domanda finale: </a:t>
            </a:r>
            <a:r>
              <a:rPr sz="2400" b="0" i="1">
                <a:solidFill>
                  <a:srgbClr val="333333"/>
                </a:solidFill>
                <a:latin typeface="Segoe UI"/>
              </a:rPr>
              <a:t>chi si fida di chi, e con quale prova?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1A3C6E"/>
                </a:solidFill>
                <a:latin typeface="Segoe UI"/>
              </a:rPr>
              <a:t>Da portare a casa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04672"/>
            <a:ext cx="2286000" cy="381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41832"/>
            <a:ext cx="9966960" cy="445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Defender for Cloud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= vedere il rischio in modo continuo e per priorità.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Posture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(come sei impostato) e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workload protection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(cosa accade) vanno letti insieme.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Key Vault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= togliere segreti e chiavi dai punti sbagliati e governarne il ciclo di vita.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Managed Identity + permessi minimi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= accesso applicativo senza credenziali sparse.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333333"/>
                </a:solidFill>
                <a:latin typeface="Segoe UI"/>
              </a:rPr>
              <a:t>•  Filo unico: prima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vedo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dove sono esposto, poi </a:t>
            </a:r>
            <a:r>
              <a:rPr sz="2400" b="1" i="0">
                <a:solidFill>
                  <a:srgbClr val="111111"/>
                </a:solidFill>
                <a:latin typeface="Segoe UI"/>
              </a:rPr>
              <a:t>proteggo</a:t>
            </a:r>
            <a:r>
              <a:rPr sz="2400" b="0" i="0">
                <a:solidFill>
                  <a:srgbClr val="333333"/>
                </a:solidFill>
                <a:latin typeface="Segoe UI"/>
              </a:rPr>
              <a:t> ciò che è sensibile.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