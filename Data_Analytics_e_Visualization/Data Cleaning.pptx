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Google Sans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C4C6FE-86D6-48EC-89D2-03BF143DAF92}">
  <a:tblStyle styleId="{B7C4C6FE-86D6-48EC-89D2-03BF143DAF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GoogleSans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GoogleSans-italic.fntdata"/><Relationship Id="rId27" Type="http://schemas.openxmlformats.org/officeDocument/2006/relationships/font" Target="fonts/Google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Google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6fdb295c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86fdb295c6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6fdb295c6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6fdb295c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6fdb295c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86fdb295c6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6fdb295c6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6fdb295c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95500" y="866775"/>
            <a:ext cx="8001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Data Cleaning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1790700"/>
            <a:ext cx="76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“Dai diamanti non nasce niente</a:t>
            </a:r>
            <a:br>
              <a:rPr lang="en-US" sz="18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8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Dal letame nascono i fior”</a:t>
            </a:r>
            <a:br>
              <a:rPr lang="en-US" sz="18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18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Fabrizio De Andre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3324225"/>
            <a:ext cx="57150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727170"/>
            <a:ext cx="1143000" cy="477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95300" y="965295"/>
            <a:ext cx="1120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Perché la pulizia è fondamentale?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07650" y="2251875"/>
            <a:ext cx="103767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00"/>
              <a:buFont typeface="Lato"/>
              <a:buChar char="❏"/>
            </a:pPr>
            <a:r>
              <a:rPr lang="en-US" sz="2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Progresso tecnico e digitalizzazione dei processi economici hanno trasformato il dato da semplice sottoprodotto a asset strategico primario</a:t>
            </a:r>
            <a:endParaRPr sz="20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00"/>
              <a:buFont typeface="Lato"/>
              <a:buChar char="❏"/>
            </a:pPr>
            <a:r>
              <a:rPr lang="en-US" sz="2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… ma i</a:t>
            </a:r>
            <a:r>
              <a:rPr b="0" i="0" lang="en-US" sz="2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 dato grezzo non genera automaticamente valore.</a:t>
            </a:r>
            <a:endParaRPr sz="20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00"/>
              <a:buFont typeface="Lato"/>
              <a:buChar char="❏"/>
            </a:pPr>
            <a:r>
              <a:rPr b="0" i="0" lang="en-US" sz="2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 gestione di volumi eterogenei introduce complessità che possono compromettere la validità di qualsiasi analisi.</a:t>
            </a:r>
            <a:endParaRPr b="0" i="0" sz="200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00"/>
              <a:buFont typeface="Lato"/>
              <a:buChar char="❏"/>
            </a:pPr>
            <a:r>
              <a:rPr lang="en-US" sz="2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Il data cleaning è la fase in cui il dato grezzo, spesso frammentato e degradato, viene trasformato in una risorsa accurata, coerente e analizzabile.</a:t>
            </a:r>
            <a:endParaRPr sz="20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La Realtà del Data Scientist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971800"/>
            <a:ext cx="44196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80%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4591050"/>
            <a:ext cx="4419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4AF37"/>
                </a:solidFill>
                <a:latin typeface="Lato"/>
                <a:ea typeface="Lato"/>
                <a:cs typeface="Lato"/>
                <a:sym typeface="Lato"/>
              </a:rPr>
              <a:t>Tempo di Lavoro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372100" y="1671125"/>
            <a:ext cx="681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Il "Lavoro Sporco" dell'Analisi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372100" y="2444725"/>
            <a:ext cx="66294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Gli analisti di dati e i data scientist dedicano una quota sproporzionata del loro tempo, stimata tra il 70% e l'80%, esclusivamente ad attività di preparazione, pulizia e trasformazione.</a:t>
            </a:r>
            <a:endParaRPr b="0" i="0" sz="200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Senza questo rigoroso processo di bonifica, le organizzazioni rischiano sanzioni massive (GDPR) e decisioni basate su analisi fragili.</a:t>
            </a:r>
            <a:endParaRPr sz="20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372100" y="4410075"/>
            <a:ext cx="662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571500" y="777638"/>
            <a:ext cx="11049000" cy="28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3" name="Google Shape;113;p16"/>
          <p:cNvGraphicFramePr/>
          <p:nvPr/>
        </p:nvGraphicFramePr>
        <p:xfrm>
          <a:off x="9450" y="9344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{B7C4C6FE-86D6-48EC-89D2-03BF143DAF92}</a:tableStyleId>
              </a:tblPr>
              <a:tblGrid>
                <a:gridCol w="471700"/>
                <a:gridCol w="1759025"/>
                <a:gridCol w="7546000"/>
                <a:gridCol w="2396375"/>
              </a:tblGrid>
              <a:tr h="60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#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Tipo di Anomalia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Descrizione e Implicazioni Aziendali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Esempio Pratico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Spazi Superflui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Spazi bianchi iniziali, finali o doppi (leading/trailing/internal spaces). Impediscono il matching esatto tra stringhe e raddoppiano le categorie in fase di raggruppamento.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" Mario Rossi" vs "Mario Rossi"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Date non Omogenee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Utilizzo di formati cronologici diversi nello stesso campo. Rende impossibile l'ordinamento temporale e il calcolo delle durate senza una normalizzazione ISO 8601.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01/12/2023, 2023-12-01, Dec 1, 23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3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Incoerenza di Casing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Alternanza di maiuscole e minuscole (Upper/Lower/Title Case). Gli algoritmi sensibili al case trattano queste varianti come entità distinte.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AMAZON, amazon, Amazon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4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Unità di Misura Difformi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Valori numerici espressi in scale diverse (es. metrico vs UK). Senza armonizzazione, le medie e i totali risultano matematicamente privi di senso.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150 kg, 330 lbs nello stesso dataset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8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5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Simboli e Caratteri Speciali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Presenza di emoji, simboli valuta o caratteri non alfanumerici derivanti da scraping o inserimenti manuali creativi.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Fatturato: € 10.000,00 (in un campo numerico)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7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6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Encoding Errati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Discrepanze nei set di caratteri (es. UTF-8 vs Latin-1) che corrompono le lettere accentate e i simboli speciali, rendendo il testo illeggibile.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CaffÃ¨ invece di Caffè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2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7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Parametri URL Ridondanti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Presenza di stringhe di query (UTM parameters) negli indirizzi web che frammentano l'analisi del traffico.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site.com/p?utm_source=fb vs site.com/p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" name="Google Shape;114;p16"/>
          <p:cNvSpPr txBox="1"/>
          <p:nvPr/>
        </p:nvSpPr>
        <p:spPr>
          <a:xfrm>
            <a:off x="571500" y="30281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Anomalie di Formattazione e Standardizzazione</a:t>
            </a:r>
            <a:endParaRPr b="1" sz="3000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Errori Strutturali e Logici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571500" y="3709987"/>
            <a:ext cx="226575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2837259" y="3709987"/>
            <a:ext cx="466010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7497365" y="3709987"/>
            <a:ext cx="412313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571500" y="4186237"/>
            <a:ext cx="226575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2837259" y="4186237"/>
            <a:ext cx="466010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7497365" y="4186237"/>
            <a:ext cx="412313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571500" y="4662487"/>
            <a:ext cx="226575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2837259" y="4662487"/>
            <a:ext cx="466010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7497365" y="4662487"/>
            <a:ext cx="412313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138737"/>
            <a:ext cx="2265759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2837259" y="5138737"/>
            <a:ext cx="4660106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7497365" y="5138737"/>
            <a:ext cx="4123134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17"/>
          <p:cNvGraphicFramePr/>
          <p:nvPr/>
        </p:nvGraphicFramePr>
        <p:xfrm>
          <a:off x="241975" y="148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{B7C4C6FE-86D6-48EC-89D2-03BF143DAF92}</a:tableStyleId>
              </a:tblPr>
              <a:tblGrid>
                <a:gridCol w="485700"/>
                <a:gridCol w="1894225"/>
                <a:gridCol w="6921175"/>
                <a:gridCol w="2392050"/>
              </a:tblGrid>
              <a:tr h="367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#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Tipo di Anomalia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Descrizione e Implicazioni Aziendali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Esempio Pratico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40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8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Record Duplicati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Ripetizione parziale o totale della stessa osservazione. Gonfiano artificialmente le metriche di volume e distorcono i calcoli statistici.</a:t>
                      </a:r>
                      <a:endParaRPr baseline="30000" sz="15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Due righe identiche per lo stesso ordine cliente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5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Campi Multi-valore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Più informazioni aggregate in una singola cella. Viola il principio dell'atomicità del dato e impedisce filtri granulari.</a:t>
                      </a:r>
                      <a:r>
                        <a:rPr baseline="30000" lang="en-US" sz="1500">
                          <a:solidFill>
                            <a:srgbClr val="444746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10</a:t>
                      </a:r>
                      <a:endParaRPr baseline="30000" sz="15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"Nero, XL, Cotone" in una colonna "Attributi"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10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Varianti Terminologiche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Uso di sinonimi non standardizzati per lo stesso concetto, spesso dovuto a inserimenti manuali liberi.</a:t>
                      </a:r>
                      <a:endParaRPr baseline="30000" sz="15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UK, United Kingdom, Gran Bretagna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3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11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Celle Unite</a:t>
                      </a:r>
                      <a:b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</a:b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(Merged Cells)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Strutture tipiche di Excel usate per estetica ma che rompono la lettura riga per riga degli algoritmi.</a:t>
                      </a:r>
                      <a:endParaRPr baseline="30000" sz="15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Un'unica intestazione per tre colonne di dati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0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12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Mancata Integrità Referenziale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Riferimenti a identificativi (ID) che non esistono nelle tabelle di lookup correlate</a:t>
                      </a:r>
                      <a:endParaRPr baseline="30000" sz="15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Vendita associata a un ProductID non censito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4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13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Incongruenze Cross-field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Contraddizioni logiche tra due o più colonne dello stesso record</a:t>
                      </a:r>
                      <a:endParaRPr baseline="30000" sz="15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Data Fine antecedente alla Data Inizio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7890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/>
        </p:nvSpPr>
        <p:spPr>
          <a:xfrm>
            <a:off x="571500" y="123683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Problemi di Completezza, Validità e Obsolescenza</a:t>
            </a:r>
            <a:endParaRPr b="1" sz="3000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71500" y="688075"/>
            <a:ext cx="11049000" cy="285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571500" y="3709987"/>
            <a:ext cx="2265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2837259" y="3709987"/>
            <a:ext cx="4660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7497365" y="3709987"/>
            <a:ext cx="4123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571500" y="4186237"/>
            <a:ext cx="2265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2837259" y="4186237"/>
            <a:ext cx="4660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7497365" y="4186237"/>
            <a:ext cx="4123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571500" y="4662487"/>
            <a:ext cx="2265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2837259" y="4662487"/>
            <a:ext cx="4660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7497365" y="4662487"/>
            <a:ext cx="4123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71500" y="5138737"/>
            <a:ext cx="22659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2837259" y="5138737"/>
            <a:ext cx="4660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497365" y="5138737"/>
            <a:ext cx="4123200" cy="9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19"/>
          <p:cNvGraphicFramePr/>
          <p:nvPr/>
        </p:nvGraphicFramePr>
        <p:xfrm>
          <a:off x="85650" y="7168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{B7C4C6FE-86D6-48EC-89D2-03BF143DAF92}</a:tableStyleId>
              </a:tblPr>
              <a:tblGrid>
                <a:gridCol w="539000"/>
                <a:gridCol w="2070825"/>
                <a:gridCol w="6723775"/>
                <a:gridCol w="2687100"/>
              </a:tblGrid>
              <a:tr h="466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#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Tipo di Anomalia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Descrizione e Implicazioni Aziendali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Esempio Pratico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14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Valori Mancanti (Null)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Assenza totale di dato in campi critici. Possono indicare un fallimento nella raccolta o l'inapplicabilità di una domanda.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Colonna Email vuota per il 30% degli utenti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46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15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Placeholders</a:t>
                      </a: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 non Standard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Utilizzo di codici arbitrari per indicare la mancanza di dati, spesso interpretati erroneamente come valori reali dai software.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9999-01-01, N/A, 0, .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16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Email Formalmente Invalide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Indirizzi che non rispettano la sintassi standard (assenza di @ o del dominio). Causano il fallimento delle campagne DEM.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mario.rossi#gmail.com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17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Dati Obsoleti (Data Decay)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Informazioni che erano corrette al momento dell'inserimento ma che non rispecchiano più lo stato attuale.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Indirizzo di residenza di un cliente che ha traslocato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18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Outlier Impossibili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Valori che eccedono i limiti fisici o operativi plausibili, spesso dovuti a errori di battitura.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Età di un dipendente inserita come 250 anni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19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Dati Irrilevanti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Record che non appartengono al perimetro dell'analisi ma che sono stati inclusi nell'estrazione massiva.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Dati di test ("test@test.com") in un dataset di produzione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20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Dati Insicuri o non Criptati</a:t>
                      </a:r>
                      <a:endParaRPr b="1"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Informazioni sensibili archiviate in chiaro o senza controlli di accesso, esponendo l'azienda a rischi di data breach e violazioni legali.</a:t>
                      </a:r>
                      <a:endParaRPr baseline="30000">
                        <a:solidFill>
                          <a:srgbClr val="444746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Numeri di carta di credito in un campo note testuale</a:t>
                      </a:r>
                      <a:endParaRPr>
                        <a:solidFill>
                          <a:srgbClr val="1F1F1F"/>
                        </a:solidFill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4200" y="152400"/>
            <a:ext cx="4811141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>
            <a:off x="571500" y="571500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L'Origine del Disordine</a:t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571500" y="1238250"/>
            <a:ext cx="4953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0" name="Google Shape;17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571500" y="2438400"/>
            <a:ext cx="52006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Meccanismi di Contaminazione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571500" y="3495675"/>
            <a:ext cx="495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Il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fattore umano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rimane primario: errori di data entry manuale e mancanza di validazioni creano flussi costanti di anomalie.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571500" y="4495800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Il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fattore tecnologico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include sistemi legacy obsoleti e script di scraping non rifiniti che propagano errori strutturali nei data lake.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47825"/>
            <a:ext cx="11049000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Ecosistema Software</a:t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295275" y="2262187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336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Curva di Apprendimento vs Scalabilità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571500" y="52435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La scelta dello strumento dipende dal volume dati e dal profilo tecnico dell'utilizzatore.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Una riflessione finale</a:t>
            </a:r>
            <a:endParaRPr/>
          </a:p>
        </p:txBody>
      </p:sp>
      <p:sp>
        <p:nvSpPr>
          <p:cNvPr id="190" name="Google Shape;190;p23"/>
          <p:cNvSpPr/>
          <p:nvPr/>
        </p:nvSpPr>
        <p:spPr>
          <a:xfrm>
            <a:off x="571500" y="1238250"/>
            <a:ext cx="11049000" cy="2857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952500" y="3228975"/>
            <a:ext cx="102870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 "Tidy datasets are all alike, but every messy dataset is messy in its own way." </a:t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571500" y="4829175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— Hadley Wickham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