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y="6858000" cx="12192000"/>
  <p:notesSz cx="6858000" cy="9144000"/>
  <p:embeddedFontLst>
    <p:embeddedFont>
      <p:font typeface="Corbel"/>
      <p:regular r:id="rId42"/>
      <p:bold r:id="rId43"/>
      <p:italic r:id="rId44"/>
      <p:boldItalic r:id="rId45"/>
    </p:embeddedFont>
    <p:embeddedFont>
      <p:font typeface="Candara"/>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0" roundtripDataSignature="AMtx7mhE/GNCAiib9Z11Eho8uFUJlp58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font" Target="fonts/Corbel-regular.fntdata"/><Relationship Id="rId41" Type="http://schemas.openxmlformats.org/officeDocument/2006/relationships/slide" Target="slides/slide37.xml"/><Relationship Id="rId44" Type="http://schemas.openxmlformats.org/officeDocument/2006/relationships/font" Target="fonts/Corbel-italic.fntdata"/><Relationship Id="rId43" Type="http://schemas.openxmlformats.org/officeDocument/2006/relationships/font" Target="fonts/Corbel-bold.fntdata"/><Relationship Id="rId46" Type="http://schemas.openxmlformats.org/officeDocument/2006/relationships/font" Target="fonts/Candara-regular.fntdata"/><Relationship Id="rId45" Type="http://schemas.openxmlformats.org/officeDocument/2006/relationships/font" Target="fonts/Corbel-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Candara-italic.fntdata"/><Relationship Id="rId47" Type="http://schemas.openxmlformats.org/officeDocument/2006/relationships/font" Target="fonts/Candara-bold.fntdata"/><Relationship Id="rId49" Type="http://schemas.openxmlformats.org/officeDocument/2006/relationships/font" Target="fonts/Candara-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7" name="Google Shape;49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2" name="Google Shape;54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o">
  <p:cSld name="Vuoto">
    <p:spTree>
      <p:nvGrpSpPr>
        <p:cNvPr id="21" name="Shape 21"/>
        <p:cNvGrpSpPr/>
        <p:nvPr/>
      </p:nvGrpSpPr>
      <p:grpSpPr>
        <a:xfrm>
          <a:off x="0" y="0"/>
          <a:ext cx="0" cy="0"/>
          <a:chOff x="0" y="0"/>
          <a:chExt cx="0" cy="0"/>
        </a:xfrm>
      </p:grpSpPr>
      <p:sp>
        <p:nvSpPr>
          <p:cNvPr id="22" name="Google Shape;22;p40"/>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0"/>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24" name="Google Shape;24;p40"/>
          <p:cNvSpPr txBox="1"/>
          <p:nvPr>
            <p:ph type="title"/>
          </p:nvPr>
        </p:nvSpPr>
        <p:spPr>
          <a:xfrm>
            <a:off x="432000" y="432000"/>
            <a:ext cx="11328000" cy="43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p:cSld name="Diapositiva titolo">
    <p:bg>
      <p:bgPr>
        <a:solidFill>
          <a:srgbClr val="F2F2F2"/>
        </a:solidFill>
      </p:bgPr>
    </p:bg>
    <p:spTree>
      <p:nvGrpSpPr>
        <p:cNvPr id="25" name="Shape 25"/>
        <p:cNvGrpSpPr/>
        <p:nvPr/>
      </p:nvGrpSpPr>
      <p:grpSpPr>
        <a:xfrm>
          <a:off x="0" y="0"/>
          <a:ext cx="0" cy="0"/>
          <a:chOff x="0" y="0"/>
          <a:chExt cx="0" cy="0"/>
        </a:xfrm>
      </p:grpSpPr>
      <p:sp>
        <p:nvSpPr>
          <p:cNvPr id="26" name="Google Shape;26;p41"/>
          <p:cNvSpPr/>
          <p:nvPr>
            <p:ph idx="2" type="pic"/>
          </p:nvPr>
        </p:nvSpPr>
        <p:spPr>
          <a:xfrm>
            <a:off x="0" y="0"/>
            <a:ext cx="9780588" cy="6804025"/>
          </a:xfrm>
          <a:prstGeom prst="rect">
            <a:avLst/>
          </a:prstGeom>
          <a:solidFill>
            <a:srgbClr val="D8D8D8"/>
          </a:solidFill>
          <a:ln>
            <a:noFill/>
          </a:ln>
        </p:spPr>
      </p:sp>
      <p:sp>
        <p:nvSpPr>
          <p:cNvPr id="27" name="Google Shape;27;p41"/>
          <p:cNvSpPr txBox="1"/>
          <p:nvPr>
            <p:ph type="ctrTitle"/>
          </p:nvPr>
        </p:nvSpPr>
        <p:spPr>
          <a:xfrm>
            <a:off x="3200400" y="2811053"/>
            <a:ext cx="8991600" cy="1261295"/>
          </a:xfrm>
          <a:prstGeom prst="rect">
            <a:avLst/>
          </a:prstGeom>
          <a:solidFill>
            <a:schemeClr val="lt1"/>
          </a:solidFill>
          <a:ln>
            <a:noFill/>
          </a:ln>
        </p:spPr>
        <p:txBody>
          <a:bodyPr anchorCtr="0" anchor="t" bIns="180000" lIns="180000" spcFirstLastPara="1" rIns="252000" wrap="square" tIns="180000">
            <a:noAutofit/>
          </a:bodyPr>
          <a:lstStyle>
            <a:lvl1pPr lvl="0" algn="r">
              <a:lnSpc>
                <a:spcPct val="70000"/>
              </a:lnSpc>
              <a:spcBef>
                <a:spcPts val="0"/>
              </a:spcBef>
              <a:spcAft>
                <a:spcPts val="0"/>
              </a:spcAft>
              <a:buClr>
                <a:srgbClr val="3F3F3F"/>
              </a:buClr>
              <a:buSzPts val="4800"/>
              <a:buFont typeface="Corbel"/>
              <a:buNone/>
              <a:defRPr b="1"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1"/>
          <p:cNvSpPr txBox="1"/>
          <p:nvPr>
            <p:ph idx="1" type="subTitle"/>
          </p:nvPr>
        </p:nvSpPr>
        <p:spPr>
          <a:xfrm>
            <a:off x="3200400" y="4061039"/>
            <a:ext cx="6580188" cy="580921"/>
          </a:xfrm>
          <a:prstGeom prst="rect">
            <a:avLst/>
          </a:prstGeom>
          <a:solidFill>
            <a:schemeClr val="dk1">
              <a:alpha val="80000"/>
            </a:schemeClr>
          </a:solidFill>
          <a:ln>
            <a:noFill/>
          </a:ln>
        </p:spPr>
        <p:txBody>
          <a:bodyPr anchorCtr="0" anchor="t" bIns="180000" lIns="180000" spcFirstLastPara="1" rIns="180000" wrap="square" tIns="180000">
            <a:noAutofit/>
          </a:bodyPr>
          <a:lstStyle>
            <a:lvl1pPr lvl="0" algn="r">
              <a:lnSpc>
                <a:spcPct val="90000"/>
              </a:lnSpc>
              <a:spcBef>
                <a:spcPts val="1000"/>
              </a:spcBef>
              <a:spcAft>
                <a:spcPts val="0"/>
              </a:spcAft>
              <a:buClr>
                <a:schemeClr val="lt1"/>
              </a:buClr>
              <a:buSzPts val="1800"/>
              <a:buNone/>
              <a:defRPr>
                <a:solidFill>
                  <a:schemeClr val="lt1"/>
                </a:solidFill>
              </a:defRPr>
            </a:lvl1pPr>
            <a:lvl2pPr lvl="1" algn="l">
              <a:lnSpc>
                <a:spcPct val="90000"/>
              </a:lnSpc>
              <a:spcBef>
                <a:spcPts val="500"/>
              </a:spcBef>
              <a:spcAft>
                <a:spcPts val="0"/>
              </a:spcAft>
              <a:buClr>
                <a:srgbClr val="3F3F3F"/>
              </a:buClr>
              <a:buSzPts val="1800"/>
              <a:buChar char="•"/>
              <a:defRPr/>
            </a:lvl2pPr>
            <a:lvl3pPr lvl="2" algn="l">
              <a:lnSpc>
                <a:spcPct val="90000"/>
              </a:lnSpc>
              <a:spcBef>
                <a:spcPts val="500"/>
              </a:spcBef>
              <a:spcAft>
                <a:spcPts val="0"/>
              </a:spcAft>
              <a:buClr>
                <a:srgbClr val="3F3F3F"/>
              </a:buClr>
              <a:buSzPts val="1800"/>
              <a:buChar char="•"/>
              <a:defRPr/>
            </a:lvl3pPr>
            <a:lvl4pPr lvl="3" algn="l">
              <a:lnSpc>
                <a:spcPct val="90000"/>
              </a:lnSpc>
              <a:spcBef>
                <a:spcPts val="500"/>
              </a:spcBef>
              <a:spcAft>
                <a:spcPts val="0"/>
              </a:spcAft>
              <a:buClr>
                <a:srgbClr val="3F3F3F"/>
              </a:buClr>
              <a:buSzPts val="1800"/>
              <a:buChar char="•"/>
              <a:defRPr/>
            </a:lvl4pPr>
            <a:lvl5pPr lvl="4" algn="l">
              <a:lnSpc>
                <a:spcPct val="90000"/>
              </a:lnSpc>
              <a:spcBef>
                <a:spcPts val="500"/>
              </a:spcBef>
              <a:spcAft>
                <a:spcPts val="0"/>
              </a:spcAft>
              <a:buClr>
                <a:srgbClr val="3F3F3F"/>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9" name="Google Shape;29;p41"/>
          <p:cNvSpPr/>
          <p:nvPr/>
        </p:nvSpPr>
        <p:spPr>
          <a:xfrm>
            <a:off x="9780103" y="6803351"/>
            <a:ext cx="1979897" cy="54650"/>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30" name="Google Shape;30;p41"/>
          <p:cNvSpPr/>
          <p:nvPr/>
        </p:nvSpPr>
        <p:spPr>
          <a:xfrm>
            <a:off x="0" y="6803351"/>
            <a:ext cx="9780104" cy="5465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31" name="Google Shape;31;p41"/>
          <p:cNvSpPr/>
          <p:nvPr/>
        </p:nvSpPr>
        <p:spPr>
          <a:xfrm>
            <a:off x="11760000" y="6803351"/>
            <a:ext cx="432000" cy="546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32" name="Google Shape;32;p41"/>
          <p:cNvSpPr/>
          <p:nvPr/>
        </p:nvSpPr>
        <p:spPr>
          <a:xfrm>
            <a:off x="9780588" y="2698612"/>
            <a:ext cx="2411412"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immagine testo 1">
  <p:cSld name="Layout immagine testo 1">
    <p:spTree>
      <p:nvGrpSpPr>
        <p:cNvPr id="33" name="Shape 33"/>
        <p:cNvGrpSpPr/>
        <p:nvPr/>
      </p:nvGrpSpPr>
      <p:grpSpPr>
        <a:xfrm>
          <a:off x="0" y="0"/>
          <a:ext cx="0" cy="0"/>
          <a:chOff x="0" y="0"/>
          <a:chExt cx="0" cy="0"/>
        </a:xfrm>
      </p:grpSpPr>
      <p:sp>
        <p:nvSpPr>
          <p:cNvPr id="34" name="Google Shape;34;p42"/>
          <p:cNvSpPr/>
          <p:nvPr>
            <p:ph idx="2" type="pic"/>
          </p:nvPr>
        </p:nvSpPr>
        <p:spPr>
          <a:xfrm>
            <a:off x="6096000" y="-1"/>
            <a:ext cx="6096000" cy="6371351"/>
          </a:xfrm>
          <a:prstGeom prst="rect">
            <a:avLst/>
          </a:prstGeom>
          <a:solidFill>
            <a:srgbClr val="F2F2F2"/>
          </a:solidFill>
          <a:ln>
            <a:noFill/>
          </a:ln>
        </p:spPr>
      </p:sp>
      <p:sp>
        <p:nvSpPr>
          <p:cNvPr id="35" name="Google Shape;35;p42"/>
          <p:cNvSpPr txBox="1"/>
          <p:nvPr>
            <p:ph type="title"/>
          </p:nvPr>
        </p:nvSpPr>
        <p:spPr>
          <a:xfrm>
            <a:off x="7111800" y="3802899"/>
            <a:ext cx="4648200" cy="985000"/>
          </a:xfrm>
          <a:prstGeom prst="rect">
            <a:avLst/>
          </a:prstGeom>
          <a:solidFill>
            <a:schemeClr val="lt1"/>
          </a:solidFill>
          <a:ln>
            <a:noFill/>
          </a:ln>
        </p:spPr>
        <p:txBody>
          <a:bodyPr anchorCtr="0" anchor="ctr" bIns="180000" lIns="180000" spcFirstLastPara="1" rIns="180000" wrap="square" tIns="180000">
            <a:noAutofit/>
          </a:bodyPr>
          <a:lstStyle>
            <a:lvl1pPr lvl="0" algn="r">
              <a:lnSpc>
                <a:spcPct val="70000"/>
              </a:lnSpc>
              <a:spcBef>
                <a:spcPts val="0"/>
              </a:spcBef>
              <a:spcAft>
                <a:spcPts val="0"/>
              </a:spcAft>
              <a:buClr>
                <a:srgbClr val="3F3F3F"/>
              </a:buClr>
              <a:buSzPts val="3600"/>
              <a:buFont typeface="Corbel"/>
              <a:buNone/>
              <a:defRPr b="1" sz="3600">
                <a:solidFill>
                  <a:srgbClr val="3F3F3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2"/>
          <p:cNvSpPr txBox="1"/>
          <p:nvPr>
            <p:ph idx="1" type="body"/>
          </p:nvPr>
        </p:nvSpPr>
        <p:spPr>
          <a:xfrm>
            <a:off x="7111800" y="4787900"/>
            <a:ext cx="4648200" cy="1162800"/>
          </a:xfrm>
          <a:prstGeom prst="rect">
            <a:avLst/>
          </a:prstGeom>
          <a:solidFill>
            <a:schemeClr val="dk1">
              <a:alpha val="80000"/>
            </a:schemeClr>
          </a:solidFill>
          <a:ln>
            <a:noFill/>
          </a:ln>
        </p:spPr>
        <p:txBody>
          <a:bodyPr anchorCtr="0" anchor="t" bIns="180000" lIns="180000" spcFirstLastPara="1" rIns="180000" wrap="square" tIns="180000">
            <a:noAutofit/>
          </a:bodyPr>
          <a:lstStyle>
            <a:lvl1pPr indent="-228600" lvl="0" marL="457200" algn="r">
              <a:lnSpc>
                <a:spcPct val="90000"/>
              </a:lnSpc>
              <a:spcBef>
                <a:spcPts val="1000"/>
              </a:spcBef>
              <a:spcAft>
                <a:spcPts val="0"/>
              </a:spcAft>
              <a:buClr>
                <a:schemeClr val="lt1"/>
              </a:buClr>
              <a:buSzPts val="1800"/>
              <a:buNone/>
              <a:defRPr>
                <a:solidFill>
                  <a:schemeClr val="lt1"/>
                </a:solidFill>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2"/>
          <p:cNvSpPr txBox="1"/>
          <p:nvPr>
            <p:ph idx="3" type="body"/>
          </p:nvPr>
        </p:nvSpPr>
        <p:spPr>
          <a:xfrm>
            <a:off x="432000" y="2668686"/>
            <a:ext cx="5472000" cy="2999426"/>
          </a:xfrm>
          <a:prstGeom prst="rect">
            <a:avLst/>
          </a:prstGeom>
          <a:noFill/>
          <a:ln>
            <a:noFill/>
          </a:ln>
        </p:spPr>
        <p:txBody>
          <a:bodyPr anchorCtr="0" anchor="b"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solidFill>
                  <a:srgbClr val="3F3F3F"/>
                </a:solidFill>
              </a:defRPr>
            </a:lvl1pPr>
            <a:lvl2pPr indent="-330200" lvl="1" marL="914400" algn="l">
              <a:lnSpc>
                <a:spcPct val="90000"/>
              </a:lnSpc>
              <a:spcBef>
                <a:spcPts val="500"/>
              </a:spcBef>
              <a:spcAft>
                <a:spcPts val="0"/>
              </a:spcAft>
              <a:buClr>
                <a:srgbClr val="3F3F3F"/>
              </a:buClr>
              <a:buSzPts val="1600"/>
              <a:buChar char="•"/>
              <a:defRPr>
                <a:solidFill>
                  <a:srgbClr val="3F3F3F"/>
                </a:solidFill>
              </a:defRPr>
            </a:lvl2pPr>
            <a:lvl3pPr indent="-317500" lvl="2" marL="1371600" algn="l">
              <a:lnSpc>
                <a:spcPct val="90000"/>
              </a:lnSpc>
              <a:spcBef>
                <a:spcPts val="500"/>
              </a:spcBef>
              <a:spcAft>
                <a:spcPts val="0"/>
              </a:spcAft>
              <a:buClr>
                <a:srgbClr val="3F3F3F"/>
              </a:buClr>
              <a:buSzPts val="1400"/>
              <a:buChar char="•"/>
              <a:defRPr>
                <a:solidFill>
                  <a:srgbClr val="3F3F3F"/>
                </a:solidFill>
              </a:defRPr>
            </a:lvl3pPr>
            <a:lvl4pPr indent="-317500" lvl="3" marL="1828800" algn="l">
              <a:lnSpc>
                <a:spcPct val="90000"/>
              </a:lnSpc>
              <a:spcBef>
                <a:spcPts val="500"/>
              </a:spcBef>
              <a:spcAft>
                <a:spcPts val="0"/>
              </a:spcAft>
              <a:buClr>
                <a:srgbClr val="3F3F3F"/>
              </a:buClr>
              <a:buSzPts val="1400"/>
              <a:buChar char="•"/>
              <a:defRPr>
                <a:solidFill>
                  <a:srgbClr val="3F3F3F"/>
                </a:solidFill>
              </a:defRPr>
            </a:lvl4pPr>
            <a:lvl5pPr indent="-317500" lvl="4" marL="2286000" algn="l">
              <a:lnSpc>
                <a:spcPct val="90000"/>
              </a:lnSpc>
              <a:spcBef>
                <a:spcPts val="500"/>
              </a:spcBef>
              <a:spcAft>
                <a:spcPts val="0"/>
              </a:spcAft>
              <a:buClr>
                <a:srgbClr val="3F3F3F"/>
              </a:buClr>
              <a:buSzPts val="1400"/>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42"/>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2"/>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40" name="Google Shape;40;p42"/>
          <p:cNvSpPr/>
          <p:nvPr/>
        </p:nvSpPr>
        <p:spPr>
          <a:xfrm>
            <a:off x="9348588" y="3700775"/>
            <a:ext cx="2411412" cy="11482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immagine testo 2">
  <p:cSld name="Layout immagine testo 2">
    <p:spTree>
      <p:nvGrpSpPr>
        <p:cNvPr id="41" name="Shape 41"/>
        <p:cNvGrpSpPr/>
        <p:nvPr/>
      </p:nvGrpSpPr>
      <p:grpSpPr>
        <a:xfrm>
          <a:off x="0" y="0"/>
          <a:ext cx="0" cy="0"/>
          <a:chOff x="0" y="0"/>
          <a:chExt cx="0" cy="0"/>
        </a:xfrm>
      </p:grpSpPr>
      <p:sp>
        <p:nvSpPr>
          <p:cNvPr id="42" name="Google Shape;42;p43"/>
          <p:cNvSpPr/>
          <p:nvPr>
            <p:ph idx="2" type="pic"/>
          </p:nvPr>
        </p:nvSpPr>
        <p:spPr>
          <a:xfrm>
            <a:off x="0" y="-1"/>
            <a:ext cx="6096000" cy="6371351"/>
          </a:xfrm>
          <a:prstGeom prst="rect">
            <a:avLst/>
          </a:prstGeom>
          <a:solidFill>
            <a:srgbClr val="F2F2F2"/>
          </a:solidFill>
          <a:ln>
            <a:noFill/>
          </a:ln>
        </p:spPr>
      </p:sp>
      <p:sp>
        <p:nvSpPr>
          <p:cNvPr id="43" name="Google Shape;43;p43"/>
          <p:cNvSpPr txBox="1"/>
          <p:nvPr>
            <p:ph type="title"/>
          </p:nvPr>
        </p:nvSpPr>
        <p:spPr>
          <a:xfrm>
            <a:off x="5118100" y="1869795"/>
            <a:ext cx="6641900" cy="1124345"/>
          </a:xfrm>
          <a:prstGeom prst="rect">
            <a:avLst/>
          </a:prstGeom>
          <a:solidFill>
            <a:srgbClr val="F2F2F2"/>
          </a:solidFill>
          <a:ln>
            <a:noFill/>
          </a:ln>
        </p:spPr>
        <p:txBody>
          <a:bodyPr anchorCtr="0" anchor="ctr" bIns="180000" lIns="180000" spcFirstLastPara="1" rIns="180000" wrap="square" tIns="180000">
            <a:noAutofit/>
          </a:bodyPr>
          <a:lstStyle>
            <a:lvl1pPr lvl="0" algn="l">
              <a:lnSpc>
                <a:spcPct val="70000"/>
              </a:lnSpc>
              <a:spcBef>
                <a:spcPts val="0"/>
              </a:spcBef>
              <a:spcAft>
                <a:spcPts val="0"/>
              </a:spcAft>
              <a:buClr>
                <a:srgbClr val="3F3F3F"/>
              </a:buClr>
              <a:buSzPts val="4400"/>
              <a:buFont typeface="Corbel"/>
              <a:buNone/>
              <a:defRPr b="1" sz="4400">
                <a:solidFill>
                  <a:srgbClr val="3F3F3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43"/>
          <p:cNvSpPr txBox="1"/>
          <p:nvPr>
            <p:ph idx="1" type="body"/>
          </p:nvPr>
        </p:nvSpPr>
        <p:spPr>
          <a:xfrm>
            <a:off x="5118334" y="2994141"/>
            <a:ext cx="6641626" cy="590155"/>
          </a:xfrm>
          <a:prstGeom prst="rect">
            <a:avLst/>
          </a:prstGeom>
          <a:solidFill>
            <a:schemeClr val="dk1">
              <a:alpha val="80000"/>
            </a:schemeClr>
          </a:solidFill>
          <a:ln>
            <a:noFill/>
          </a:ln>
        </p:spPr>
        <p:txBody>
          <a:bodyPr anchorCtr="0" anchor="t" bIns="180000" lIns="180000" spcFirstLastPara="1" rIns="180000" wrap="square" tIns="180000">
            <a:noAutofit/>
          </a:bodyPr>
          <a:lstStyle>
            <a:lvl1pPr indent="-228600" lvl="0" marL="457200" algn="l">
              <a:lnSpc>
                <a:spcPct val="90000"/>
              </a:lnSpc>
              <a:spcBef>
                <a:spcPts val="1000"/>
              </a:spcBef>
              <a:spcAft>
                <a:spcPts val="0"/>
              </a:spcAft>
              <a:buClr>
                <a:schemeClr val="lt1"/>
              </a:buClr>
              <a:buSzPts val="1800"/>
              <a:buNone/>
              <a:defRPr>
                <a:solidFill>
                  <a:schemeClr val="lt1"/>
                </a:solidFill>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43"/>
          <p:cNvSpPr txBox="1"/>
          <p:nvPr>
            <p:ph idx="3" type="body"/>
          </p:nvPr>
        </p:nvSpPr>
        <p:spPr>
          <a:xfrm>
            <a:off x="6288000" y="3763648"/>
            <a:ext cx="5472000" cy="2428351"/>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solidFill>
                  <a:srgbClr val="3F3F3F"/>
                </a:solidFill>
              </a:defRPr>
            </a:lvl1pPr>
            <a:lvl2pPr indent="-330200" lvl="1" marL="914400" algn="l">
              <a:lnSpc>
                <a:spcPct val="90000"/>
              </a:lnSpc>
              <a:spcBef>
                <a:spcPts val="500"/>
              </a:spcBef>
              <a:spcAft>
                <a:spcPts val="0"/>
              </a:spcAft>
              <a:buClr>
                <a:srgbClr val="3F3F3F"/>
              </a:buClr>
              <a:buSzPts val="1600"/>
              <a:buChar char="•"/>
              <a:defRPr>
                <a:solidFill>
                  <a:srgbClr val="3F3F3F"/>
                </a:solidFill>
              </a:defRPr>
            </a:lvl2pPr>
            <a:lvl3pPr indent="-317500" lvl="2" marL="1371600" algn="l">
              <a:lnSpc>
                <a:spcPct val="90000"/>
              </a:lnSpc>
              <a:spcBef>
                <a:spcPts val="500"/>
              </a:spcBef>
              <a:spcAft>
                <a:spcPts val="0"/>
              </a:spcAft>
              <a:buClr>
                <a:srgbClr val="3F3F3F"/>
              </a:buClr>
              <a:buSzPts val="1400"/>
              <a:buChar char="•"/>
              <a:defRPr>
                <a:solidFill>
                  <a:srgbClr val="3F3F3F"/>
                </a:solidFill>
              </a:defRPr>
            </a:lvl3pPr>
            <a:lvl4pPr indent="-317500" lvl="3" marL="1828800" algn="l">
              <a:lnSpc>
                <a:spcPct val="90000"/>
              </a:lnSpc>
              <a:spcBef>
                <a:spcPts val="500"/>
              </a:spcBef>
              <a:spcAft>
                <a:spcPts val="0"/>
              </a:spcAft>
              <a:buClr>
                <a:srgbClr val="3F3F3F"/>
              </a:buClr>
              <a:buSzPts val="1400"/>
              <a:buChar char="•"/>
              <a:defRPr>
                <a:solidFill>
                  <a:srgbClr val="3F3F3F"/>
                </a:solidFill>
              </a:defRPr>
            </a:lvl4pPr>
            <a:lvl5pPr indent="-317500" lvl="4" marL="2286000" algn="l">
              <a:lnSpc>
                <a:spcPct val="90000"/>
              </a:lnSpc>
              <a:spcBef>
                <a:spcPts val="500"/>
              </a:spcBef>
              <a:spcAft>
                <a:spcPts val="0"/>
              </a:spcAft>
              <a:buClr>
                <a:srgbClr val="3F3F3F"/>
              </a:buClr>
              <a:buSzPts val="1400"/>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3"/>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3"/>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48" name="Google Shape;48;p43"/>
          <p:cNvSpPr/>
          <p:nvPr/>
        </p:nvSpPr>
        <p:spPr>
          <a:xfrm>
            <a:off x="9775824" y="1762069"/>
            <a:ext cx="1984175"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ivisore 1">
  <p:cSld name="Diapositiva divisore 1">
    <p:bg>
      <p:bgPr>
        <a:solidFill>
          <a:srgbClr val="F2F2F2"/>
        </a:solidFill>
      </p:bgPr>
    </p:bg>
    <p:spTree>
      <p:nvGrpSpPr>
        <p:cNvPr id="49" name="Shape 49"/>
        <p:cNvGrpSpPr/>
        <p:nvPr/>
      </p:nvGrpSpPr>
      <p:grpSpPr>
        <a:xfrm>
          <a:off x="0" y="0"/>
          <a:ext cx="0" cy="0"/>
          <a:chOff x="0" y="0"/>
          <a:chExt cx="0" cy="0"/>
        </a:xfrm>
      </p:grpSpPr>
      <p:sp>
        <p:nvSpPr>
          <p:cNvPr id="50" name="Google Shape;50;p44"/>
          <p:cNvSpPr/>
          <p:nvPr>
            <p:ph idx="2" type="pic"/>
          </p:nvPr>
        </p:nvSpPr>
        <p:spPr>
          <a:xfrm>
            <a:off x="0" y="0"/>
            <a:ext cx="9780588" cy="6371351"/>
          </a:xfrm>
          <a:prstGeom prst="rect">
            <a:avLst/>
          </a:prstGeom>
          <a:solidFill>
            <a:srgbClr val="D8D8D8"/>
          </a:solidFill>
          <a:ln>
            <a:noFill/>
          </a:ln>
        </p:spPr>
      </p:sp>
      <p:sp>
        <p:nvSpPr>
          <p:cNvPr id="51" name="Google Shape;51;p44"/>
          <p:cNvSpPr txBox="1"/>
          <p:nvPr>
            <p:ph type="ctrTitle"/>
          </p:nvPr>
        </p:nvSpPr>
        <p:spPr>
          <a:xfrm>
            <a:off x="6235700" y="2204792"/>
            <a:ext cx="5956300" cy="1944000"/>
          </a:xfrm>
          <a:prstGeom prst="rect">
            <a:avLst/>
          </a:prstGeom>
          <a:solidFill>
            <a:schemeClr val="lt1"/>
          </a:solidFill>
          <a:ln>
            <a:noFill/>
          </a:ln>
        </p:spPr>
        <p:txBody>
          <a:bodyPr anchorCtr="0" anchor="t" bIns="180000" lIns="180000" spcFirstLastPara="1" rIns="252000" wrap="square" tIns="180000">
            <a:noAutofit/>
          </a:bodyPr>
          <a:lstStyle>
            <a:lvl1pPr lvl="0" algn="r">
              <a:lnSpc>
                <a:spcPct val="90000"/>
              </a:lnSpc>
              <a:spcBef>
                <a:spcPts val="0"/>
              </a:spcBef>
              <a:spcAft>
                <a:spcPts val="0"/>
              </a:spcAft>
              <a:buClr>
                <a:srgbClr val="3F3F3F"/>
              </a:buClr>
              <a:buSzPts val="4800"/>
              <a:buFont typeface="Corbel"/>
              <a:buNone/>
              <a:defRPr b="1"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44"/>
          <p:cNvSpPr txBox="1"/>
          <p:nvPr>
            <p:ph idx="1" type="body"/>
          </p:nvPr>
        </p:nvSpPr>
        <p:spPr>
          <a:xfrm>
            <a:off x="6235700" y="4148860"/>
            <a:ext cx="5956300" cy="1100565"/>
          </a:xfrm>
          <a:prstGeom prst="rect">
            <a:avLst/>
          </a:prstGeom>
          <a:solidFill>
            <a:schemeClr val="dk1">
              <a:alpha val="80000"/>
            </a:schemeClr>
          </a:solidFill>
          <a:ln>
            <a:noFill/>
          </a:ln>
        </p:spPr>
        <p:txBody>
          <a:bodyPr anchorCtr="0" anchor="t" bIns="180000" lIns="180000" spcFirstLastPara="1" rIns="252000" wrap="square" tIns="180000">
            <a:noAutofit/>
          </a:bodyPr>
          <a:lstStyle>
            <a:lvl1pPr indent="-228600" lvl="0" marL="457200" algn="r">
              <a:lnSpc>
                <a:spcPct val="90000"/>
              </a:lnSpc>
              <a:spcBef>
                <a:spcPts val="1000"/>
              </a:spcBef>
              <a:spcAft>
                <a:spcPts val="0"/>
              </a:spcAft>
              <a:buClr>
                <a:schemeClr val="lt1"/>
              </a:buClr>
              <a:buSzPts val="1800"/>
              <a:buNone/>
              <a:defRPr sz="1800">
                <a:solidFill>
                  <a:schemeClr val="lt1"/>
                </a:solidFill>
              </a:defRPr>
            </a:lvl1pPr>
            <a:lvl2pPr indent="-228600" lvl="1" marL="914400" algn="r">
              <a:lnSpc>
                <a:spcPct val="90000"/>
              </a:lnSpc>
              <a:spcBef>
                <a:spcPts val="500"/>
              </a:spcBef>
              <a:spcAft>
                <a:spcPts val="0"/>
              </a:spcAft>
              <a:buClr>
                <a:schemeClr val="lt1"/>
              </a:buClr>
              <a:buSzPts val="1800"/>
              <a:buNone/>
              <a:defRPr sz="1800">
                <a:solidFill>
                  <a:schemeClr val="lt1"/>
                </a:solidFill>
              </a:defRPr>
            </a:lvl2pPr>
            <a:lvl3pPr indent="-228600" lvl="2" marL="1371600" algn="r">
              <a:lnSpc>
                <a:spcPct val="90000"/>
              </a:lnSpc>
              <a:spcBef>
                <a:spcPts val="500"/>
              </a:spcBef>
              <a:spcAft>
                <a:spcPts val="0"/>
              </a:spcAft>
              <a:buClr>
                <a:schemeClr val="lt1"/>
              </a:buClr>
              <a:buSzPts val="1800"/>
              <a:buNone/>
              <a:defRPr sz="1800">
                <a:solidFill>
                  <a:schemeClr val="lt1"/>
                </a:solidFill>
              </a:defRPr>
            </a:lvl3pPr>
            <a:lvl4pPr indent="-228600" lvl="3" marL="1828800" algn="r">
              <a:lnSpc>
                <a:spcPct val="90000"/>
              </a:lnSpc>
              <a:spcBef>
                <a:spcPts val="500"/>
              </a:spcBef>
              <a:spcAft>
                <a:spcPts val="0"/>
              </a:spcAft>
              <a:buClr>
                <a:schemeClr val="lt1"/>
              </a:buClr>
              <a:buSzPts val="1800"/>
              <a:buNone/>
              <a:defRPr sz="1800">
                <a:solidFill>
                  <a:schemeClr val="lt1"/>
                </a:solidFill>
              </a:defRPr>
            </a:lvl4pPr>
            <a:lvl5pPr indent="-228600" lvl="4" marL="2286000" algn="r">
              <a:lnSpc>
                <a:spcPct val="90000"/>
              </a:lnSpc>
              <a:spcBef>
                <a:spcPts val="500"/>
              </a:spcBef>
              <a:spcAft>
                <a:spcPts val="0"/>
              </a:spcAft>
              <a:buClr>
                <a:schemeClr val="lt1"/>
              </a:buClr>
              <a:buSzPts val="1800"/>
              <a:buNone/>
              <a:defRPr sz="18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44"/>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4"/>
          <p:cNvSpPr/>
          <p:nvPr/>
        </p:nvSpPr>
        <p:spPr>
          <a:xfrm>
            <a:off x="9780588" y="5247782"/>
            <a:ext cx="2411412"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55" name="Google Shape;55;p44"/>
          <p:cNvSpPr/>
          <p:nvPr/>
        </p:nvSpPr>
        <p:spPr>
          <a:xfrm>
            <a:off x="9780103" y="6803351"/>
            <a:ext cx="1979897" cy="54650"/>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56" name="Google Shape;56;p44"/>
          <p:cNvSpPr/>
          <p:nvPr/>
        </p:nvSpPr>
        <p:spPr>
          <a:xfrm>
            <a:off x="0" y="6803351"/>
            <a:ext cx="9780104" cy="5465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57" name="Google Shape;57;p44"/>
          <p:cNvSpPr/>
          <p:nvPr/>
        </p:nvSpPr>
        <p:spPr>
          <a:xfrm>
            <a:off x="11760000" y="6803351"/>
            <a:ext cx="432000" cy="546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58" name="Google Shape;58;p44"/>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p:cSld name="Confronto">
    <p:spTree>
      <p:nvGrpSpPr>
        <p:cNvPr id="59" name="Shape 59"/>
        <p:cNvGrpSpPr/>
        <p:nvPr/>
      </p:nvGrpSpPr>
      <p:grpSpPr>
        <a:xfrm>
          <a:off x="0" y="0"/>
          <a:ext cx="0" cy="0"/>
          <a:chOff x="0" y="0"/>
          <a:chExt cx="0" cy="0"/>
        </a:xfrm>
      </p:grpSpPr>
      <p:sp>
        <p:nvSpPr>
          <p:cNvPr id="60" name="Google Shape;60;p45"/>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3F3F3F"/>
              </a:buClr>
              <a:buSzPts val="3200"/>
              <a:buFont typeface="Corbel"/>
              <a:buNone/>
              <a:defRPr>
                <a:solidFill>
                  <a:srgbClr val="3F3F3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45"/>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3F3F3F"/>
              </a:buClr>
              <a:buSzPts val="1800"/>
              <a:buNone/>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45"/>
          <p:cNvSpPr txBox="1"/>
          <p:nvPr>
            <p:ph idx="2" type="body"/>
          </p:nvPr>
        </p:nvSpPr>
        <p:spPr>
          <a:xfrm>
            <a:off x="432000" y="1515834"/>
            <a:ext cx="5472000" cy="360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3F3F3F"/>
              </a:buClr>
              <a:buSzPts val="2400"/>
              <a:buNone/>
              <a:defRPr b="1" sz="2400">
                <a:solidFill>
                  <a:srgbClr val="3F3F3F"/>
                </a:solidFill>
              </a:defRPr>
            </a:lvl1pPr>
            <a:lvl2pPr indent="-228600" lvl="1" marL="914400" algn="l">
              <a:lnSpc>
                <a:spcPct val="90000"/>
              </a:lnSpc>
              <a:spcBef>
                <a:spcPts val="500"/>
              </a:spcBef>
              <a:spcAft>
                <a:spcPts val="0"/>
              </a:spcAft>
              <a:buClr>
                <a:srgbClr val="3F3F3F"/>
              </a:buClr>
              <a:buSzPts val="2000"/>
              <a:buNone/>
              <a:defRPr b="1" sz="2000"/>
            </a:lvl2pPr>
            <a:lvl3pPr indent="-228600" lvl="2" marL="1371600" algn="l">
              <a:lnSpc>
                <a:spcPct val="90000"/>
              </a:lnSpc>
              <a:spcBef>
                <a:spcPts val="500"/>
              </a:spcBef>
              <a:spcAft>
                <a:spcPts val="0"/>
              </a:spcAft>
              <a:buClr>
                <a:srgbClr val="3F3F3F"/>
              </a:buClr>
              <a:buSzPts val="1800"/>
              <a:buNone/>
              <a:defRPr b="1" sz="1800"/>
            </a:lvl3pPr>
            <a:lvl4pPr indent="-228600" lvl="3" marL="1828800" algn="l">
              <a:lnSpc>
                <a:spcPct val="90000"/>
              </a:lnSpc>
              <a:spcBef>
                <a:spcPts val="500"/>
              </a:spcBef>
              <a:spcAft>
                <a:spcPts val="0"/>
              </a:spcAft>
              <a:buClr>
                <a:srgbClr val="3F3F3F"/>
              </a:buClr>
              <a:buSzPts val="1600"/>
              <a:buNone/>
              <a:defRPr b="1" sz="1600"/>
            </a:lvl4pPr>
            <a:lvl5pPr indent="-228600" lvl="4" marL="2286000" algn="l">
              <a:lnSpc>
                <a:spcPct val="90000"/>
              </a:lnSpc>
              <a:spcBef>
                <a:spcPts val="500"/>
              </a:spcBef>
              <a:spcAft>
                <a:spcPts val="0"/>
              </a:spcAft>
              <a:buClr>
                <a:srgbClr val="3F3F3F"/>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45"/>
          <p:cNvSpPr txBox="1"/>
          <p:nvPr>
            <p:ph idx="3" type="body"/>
          </p:nvPr>
        </p:nvSpPr>
        <p:spPr>
          <a:xfrm>
            <a:off x="432000" y="2023668"/>
            <a:ext cx="5472000" cy="4168332"/>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solidFill>
                  <a:srgbClr val="3F3F3F"/>
                </a:solidFill>
              </a:defRPr>
            </a:lvl1pPr>
            <a:lvl2pPr indent="-330200" lvl="1" marL="914400" algn="l">
              <a:lnSpc>
                <a:spcPct val="90000"/>
              </a:lnSpc>
              <a:spcBef>
                <a:spcPts val="500"/>
              </a:spcBef>
              <a:spcAft>
                <a:spcPts val="0"/>
              </a:spcAft>
              <a:buClr>
                <a:srgbClr val="3F3F3F"/>
              </a:buClr>
              <a:buSzPts val="1600"/>
              <a:buChar char="•"/>
              <a:defRPr>
                <a:solidFill>
                  <a:srgbClr val="3F3F3F"/>
                </a:solidFill>
              </a:defRPr>
            </a:lvl2pPr>
            <a:lvl3pPr indent="-317500" lvl="2" marL="1371600" algn="l">
              <a:lnSpc>
                <a:spcPct val="90000"/>
              </a:lnSpc>
              <a:spcBef>
                <a:spcPts val="500"/>
              </a:spcBef>
              <a:spcAft>
                <a:spcPts val="0"/>
              </a:spcAft>
              <a:buClr>
                <a:srgbClr val="3F3F3F"/>
              </a:buClr>
              <a:buSzPts val="1400"/>
              <a:buChar char="•"/>
              <a:defRPr>
                <a:solidFill>
                  <a:srgbClr val="3F3F3F"/>
                </a:solidFill>
              </a:defRPr>
            </a:lvl3pPr>
            <a:lvl4pPr indent="-317500" lvl="3" marL="1828800" algn="l">
              <a:lnSpc>
                <a:spcPct val="90000"/>
              </a:lnSpc>
              <a:spcBef>
                <a:spcPts val="500"/>
              </a:spcBef>
              <a:spcAft>
                <a:spcPts val="0"/>
              </a:spcAft>
              <a:buClr>
                <a:srgbClr val="3F3F3F"/>
              </a:buClr>
              <a:buSzPts val="1400"/>
              <a:buChar char="•"/>
              <a:defRPr>
                <a:solidFill>
                  <a:srgbClr val="3F3F3F"/>
                </a:solidFill>
              </a:defRPr>
            </a:lvl4pPr>
            <a:lvl5pPr indent="-317500" lvl="4" marL="2286000" algn="l">
              <a:lnSpc>
                <a:spcPct val="90000"/>
              </a:lnSpc>
              <a:spcBef>
                <a:spcPts val="500"/>
              </a:spcBef>
              <a:spcAft>
                <a:spcPts val="0"/>
              </a:spcAft>
              <a:buClr>
                <a:srgbClr val="3F3F3F"/>
              </a:buClr>
              <a:buSzPts val="1400"/>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45"/>
          <p:cNvSpPr txBox="1"/>
          <p:nvPr>
            <p:ph idx="4" type="body"/>
          </p:nvPr>
        </p:nvSpPr>
        <p:spPr>
          <a:xfrm>
            <a:off x="6300000" y="1516359"/>
            <a:ext cx="5472000" cy="358775"/>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3F3F3F"/>
              </a:buClr>
              <a:buSzPts val="2400"/>
              <a:buNone/>
              <a:defRPr b="1" sz="2400"/>
            </a:lvl1pPr>
            <a:lvl2pPr indent="-342900" lvl="1" marL="914400" algn="l">
              <a:lnSpc>
                <a:spcPct val="90000"/>
              </a:lnSpc>
              <a:spcBef>
                <a:spcPts val="500"/>
              </a:spcBef>
              <a:spcAft>
                <a:spcPts val="0"/>
              </a:spcAft>
              <a:buClr>
                <a:srgbClr val="3F3F3F"/>
              </a:buClr>
              <a:buSzPts val="1800"/>
              <a:buChar char="•"/>
              <a:defRPr/>
            </a:lvl2pPr>
            <a:lvl3pPr indent="-342900" lvl="2" marL="1371600" algn="l">
              <a:lnSpc>
                <a:spcPct val="90000"/>
              </a:lnSpc>
              <a:spcBef>
                <a:spcPts val="500"/>
              </a:spcBef>
              <a:spcAft>
                <a:spcPts val="0"/>
              </a:spcAft>
              <a:buClr>
                <a:srgbClr val="3F3F3F"/>
              </a:buClr>
              <a:buSzPts val="1800"/>
              <a:buChar char="•"/>
              <a:defRPr/>
            </a:lvl3pPr>
            <a:lvl4pPr indent="-342900" lvl="3" marL="1828800" algn="l">
              <a:lnSpc>
                <a:spcPct val="90000"/>
              </a:lnSpc>
              <a:spcBef>
                <a:spcPts val="500"/>
              </a:spcBef>
              <a:spcAft>
                <a:spcPts val="0"/>
              </a:spcAft>
              <a:buClr>
                <a:srgbClr val="3F3F3F"/>
              </a:buClr>
              <a:buSzPts val="1800"/>
              <a:buChar char="•"/>
              <a:defRPr/>
            </a:lvl4pPr>
            <a:lvl5pPr indent="-342900" lvl="4" marL="2286000" algn="l">
              <a:lnSpc>
                <a:spcPct val="90000"/>
              </a:lnSpc>
              <a:spcBef>
                <a:spcPts val="500"/>
              </a:spcBef>
              <a:spcAft>
                <a:spcPts val="0"/>
              </a:spcAft>
              <a:buClr>
                <a:srgbClr val="3F3F3F"/>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45"/>
          <p:cNvSpPr txBox="1"/>
          <p:nvPr>
            <p:ph idx="5" type="body"/>
          </p:nvPr>
        </p:nvSpPr>
        <p:spPr>
          <a:xfrm>
            <a:off x="6299887" y="2020359"/>
            <a:ext cx="5472113" cy="4170891"/>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lvl1pPr>
            <a:lvl2pPr indent="-342900" lvl="1" marL="914400" algn="l">
              <a:lnSpc>
                <a:spcPct val="90000"/>
              </a:lnSpc>
              <a:spcBef>
                <a:spcPts val="500"/>
              </a:spcBef>
              <a:spcAft>
                <a:spcPts val="0"/>
              </a:spcAft>
              <a:buClr>
                <a:srgbClr val="3F3F3F"/>
              </a:buClr>
              <a:buSzPts val="1800"/>
              <a:buChar char="•"/>
              <a:defRPr/>
            </a:lvl2pPr>
            <a:lvl3pPr indent="-342900" lvl="2" marL="1371600" algn="l">
              <a:lnSpc>
                <a:spcPct val="90000"/>
              </a:lnSpc>
              <a:spcBef>
                <a:spcPts val="500"/>
              </a:spcBef>
              <a:spcAft>
                <a:spcPts val="0"/>
              </a:spcAft>
              <a:buClr>
                <a:srgbClr val="3F3F3F"/>
              </a:buClr>
              <a:buSzPts val="1800"/>
              <a:buChar char="•"/>
              <a:defRPr/>
            </a:lvl3pPr>
            <a:lvl4pPr indent="-342900" lvl="3" marL="1828800" algn="l">
              <a:lnSpc>
                <a:spcPct val="90000"/>
              </a:lnSpc>
              <a:spcBef>
                <a:spcPts val="500"/>
              </a:spcBef>
              <a:spcAft>
                <a:spcPts val="0"/>
              </a:spcAft>
              <a:buClr>
                <a:srgbClr val="3F3F3F"/>
              </a:buClr>
              <a:buSzPts val="1800"/>
              <a:buChar char="•"/>
              <a:defRPr/>
            </a:lvl4pPr>
            <a:lvl5pPr indent="-342900" lvl="4" marL="2286000" algn="l">
              <a:lnSpc>
                <a:spcPct val="90000"/>
              </a:lnSpc>
              <a:spcBef>
                <a:spcPts val="500"/>
              </a:spcBef>
              <a:spcAft>
                <a:spcPts val="0"/>
              </a:spcAft>
              <a:buClr>
                <a:srgbClr val="3F3F3F"/>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45"/>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ivisore 2">
  <p:cSld name="Diapositiva divisore 2">
    <p:bg>
      <p:bgPr>
        <a:solidFill>
          <a:srgbClr val="3F3F3F"/>
        </a:solidFill>
      </p:bgPr>
    </p:bg>
    <p:spTree>
      <p:nvGrpSpPr>
        <p:cNvPr id="68" name="Shape 68"/>
        <p:cNvGrpSpPr/>
        <p:nvPr/>
      </p:nvGrpSpPr>
      <p:grpSpPr>
        <a:xfrm>
          <a:off x="0" y="0"/>
          <a:ext cx="0" cy="0"/>
          <a:chOff x="0" y="0"/>
          <a:chExt cx="0" cy="0"/>
        </a:xfrm>
      </p:grpSpPr>
      <p:sp>
        <p:nvSpPr>
          <p:cNvPr id="69" name="Google Shape;69;p46"/>
          <p:cNvSpPr/>
          <p:nvPr>
            <p:ph idx="2" type="pic"/>
          </p:nvPr>
        </p:nvSpPr>
        <p:spPr>
          <a:xfrm>
            <a:off x="2411412" y="0"/>
            <a:ext cx="9780588" cy="6371351"/>
          </a:xfrm>
          <a:prstGeom prst="rect">
            <a:avLst/>
          </a:prstGeom>
          <a:solidFill>
            <a:srgbClr val="D8D8D8"/>
          </a:solidFill>
          <a:ln>
            <a:noFill/>
          </a:ln>
        </p:spPr>
      </p:sp>
      <p:sp>
        <p:nvSpPr>
          <p:cNvPr id="70" name="Google Shape;70;p46"/>
          <p:cNvSpPr txBox="1"/>
          <p:nvPr>
            <p:ph type="title"/>
          </p:nvPr>
        </p:nvSpPr>
        <p:spPr>
          <a:xfrm>
            <a:off x="-1700" y="2156226"/>
            <a:ext cx="5958000" cy="1958400"/>
          </a:xfrm>
          <a:prstGeom prst="rect">
            <a:avLst/>
          </a:prstGeom>
          <a:solidFill>
            <a:schemeClr val="lt1"/>
          </a:solidFill>
          <a:ln>
            <a:noFill/>
          </a:ln>
        </p:spPr>
        <p:txBody>
          <a:bodyPr anchorCtr="0" anchor="ctr" bIns="180000" lIns="252000" spcFirstLastPara="1" rIns="180000" wrap="square" tIns="180000">
            <a:noAutofit/>
          </a:bodyPr>
          <a:lstStyle>
            <a:lvl1pPr lvl="0" algn="l">
              <a:lnSpc>
                <a:spcPct val="90000"/>
              </a:lnSpc>
              <a:spcBef>
                <a:spcPts val="0"/>
              </a:spcBef>
              <a:spcAft>
                <a:spcPts val="0"/>
              </a:spcAft>
              <a:buClr>
                <a:srgbClr val="3F3F3F"/>
              </a:buClr>
              <a:buSzPts val="4800"/>
              <a:buFont typeface="Corbel"/>
              <a:buNone/>
              <a:defRPr b="1" sz="4800">
                <a:solidFill>
                  <a:srgbClr val="3F3F3F"/>
                </a:solidFill>
                <a:latin typeface="Corbel"/>
                <a:ea typeface="Corbel"/>
                <a:cs typeface="Corbel"/>
                <a:sym typeface="Corbe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46"/>
          <p:cNvSpPr txBox="1"/>
          <p:nvPr>
            <p:ph idx="1" type="body"/>
          </p:nvPr>
        </p:nvSpPr>
        <p:spPr>
          <a:xfrm>
            <a:off x="0" y="4110760"/>
            <a:ext cx="5956300" cy="1100565"/>
          </a:xfrm>
          <a:prstGeom prst="rect">
            <a:avLst/>
          </a:prstGeom>
          <a:solidFill>
            <a:schemeClr val="dk1">
              <a:alpha val="80000"/>
            </a:schemeClr>
          </a:solidFill>
          <a:ln>
            <a:noFill/>
          </a:ln>
        </p:spPr>
        <p:txBody>
          <a:bodyPr anchorCtr="0" anchor="t" bIns="180000" lIns="252000" spcFirstLastPara="1" rIns="180000" wrap="square" tIns="180000">
            <a:noAutofit/>
          </a:bodyPr>
          <a:lstStyle>
            <a:lvl1pPr indent="-228600" lvl="0" marL="457200" algn="l">
              <a:lnSpc>
                <a:spcPct val="90000"/>
              </a:lnSpc>
              <a:spcBef>
                <a:spcPts val="1000"/>
              </a:spcBef>
              <a:spcAft>
                <a:spcPts val="0"/>
              </a:spcAft>
              <a:buClr>
                <a:schemeClr val="lt1"/>
              </a:buClr>
              <a:buSzPts val="1800"/>
              <a:buNone/>
              <a:defRPr sz="1800">
                <a:solidFill>
                  <a:schemeClr val="lt1"/>
                </a:solidFill>
              </a:defRPr>
            </a:lvl1pPr>
            <a:lvl2pPr indent="-228600" lvl="1" marL="914400" algn="r">
              <a:lnSpc>
                <a:spcPct val="90000"/>
              </a:lnSpc>
              <a:spcBef>
                <a:spcPts val="500"/>
              </a:spcBef>
              <a:spcAft>
                <a:spcPts val="0"/>
              </a:spcAft>
              <a:buClr>
                <a:schemeClr val="lt1"/>
              </a:buClr>
              <a:buSzPts val="1800"/>
              <a:buNone/>
              <a:defRPr sz="1800">
                <a:solidFill>
                  <a:schemeClr val="lt1"/>
                </a:solidFill>
              </a:defRPr>
            </a:lvl2pPr>
            <a:lvl3pPr indent="-228600" lvl="2" marL="1371600" algn="r">
              <a:lnSpc>
                <a:spcPct val="90000"/>
              </a:lnSpc>
              <a:spcBef>
                <a:spcPts val="500"/>
              </a:spcBef>
              <a:spcAft>
                <a:spcPts val="0"/>
              </a:spcAft>
              <a:buClr>
                <a:schemeClr val="lt1"/>
              </a:buClr>
              <a:buSzPts val="1800"/>
              <a:buNone/>
              <a:defRPr sz="1800">
                <a:solidFill>
                  <a:schemeClr val="lt1"/>
                </a:solidFill>
              </a:defRPr>
            </a:lvl3pPr>
            <a:lvl4pPr indent="-228600" lvl="3" marL="1828800" algn="r">
              <a:lnSpc>
                <a:spcPct val="90000"/>
              </a:lnSpc>
              <a:spcBef>
                <a:spcPts val="500"/>
              </a:spcBef>
              <a:spcAft>
                <a:spcPts val="0"/>
              </a:spcAft>
              <a:buClr>
                <a:schemeClr val="lt1"/>
              </a:buClr>
              <a:buSzPts val="1800"/>
              <a:buNone/>
              <a:defRPr sz="1800">
                <a:solidFill>
                  <a:schemeClr val="lt1"/>
                </a:solidFill>
              </a:defRPr>
            </a:lvl4pPr>
            <a:lvl5pPr indent="-228600" lvl="4" marL="2286000" algn="r">
              <a:lnSpc>
                <a:spcPct val="90000"/>
              </a:lnSpc>
              <a:spcBef>
                <a:spcPts val="500"/>
              </a:spcBef>
              <a:spcAft>
                <a:spcPts val="0"/>
              </a:spcAft>
              <a:buClr>
                <a:schemeClr val="lt1"/>
              </a:buClr>
              <a:buSzPts val="1800"/>
              <a:buNone/>
              <a:defRPr sz="18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46"/>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p:nvPr/>
        </p:nvSpPr>
        <p:spPr>
          <a:xfrm>
            <a:off x="0" y="5209682"/>
            <a:ext cx="2411412"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74" name="Google Shape;74;p46"/>
          <p:cNvSpPr/>
          <p:nvPr/>
        </p:nvSpPr>
        <p:spPr>
          <a:xfrm>
            <a:off x="9780103" y="6803351"/>
            <a:ext cx="1979897" cy="54650"/>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75" name="Google Shape;75;p46"/>
          <p:cNvSpPr/>
          <p:nvPr/>
        </p:nvSpPr>
        <p:spPr>
          <a:xfrm>
            <a:off x="0" y="6803351"/>
            <a:ext cx="9780104" cy="5465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76" name="Google Shape;76;p46"/>
          <p:cNvSpPr/>
          <p:nvPr/>
        </p:nvSpPr>
        <p:spPr>
          <a:xfrm>
            <a:off x="11760000" y="6803351"/>
            <a:ext cx="432000" cy="546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77" name="Google Shape;77;p46"/>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to grande">
  <p:cSld name="Foto grande">
    <p:spTree>
      <p:nvGrpSpPr>
        <p:cNvPr id="78" name="Shape 78"/>
        <p:cNvGrpSpPr/>
        <p:nvPr/>
      </p:nvGrpSpPr>
      <p:grpSpPr>
        <a:xfrm>
          <a:off x="0" y="0"/>
          <a:ext cx="0" cy="0"/>
          <a:chOff x="0" y="0"/>
          <a:chExt cx="0" cy="0"/>
        </a:xfrm>
      </p:grpSpPr>
      <p:sp>
        <p:nvSpPr>
          <p:cNvPr id="79" name="Google Shape;79;p47"/>
          <p:cNvSpPr/>
          <p:nvPr>
            <p:ph idx="2" type="pic"/>
          </p:nvPr>
        </p:nvSpPr>
        <p:spPr>
          <a:xfrm>
            <a:off x="0" y="1"/>
            <a:ext cx="12192000" cy="6371350"/>
          </a:xfrm>
          <a:prstGeom prst="rect">
            <a:avLst/>
          </a:prstGeom>
          <a:solidFill>
            <a:srgbClr val="D8D8D8"/>
          </a:solidFill>
          <a:ln>
            <a:noFill/>
          </a:ln>
        </p:spPr>
      </p:sp>
      <p:sp>
        <p:nvSpPr>
          <p:cNvPr id="80" name="Google Shape;80;p47"/>
          <p:cNvSpPr txBox="1"/>
          <p:nvPr>
            <p:ph idx="1" type="body"/>
          </p:nvPr>
        </p:nvSpPr>
        <p:spPr>
          <a:xfrm>
            <a:off x="6096000" y="5359400"/>
            <a:ext cx="5664000" cy="565899"/>
          </a:xfrm>
          <a:prstGeom prst="rect">
            <a:avLst/>
          </a:prstGeom>
          <a:solidFill>
            <a:schemeClr val="dk1"/>
          </a:solidFill>
          <a:ln>
            <a:noFill/>
          </a:ln>
        </p:spPr>
        <p:txBody>
          <a:bodyPr anchorCtr="0" anchor="ctr" bIns="180000" lIns="180000" spcFirstLastPara="1" rIns="180000" wrap="square" tIns="180000">
            <a:noAutofit/>
          </a:bodyPr>
          <a:lstStyle>
            <a:lvl1pPr indent="-228600" lvl="0" marL="457200" algn="r">
              <a:lnSpc>
                <a:spcPct val="90000"/>
              </a:lnSpc>
              <a:spcBef>
                <a:spcPts val="1000"/>
              </a:spcBef>
              <a:spcAft>
                <a:spcPts val="0"/>
              </a:spcAft>
              <a:buClr>
                <a:schemeClr val="lt1"/>
              </a:buClr>
              <a:buSzPts val="1800"/>
              <a:buNone/>
              <a:defRPr>
                <a:solidFill>
                  <a:schemeClr val="lt1"/>
                </a:solidFill>
              </a:defRPr>
            </a:lvl1pPr>
            <a:lvl2pPr indent="-330200" lvl="1" marL="914400" algn="l">
              <a:lnSpc>
                <a:spcPct val="90000"/>
              </a:lnSpc>
              <a:spcBef>
                <a:spcPts val="500"/>
              </a:spcBef>
              <a:spcAft>
                <a:spcPts val="0"/>
              </a:spcAft>
              <a:buClr>
                <a:srgbClr val="3F3F3F"/>
              </a:buClr>
              <a:buSzPts val="1600"/>
              <a:buChar char="•"/>
              <a:defRPr>
                <a:solidFill>
                  <a:srgbClr val="3F3F3F"/>
                </a:solidFill>
              </a:defRPr>
            </a:lvl2pPr>
            <a:lvl3pPr indent="-317500" lvl="2" marL="1371600" algn="l">
              <a:lnSpc>
                <a:spcPct val="90000"/>
              </a:lnSpc>
              <a:spcBef>
                <a:spcPts val="500"/>
              </a:spcBef>
              <a:spcAft>
                <a:spcPts val="0"/>
              </a:spcAft>
              <a:buClr>
                <a:srgbClr val="3F3F3F"/>
              </a:buClr>
              <a:buSzPts val="1400"/>
              <a:buChar char="•"/>
              <a:defRPr>
                <a:solidFill>
                  <a:srgbClr val="3F3F3F"/>
                </a:solidFill>
              </a:defRPr>
            </a:lvl3pPr>
            <a:lvl4pPr indent="-317500" lvl="3" marL="1828800" algn="l">
              <a:lnSpc>
                <a:spcPct val="90000"/>
              </a:lnSpc>
              <a:spcBef>
                <a:spcPts val="500"/>
              </a:spcBef>
              <a:spcAft>
                <a:spcPts val="0"/>
              </a:spcAft>
              <a:buClr>
                <a:srgbClr val="3F3F3F"/>
              </a:buClr>
              <a:buSzPts val="1400"/>
              <a:buChar char="•"/>
              <a:defRPr>
                <a:solidFill>
                  <a:srgbClr val="3F3F3F"/>
                </a:solidFill>
              </a:defRPr>
            </a:lvl4pPr>
            <a:lvl5pPr indent="-317500" lvl="4" marL="2286000" algn="l">
              <a:lnSpc>
                <a:spcPct val="90000"/>
              </a:lnSpc>
              <a:spcBef>
                <a:spcPts val="500"/>
              </a:spcBef>
              <a:spcAft>
                <a:spcPts val="0"/>
              </a:spcAft>
              <a:buClr>
                <a:srgbClr val="3F3F3F"/>
              </a:buClr>
              <a:buSzPts val="1400"/>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7"/>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7"/>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83" name="Google Shape;83;p47"/>
          <p:cNvSpPr txBox="1"/>
          <p:nvPr>
            <p:ph type="title"/>
          </p:nvPr>
        </p:nvSpPr>
        <p:spPr>
          <a:xfrm>
            <a:off x="432000" y="432000"/>
            <a:ext cx="11328000" cy="43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zie">
  <p:cSld name="Grazie">
    <p:bg>
      <p:bgPr>
        <a:solidFill>
          <a:srgbClr val="F2F2F2"/>
        </a:solidFill>
      </p:bgPr>
    </p:bg>
    <p:spTree>
      <p:nvGrpSpPr>
        <p:cNvPr id="84" name="Shape 84"/>
        <p:cNvGrpSpPr/>
        <p:nvPr/>
      </p:nvGrpSpPr>
      <p:grpSpPr>
        <a:xfrm>
          <a:off x="0" y="0"/>
          <a:ext cx="0" cy="0"/>
          <a:chOff x="0" y="0"/>
          <a:chExt cx="0" cy="0"/>
        </a:xfrm>
      </p:grpSpPr>
      <p:sp>
        <p:nvSpPr>
          <p:cNvPr id="85" name="Google Shape;85;p48"/>
          <p:cNvSpPr/>
          <p:nvPr>
            <p:ph idx="2" type="pic"/>
          </p:nvPr>
        </p:nvSpPr>
        <p:spPr>
          <a:xfrm>
            <a:off x="0" y="0"/>
            <a:ext cx="9780102" cy="6804025"/>
          </a:xfrm>
          <a:prstGeom prst="rect">
            <a:avLst/>
          </a:prstGeom>
          <a:solidFill>
            <a:srgbClr val="D8D8D8"/>
          </a:solidFill>
          <a:ln>
            <a:noFill/>
          </a:ln>
        </p:spPr>
      </p:sp>
      <p:sp>
        <p:nvSpPr>
          <p:cNvPr id="86" name="Google Shape;86;p48"/>
          <p:cNvSpPr txBox="1"/>
          <p:nvPr>
            <p:ph type="ctrTitle"/>
          </p:nvPr>
        </p:nvSpPr>
        <p:spPr>
          <a:xfrm>
            <a:off x="8458200" y="2798354"/>
            <a:ext cx="3733800" cy="1013684"/>
          </a:xfrm>
          <a:prstGeom prst="rect">
            <a:avLst/>
          </a:prstGeom>
          <a:solidFill>
            <a:schemeClr val="lt1"/>
          </a:solidFill>
          <a:ln>
            <a:noFill/>
          </a:ln>
        </p:spPr>
        <p:txBody>
          <a:bodyPr anchorCtr="0" anchor="t" bIns="180000" lIns="180000" spcFirstLastPara="1" rIns="252000" wrap="square" tIns="180000">
            <a:noAutofit/>
          </a:bodyPr>
          <a:lstStyle>
            <a:lvl1pPr lvl="0" algn="r">
              <a:lnSpc>
                <a:spcPct val="90000"/>
              </a:lnSpc>
              <a:spcBef>
                <a:spcPts val="0"/>
              </a:spcBef>
              <a:spcAft>
                <a:spcPts val="0"/>
              </a:spcAft>
              <a:buClr>
                <a:srgbClr val="3F3F3F"/>
              </a:buClr>
              <a:buSzPts val="6000"/>
              <a:buFont typeface="Corbel"/>
              <a:buNone/>
              <a:defRPr b="1"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8"/>
          <p:cNvSpPr txBox="1"/>
          <p:nvPr>
            <p:ph idx="1" type="body"/>
          </p:nvPr>
        </p:nvSpPr>
        <p:spPr>
          <a:xfrm>
            <a:off x="8458200" y="3957705"/>
            <a:ext cx="2910342" cy="316800"/>
          </a:xfrm>
          <a:prstGeom prst="rect">
            <a:avLst/>
          </a:prstGeom>
          <a:solidFill>
            <a:srgbClr val="3F3F3F"/>
          </a:solidFill>
          <a:ln>
            <a:noFill/>
          </a:ln>
        </p:spPr>
        <p:txBody>
          <a:bodyPr anchorCtr="0" anchor="ctr" bIns="0" lIns="0" spcFirstLastPara="1" rIns="72000" wrap="square" tIns="0">
            <a:noAutofit/>
          </a:bodyPr>
          <a:lstStyle>
            <a:lvl1pPr indent="-228600" lvl="0" marL="457200" algn="r">
              <a:lnSpc>
                <a:spcPct val="90000"/>
              </a:lnSpc>
              <a:spcBef>
                <a:spcPts val="1000"/>
              </a:spcBef>
              <a:spcAft>
                <a:spcPts val="0"/>
              </a:spcAft>
              <a:buClr>
                <a:schemeClr val="lt1"/>
              </a:buClr>
              <a:buSzPts val="1800"/>
              <a:buNone/>
              <a:defRPr>
                <a:solidFill>
                  <a:schemeClr val="lt1"/>
                </a:solidFill>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48"/>
          <p:cNvSpPr txBox="1"/>
          <p:nvPr>
            <p:ph idx="3" type="body"/>
          </p:nvPr>
        </p:nvSpPr>
        <p:spPr>
          <a:xfrm>
            <a:off x="8458200" y="4306722"/>
            <a:ext cx="2910342" cy="316800"/>
          </a:xfrm>
          <a:prstGeom prst="rect">
            <a:avLst/>
          </a:prstGeom>
          <a:solidFill>
            <a:srgbClr val="3F3F3F"/>
          </a:solidFill>
          <a:ln>
            <a:noFill/>
          </a:ln>
        </p:spPr>
        <p:txBody>
          <a:bodyPr anchorCtr="0" anchor="ctr" bIns="0" lIns="0" spcFirstLastPara="1" rIns="72000" wrap="square" tIns="0">
            <a:noAutofit/>
          </a:bodyPr>
          <a:lstStyle>
            <a:lvl1pPr indent="-228600" lvl="0" marL="457200" algn="r">
              <a:lnSpc>
                <a:spcPct val="90000"/>
              </a:lnSpc>
              <a:spcBef>
                <a:spcPts val="1000"/>
              </a:spcBef>
              <a:spcAft>
                <a:spcPts val="0"/>
              </a:spcAft>
              <a:buClr>
                <a:schemeClr val="lt1"/>
              </a:buClr>
              <a:buSzPts val="1800"/>
              <a:buNone/>
              <a:defRPr>
                <a:solidFill>
                  <a:schemeClr val="lt1"/>
                </a:solidFill>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48"/>
          <p:cNvSpPr txBox="1"/>
          <p:nvPr>
            <p:ph idx="4" type="body"/>
          </p:nvPr>
        </p:nvSpPr>
        <p:spPr>
          <a:xfrm>
            <a:off x="8458200" y="4655739"/>
            <a:ext cx="2910342" cy="316800"/>
          </a:xfrm>
          <a:prstGeom prst="rect">
            <a:avLst/>
          </a:prstGeom>
          <a:solidFill>
            <a:srgbClr val="3F3F3F"/>
          </a:solidFill>
          <a:ln>
            <a:noFill/>
          </a:ln>
        </p:spPr>
        <p:txBody>
          <a:bodyPr anchorCtr="0" anchor="ctr" bIns="0" lIns="0" spcFirstLastPara="1" rIns="72000" wrap="square" tIns="0">
            <a:noAutofit/>
          </a:bodyPr>
          <a:lstStyle>
            <a:lvl1pPr indent="-228600" lvl="0" marL="457200" algn="r">
              <a:lnSpc>
                <a:spcPct val="90000"/>
              </a:lnSpc>
              <a:spcBef>
                <a:spcPts val="1000"/>
              </a:spcBef>
              <a:spcAft>
                <a:spcPts val="0"/>
              </a:spcAft>
              <a:buClr>
                <a:schemeClr val="lt1"/>
              </a:buClr>
              <a:buSzPts val="1800"/>
              <a:buNone/>
              <a:defRPr>
                <a:solidFill>
                  <a:schemeClr val="lt1"/>
                </a:solidFill>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48"/>
          <p:cNvSpPr txBox="1"/>
          <p:nvPr>
            <p:ph idx="5" type="body"/>
          </p:nvPr>
        </p:nvSpPr>
        <p:spPr>
          <a:xfrm>
            <a:off x="8458200" y="5004756"/>
            <a:ext cx="2910342" cy="316800"/>
          </a:xfrm>
          <a:prstGeom prst="rect">
            <a:avLst/>
          </a:prstGeom>
          <a:solidFill>
            <a:srgbClr val="3F3F3F"/>
          </a:solidFill>
          <a:ln>
            <a:noFill/>
          </a:ln>
        </p:spPr>
        <p:txBody>
          <a:bodyPr anchorCtr="0" anchor="ctr" bIns="0" lIns="0" spcFirstLastPara="1" rIns="72000" wrap="square" tIns="0">
            <a:noAutofit/>
          </a:bodyPr>
          <a:lstStyle>
            <a:lvl1pPr indent="-228600" lvl="0" marL="457200" algn="r">
              <a:lnSpc>
                <a:spcPct val="90000"/>
              </a:lnSpc>
              <a:spcBef>
                <a:spcPts val="1000"/>
              </a:spcBef>
              <a:spcAft>
                <a:spcPts val="0"/>
              </a:spcAft>
              <a:buClr>
                <a:schemeClr val="lt1"/>
              </a:buClr>
              <a:buSzPts val="1800"/>
              <a:buNone/>
              <a:defRPr>
                <a:solidFill>
                  <a:schemeClr val="lt1"/>
                </a:solidFill>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48"/>
          <p:cNvSpPr/>
          <p:nvPr/>
        </p:nvSpPr>
        <p:spPr>
          <a:xfrm>
            <a:off x="11760000" y="6803351"/>
            <a:ext cx="432000" cy="546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92" name="Google Shape;92;p48"/>
          <p:cNvSpPr/>
          <p:nvPr/>
        </p:nvSpPr>
        <p:spPr>
          <a:xfrm>
            <a:off x="0" y="6803351"/>
            <a:ext cx="9780104" cy="5465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93" name="Google Shape;93;p48"/>
          <p:cNvSpPr/>
          <p:nvPr/>
        </p:nvSpPr>
        <p:spPr>
          <a:xfrm>
            <a:off x="9780103" y="6803351"/>
            <a:ext cx="1979897" cy="54650"/>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94" name="Google Shape;94;p48"/>
          <p:cNvSpPr/>
          <p:nvPr/>
        </p:nvSpPr>
        <p:spPr>
          <a:xfrm>
            <a:off x="8458200" y="2685912"/>
            <a:ext cx="3733800"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95" name="Google Shape;95;p48"/>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p:cSld name="Titolo e contenuto">
    <p:spTree>
      <p:nvGrpSpPr>
        <p:cNvPr id="96" name="Shape 96"/>
        <p:cNvGrpSpPr/>
        <p:nvPr/>
      </p:nvGrpSpPr>
      <p:grpSpPr>
        <a:xfrm>
          <a:off x="0" y="0"/>
          <a:ext cx="0" cy="0"/>
          <a:chOff x="0" y="0"/>
          <a:chExt cx="0" cy="0"/>
        </a:xfrm>
      </p:grpSpPr>
      <p:sp>
        <p:nvSpPr>
          <p:cNvPr id="97" name="Google Shape;97;p49"/>
          <p:cNvSpPr txBox="1"/>
          <p:nvPr>
            <p:ph type="title"/>
          </p:nvPr>
        </p:nvSpPr>
        <p:spPr>
          <a:xfrm>
            <a:off x="432000" y="432000"/>
            <a:ext cx="11328000" cy="43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3F3F3F"/>
              </a:buClr>
              <a:buSzPts val="3200"/>
              <a:buFont typeface="Corbel"/>
              <a:buNone/>
              <a:defRPr>
                <a:solidFill>
                  <a:srgbClr val="3F3F3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49"/>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3F3F3F"/>
              </a:buClr>
              <a:buSzPts val="1800"/>
              <a:buNone/>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49"/>
          <p:cNvSpPr txBox="1"/>
          <p:nvPr>
            <p:ph idx="2" type="body"/>
          </p:nvPr>
        </p:nvSpPr>
        <p:spPr>
          <a:xfrm>
            <a:off x="432000" y="1512000"/>
            <a:ext cx="11328000" cy="467925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solidFill>
                  <a:srgbClr val="3F3F3F"/>
                </a:solidFill>
              </a:defRPr>
            </a:lvl1pPr>
            <a:lvl2pPr indent="-330200" lvl="1" marL="914400" algn="l">
              <a:lnSpc>
                <a:spcPct val="90000"/>
              </a:lnSpc>
              <a:spcBef>
                <a:spcPts val="500"/>
              </a:spcBef>
              <a:spcAft>
                <a:spcPts val="0"/>
              </a:spcAft>
              <a:buClr>
                <a:srgbClr val="3F3F3F"/>
              </a:buClr>
              <a:buSzPts val="1600"/>
              <a:buChar char="•"/>
              <a:defRPr>
                <a:solidFill>
                  <a:srgbClr val="3F3F3F"/>
                </a:solidFill>
              </a:defRPr>
            </a:lvl2pPr>
            <a:lvl3pPr indent="-317500" lvl="2" marL="1371600" algn="l">
              <a:lnSpc>
                <a:spcPct val="90000"/>
              </a:lnSpc>
              <a:spcBef>
                <a:spcPts val="500"/>
              </a:spcBef>
              <a:spcAft>
                <a:spcPts val="0"/>
              </a:spcAft>
              <a:buClr>
                <a:srgbClr val="3F3F3F"/>
              </a:buClr>
              <a:buSzPts val="1400"/>
              <a:buChar char="•"/>
              <a:defRPr>
                <a:solidFill>
                  <a:srgbClr val="3F3F3F"/>
                </a:solidFill>
              </a:defRPr>
            </a:lvl3pPr>
            <a:lvl4pPr indent="-317500" lvl="3" marL="1828800" algn="l">
              <a:lnSpc>
                <a:spcPct val="90000"/>
              </a:lnSpc>
              <a:spcBef>
                <a:spcPts val="500"/>
              </a:spcBef>
              <a:spcAft>
                <a:spcPts val="0"/>
              </a:spcAft>
              <a:buClr>
                <a:srgbClr val="3F3F3F"/>
              </a:buClr>
              <a:buSzPts val="1400"/>
              <a:buChar char="•"/>
              <a:defRPr>
                <a:solidFill>
                  <a:srgbClr val="3F3F3F"/>
                </a:solidFill>
              </a:defRPr>
            </a:lvl4pPr>
            <a:lvl5pPr indent="-317500" lvl="4" marL="2286000" algn="l">
              <a:lnSpc>
                <a:spcPct val="90000"/>
              </a:lnSpc>
              <a:spcBef>
                <a:spcPts val="500"/>
              </a:spcBef>
              <a:spcAft>
                <a:spcPts val="0"/>
              </a:spcAft>
              <a:buClr>
                <a:srgbClr val="3F3F3F"/>
              </a:buClr>
              <a:buSzPts val="1400"/>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49"/>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49"/>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p:cSld name="Due contenuti">
    <p:spTree>
      <p:nvGrpSpPr>
        <p:cNvPr id="102" name="Shape 102"/>
        <p:cNvGrpSpPr/>
        <p:nvPr/>
      </p:nvGrpSpPr>
      <p:grpSpPr>
        <a:xfrm>
          <a:off x="0" y="0"/>
          <a:ext cx="0" cy="0"/>
          <a:chOff x="0" y="0"/>
          <a:chExt cx="0" cy="0"/>
        </a:xfrm>
      </p:grpSpPr>
      <p:sp>
        <p:nvSpPr>
          <p:cNvPr id="103" name="Google Shape;103;p50"/>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3F3F3F"/>
              </a:buClr>
              <a:buSzPts val="3200"/>
              <a:buFont typeface="Corbel"/>
              <a:buNone/>
              <a:defRPr>
                <a:solidFill>
                  <a:srgbClr val="3F3F3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50"/>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3F3F3F"/>
              </a:buClr>
              <a:buSzPts val="1800"/>
              <a:buNone/>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50"/>
          <p:cNvSpPr txBox="1"/>
          <p:nvPr>
            <p:ph idx="2" type="body"/>
          </p:nvPr>
        </p:nvSpPr>
        <p:spPr>
          <a:xfrm>
            <a:off x="432000" y="1512000"/>
            <a:ext cx="5472000" cy="46800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solidFill>
                  <a:srgbClr val="3F3F3F"/>
                </a:solidFill>
              </a:defRPr>
            </a:lvl1pPr>
            <a:lvl2pPr indent="-330200" lvl="1" marL="914400" algn="l">
              <a:lnSpc>
                <a:spcPct val="90000"/>
              </a:lnSpc>
              <a:spcBef>
                <a:spcPts val="500"/>
              </a:spcBef>
              <a:spcAft>
                <a:spcPts val="0"/>
              </a:spcAft>
              <a:buClr>
                <a:srgbClr val="3F3F3F"/>
              </a:buClr>
              <a:buSzPts val="1600"/>
              <a:buChar char="•"/>
              <a:defRPr>
                <a:solidFill>
                  <a:srgbClr val="3F3F3F"/>
                </a:solidFill>
              </a:defRPr>
            </a:lvl2pPr>
            <a:lvl3pPr indent="-317500" lvl="2" marL="1371600" algn="l">
              <a:lnSpc>
                <a:spcPct val="90000"/>
              </a:lnSpc>
              <a:spcBef>
                <a:spcPts val="500"/>
              </a:spcBef>
              <a:spcAft>
                <a:spcPts val="0"/>
              </a:spcAft>
              <a:buClr>
                <a:srgbClr val="3F3F3F"/>
              </a:buClr>
              <a:buSzPts val="1400"/>
              <a:buChar char="•"/>
              <a:defRPr>
                <a:solidFill>
                  <a:srgbClr val="3F3F3F"/>
                </a:solidFill>
              </a:defRPr>
            </a:lvl3pPr>
            <a:lvl4pPr indent="-317500" lvl="3" marL="1828800" algn="l">
              <a:lnSpc>
                <a:spcPct val="90000"/>
              </a:lnSpc>
              <a:spcBef>
                <a:spcPts val="500"/>
              </a:spcBef>
              <a:spcAft>
                <a:spcPts val="0"/>
              </a:spcAft>
              <a:buClr>
                <a:srgbClr val="3F3F3F"/>
              </a:buClr>
              <a:buSzPts val="1400"/>
              <a:buChar char="•"/>
              <a:defRPr>
                <a:solidFill>
                  <a:srgbClr val="3F3F3F"/>
                </a:solidFill>
              </a:defRPr>
            </a:lvl4pPr>
            <a:lvl5pPr indent="-317500" lvl="4" marL="2286000" algn="l">
              <a:lnSpc>
                <a:spcPct val="90000"/>
              </a:lnSpc>
              <a:spcBef>
                <a:spcPts val="500"/>
              </a:spcBef>
              <a:spcAft>
                <a:spcPts val="0"/>
              </a:spcAft>
              <a:buClr>
                <a:srgbClr val="3F3F3F"/>
              </a:buClr>
              <a:buSzPts val="1400"/>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50"/>
          <p:cNvSpPr txBox="1"/>
          <p:nvPr>
            <p:ph idx="3" type="body"/>
          </p:nvPr>
        </p:nvSpPr>
        <p:spPr>
          <a:xfrm>
            <a:off x="6299887" y="1511250"/>
            <a:ext cx="5472113" cy="468000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lvl1pPr>
            <a:lvl2pPr indent="-342900" lvl="1" marL="914400" algn="l">
              <a:lnSpc>
                <a:spcPct val="90000"/>
              </a:lnSpc>
              <a:spcBef>
                <a:spcPts val="500"/>
              </a:spcBef>
              <a:spcAft>
                <a:spcPts val="0"/>
              </a:spcAft>
              <a:buClr>
                <a:srgbClr val="3F3F3F"/>
              </a:buClr>
              <a:buSzPts val="1800"/>
              <a:buChar char="•"/>
              <a:defRPr/>
            </a:lvl2pPr>
            <a:lvl3pPr indent="-342900" lvl="2" marL="1371600" algn="l">
              <a:lnSpc>
                <a:spcPct val="90000"/>
              </a:lnSpc>
              <a:spcBef>
                <a:spcPts val="500"/>
              </a:spcBef>
              <a:spcAft>
                <a:spcPts val="0"/>
              </a:spcAft>
              <a:buClr>
                <a:srgbClr val="3F3F3F"/>
              </a:buClr>
              <a:buSzPts val="1800"/>
              <a:buChar char="•"/>
              <a:defRPr/>
            </a:lvl3pPr>
            <a:lvl4pPr indent="-342900" lvl="3" marL="1828800" algn="l">
              <a:lnSpc>
                <a:spcPct val="90000"/>
              </a:lnSpc>
              <a:spcBef>
                <a:spcPts val="500"/>
              </a:spcBef>
              <a:spcAft>
                <a:spcPts val="0"/>
              </a:spcAft>
              <a:buClr>
                <a:srgbClr val="3F3F3F"/>
              </a:buClr>
              <a:buSzPts val="1800"/>
              <a:buChar char="•"/>
              <a:defRPr/>
            </a:lvl4pPr>
            <a:lvl5pPr indent="-342900" lvl="4" marL="2286000" algn="l">
              <a:lnSpc>
                <a:spcPct val="90000"/>
              </a:lnSpc>
              <a:spcBef>
                <a:spcPts val="500"/>
              </a:spcBef>
              <a:spcAft>
                <a:spcPts val="0"/>
              </a:spcAft>
              <a:buClr>
                <a:srgbClr val="3F3F3F"/>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50"/>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0"/>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onne">
  <p:cSld name="3 colonne">
    <p:spTree>
      <p:nvGrpSpPr>
        <p:cNvPr id="109" name="Shape 109"/>
        <p:cNvGrpSpPr/>
        <p:nvPr/>
      </p:nvGrpSpPr>
      <p:grpSpPr>
        <a:xfrm>
          <a:off x="0" y="0"/>
          <a:ext cx="0" cy="0"/>
          <a:chOff x="0" y="0"/>
          <a:chExt cx="0" cy="0"/>
        </a:xfrm>
      </p:grpSpPr>
      <p:sp>
        <p:nvSpPr>
          <p:cNvPr id="110" name="Google Shape;110;p51"/>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3F3F3F"/>
              </a:buClr>
              <a:buSzPts val="3200"/>
              <a:buFont typeface="Corbel"/>
              <a:buNone/>
              <a:defRPr>
                <a:solidFill>
                  <a:srgbClr val="3F3F3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51"/>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3F3F3F"/>
              </a:buClr>
              <a:buSzPts val="1800"/>
              <a:buNone/>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51"/>
          <p:cNvSpPr txBox="1"/>
          <p:nvPr>
            <p:ph idx="2" type="body"/>
          </p:nvPr>
        </p:nvSpPr>
        <p:spPr>
          <a:xfrm>
            <a:off x="432000" y="1512000"/>
            <a:ext cx="3600000" cy="467925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solidFill>
                  <a:srgbClr val="3F3F3F"/>
                </a:solidFill>
              </a:defRPr>
            </a:lvl1pPr>
            <a:lvl2pPr indent="-330200" lvl="1" marL="914400" algn="l">
              <a:lnSpc>
                <a:spcPct val="90000"/>
              </a:lnSpc>
              <a:spcBef>
                <a:spcPts val="500"/>
              </a:spcBef>
              <a:spcAft>
                <a:spcPts val="0"/>
              </a:spcAft>
              <a:buClr>
                <a:srgbClr val="3F3F3F"/>
              </a:buClr>
              <a:buSzPts val="1600"/>
              <a:buChar char="•"/>
              <a:defRPr>
                <a:solidFill>
                  <a:srgbClr val="3F3F3F"/>
                </a:solidFill>
              </a:defRPr>
            </a:lvl2pPr>
            <a:lvl3pPr indent="-317500" lvl="2" marL="1371600" algn="l">
              <a:lnSpc>
                <a:spcPct val="90000"/>
              </a:lnSpc>
              <a:spcBef>
                <a:spcPts val="500"/>
              </a:spcBef>
              <a:spcAft>
                <a:spcPts val="0"/>
              </a:spcAft>
              <a:buClr>
                <a:srgbClr val="3F3F3F"/>
              </a:buClr>
              <a:buSzPts val="1400"/>
              <a:buChar char="•"/>
              <a:defRPr>
                <a:solidFill>
                  <a:srgbClr val="3F3F3F"/>
                </a:solidFill>
              </a:defRPr>
            </a:lvl3pPr>
            <a:lvl4pPr indent="-317500" lvl="3" marL="1828800" algn="l">
              <a:lnSpc>
                <a:spcPct val="90000"/>
              </a:lnSpc>
              <a:spcBef>
                <a:spcPts val="500"/>
              </a:spcBef>
              <a:spcAft>
                <a:spcPts val="0"/>
              </a:spcAft>
              <a:buClr>
                <a:srgbClr val="3F3F3F"/>
              </a:buClr>
              <a:buSzPts val="1400"/>
              <a:buChar char="•"/>
              <a:defRPr>
                <a:solidFill>
                  <a:srgbClr val="3F3F3F"/>
                </a:solidFill>
              </a:defRPr>
            </a:lvl4pPr>
            <a:lvl5pPr indent="-317500" lvl="4" marL="2286000" algn="l">
              <a:lnSpc>
                <a:spcPct val="90000"/>
              </a:lnSpc>
              <a:spcBef>
                <a:spcPts val="500"/>
              </a:spcBef>
              <a:spcAft>
                <a:spcPts val="0"/>
              </a:spcAft>
              <a:buClr>
                <a:srgbClr val="3F3F3F"/>
              </a:buClr>
              <a:buSzPts val="1400"/>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51"/>
          <p:cNvSpPr txBox="1"/>
          <p:nvPr>
            <p:ph idx="3" type="body"/>
          </p:nvPr>
        </p:nvSpPr>
        <p:spPr>
          <a:xfrm>
            <a:off x="4301550" y="1511476"/>
            <a:ext cx="3600450" cy="4679249"/>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lvl1pPr>
            <a:lvl2pPr indent="-342900" lvl="1" marL="914400" algn="l">
              <a:lnSpc>
                <a:spcPct val="90000"/>
              </a:lnSpc>
              <a:spcBef>
                <a:spcPts val="500"/>
              </a:spcBef>
              <a:spcAft>
                <a:spcPts val="0"/>
              </a:spcAft>
              <a:buClr>
                <a:srgbClr val="3F3F3F"/>
              </a:buClr>
              <a:buSzPts val="1800"/>
              <a:buChar char="•"/>
              <a:defRPr/>
            </a:lvl2pPr>
            <a:lvl3pPr indent="-342900" lvl="2" marL="1371600" algn="l">
              <a:lnSpc>
                <a:spcPct val="90000"/>
              </a:lnSpc>
              <a:spcBef>
                <a:spcPts val="500"/>
              </a:spcBef>
              <a:spcAft>
                <a:spcPts val="0"/>
              </a:spcAft>
              <a:buClr>
                <a:srgbClr val="3F3F3F"/>
              </a:buClr>
              <a:buSzPts val="1800"/>
              <a:buChar char="•"/>
              <a:defRPr/>
            </a:lvl3pPr>
            <a:lvl4pPr indent="-342900" lvl="3" marL="1828800" algn="l">
              <a:lnSpc>
                <a:spcPct val="90000"/>
              </a:lnSpc>
              <a:spcBef>
                <a:spcPts val="500"/>
              </a:spcBef>
              <a:spcAft>
                <a:spcPts val="0"/>
              </a:spcAft>
              <a:buClr>
                <a:srgbClr val="3F3F3F"/>
              </a:buClr>
              <a:buSzPts val="1800"/>
              <a:buChar char="•"/>
              <a:defRPr/>
            </a:lvl4pPr>
            <a:lvl5pPr indent="-342900" lvl="4" marL="2286000" algn="l">
              <a:lnSpc>
                <a:spcPct val="90000"/>
              </a:lnSpc>
              <a:spcBef>
                <a:spcPts val="500"/>
              </a:spcBef>
              <a:spcAft>
                <a:spcPts val="0"/>
              </a:spcAft>
              <a:buClr>
                <a:srgbClr val="3F3F3F"/>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51"/>
          <p:cNvSpPr txBox="1"/>
          <p:nvPr>
            <p:ph idx="4" type="body"/>
          </p:nvPr>
        </p:nvSpPr>
        <p:spPr>
          <a:xfrm>
            <a:off x="8171550" y="1511475"/>
            <a:ext cx="3600450" cy="467925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lvl1pPr>
            <a:lvl2pPr indent="-342900" lvl="1" marL="914400" algn="l">
              <a:lnSpc>
                <a:spcPct val="90000"/>
              </a:lnSpc>
              <a:spcBef>
                <a:spcPts val="500"/>
              </a:spcBef>
              <a:spcAft>
                <a:spcPts val="0"/>
              </a:spcAft>
              <a:buClr>
                <a:srgbClr val="3F3F3F"/>
              </a:buClr>
              <a:buSzPts val="1800"/>
              <a:buChar char="•"/>
              <a:defRPr/>
            </a:lvl2pPr>
            <a:lvl3pPr indent="-342900" lvl="2" marL="1371600" algn="l">
              <a:lnSpc>
                <a:spcPct val="90000"/>
              </a:lnSpc>
              <a:spcBef>
                <a:spcPts val="500"/>
              </a:spcBef>
              <a:spcAft>
                <a:spcPts val="0"/>
              </a:spcAft>
              <a:buClr>
                <a:srgbClr val="3F3F3F"/>
              </a:buClr>
              <a:buSzPts val="1800"/>
              <a:buChar char="•"/>
              <a:defRPr/>
            </a:lvl3pPr>
            <a:lvl4pPr indent="-342900" lvl="3" marL="1828800" algn="l">
              <a:lnSpc>
                <a:spcPct val="90000"/>
              </a:lnSpc>
              <a:spcBef>
                <a:spcPts val="500"/>
              </a:spcBef>
              <a:spcAft>
                <a:spcPts val="0"/>
              </a:spcAft>
              <a:buClr>
                <a:srgbClr val="3F3F3F"/>
              </a:buClr>
              <a:buSzPts val="1800"/>
              <a:buChar char="•"/>
              <a:defRPr/>
            </a:lvl4pPr>
            <a:lvl5pPr indent="-342900" lvl="4" marL="2286000" algn="l">
              <a:lnSpc>
                <a:spcPct val="90000"/>
              </a:lnSpc>
              <a:spcBef>
                <a:spcPts val="500"/>
              </a:spcBef>
              <a:spcAft>
                <a:spcPts val="0"/>
              </a:spcAft>
              <a:buClr>
                <a:srgbClr val="3F3F3F"/>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51"/>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51"/>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lonne">
  <p:cSld name="5 colonne">
    <p:spTree>
      <p:nvGrpSpPr>
        <p:cNvPr id="117" name="Shape 117"/>
        <p:cNvGrpSpPr/>
        <p:nvPr/>
      </p:nvGrpSpPr>
      <p:grpSpPr>
        <a:xfrm>
          <a:off x="0" y="0"/>
          <a:ext cx="0" cy="0"/>
          <a:chOff x="0" y="0"/>
          <a:chExt cx="0" cy="0"/>
        </a:xfrm>
      </p:grpSpPr>
      <p:sp>
        <p:nvSpPr>
          <p:cNvPr id="118" name="Google Shape;118;p52"/>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3F3F3F"/>
              </a:buClr>
              <a:buSzPts val="3200"/>
              <a:buFont typeface="Corbel"/>
              <a:buNone/>
              <a:defRPr>
                <a:solidFill>
                  <a:srgbClr val="3F3F3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52"/>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3F3F3F"/>
              </a:buClr>
              <a:buSzPts val="1800"/>
              <a:buNone/>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52"/>
          <p:cNvSpPr txBox="1"/>
          <p:nvPr>
            <p:ph idx="2" type="body"/>
          </p:nvPr>
        </p:nvSpPr>
        <p:spPr>
          <a:xfrm>
            <a:off x="432000" y="1512000"/>
            <a:ext cx="2160000" cy="467925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solidFill>
                  <a:srgbClr val="3F3F3F"/>
                </a:solidFill>
              </a:defRPr>
            </a:lvl1pPr>
            <a:lvl2pPr indent="-330200" lvl="1" marL="914400" algn="l">
              <a:lnSpc>
                <a:spcPct val="90000"/>
              </a:lnSpc>
              <a:spcBef>
                <a:spcPts val="500"/>
              </a:spcBef>
              <a:spcAft>
                <a:spcPts val="0"/>
              </a:spcAft>
              <a:buClr>
                <a:srgbClr val="3F3F3F"/>
              </a:buClr>
              <a:buSzPts val="1600"/>
              <a:buChar char="•"/>
              <a:defRPr>
                <a:solidFill>
                  <a:srgbClr val="3F3F3F"/>
                </a:solidFill>
              </a:defRPr>
            </a:lvl2pPr>
            <a:lvl3pPr indent="-317500" lvl="2" marL="1371600" algn="l">
              <a:lnSpc>
                <a:spcPct val="90000"/>
              </a:lnSpc>
              <a:spcBef>
                <a:spcPts val="500"/>
              </a:spcBef>
              <a:spcAft>
                <a:spcPts val="0"/>
              </a:spcAft>
              <a:buClr>
                <a:srgbClr val="3F3F3F"/>
              </a:buClr>
              <a:buSzPts val="1400"/>
              <a:buChar char="•"/>
              <a:defRPr>
                <a:solidFill>
                  <a:srgbClr val="3F3F3F"/>
                </a:solidFill>
              </a:defRPr>
            </a:lvl3pPr>
            <a:lvl4pPr indent="-317500" lvl="3" marL="1828800" algn="l">
              <a:lnSpc>
                <a:spcPct val="90000"/>
              </a:lnSpc>
              <a:spcBef>
                <a:spcPts val="500"/>
              </a:spcBef>
              <a:spcAft>
                <a:spcPts val="0"/>
              </a:spcAft>
              <a:buClr>
                <a:srgbClr val="3F3F3F"/>
              </a:buClr>
              <a:buSzPts val="1400"/>
              <a:buChar char="•"/>
              <a:defRPr>
                <a:solidFill>
                  <a:srgbClr val="3F3F3F"/>
                </a:solidFill>
              </a:defRPr>
            </a:lvl4pPr>
            <a:lvl5pPr indent="-317500" lvl="4" marL="2286000" algn="l">
              <a:lnSpc>
                <a:spcPct val="90000"/>
              </a:lnSpc>
              <a:spcBef>
                <a:spcPts val="500"/>
              </a:spcBef>
              <a:spcAft>
                <a:spcPts val="0"/>
              </a:spcAft>
              <a:buClr>
                <a:srgbClr val="3F3F3F"/>
              </a:buClr>
              <a:buSzPts val="1400"/>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52"/>
          <p:cNvSpPr txBox="1"/>
          <p:nvPr>
            <p:ph idx="3" type="body"/>
          </p:nvPr>
        </p:nvSpPr>
        <p:spPr>
          <a:xfrm>
            <a:off x="2726412" y="1512000"/>
            <a:ext cx="2160588" cy="467925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lvl1pPr>
            <a:lvl2pPr indent="-342900" lvl="1" marL="914400" algn="l">
              <a:lnSpc>
                <a:spcPct val="90000"/>
              </a:lnSpc>
              <a:spcBef>
                <a:spcPts val="500"/>
              </a:spcBef>
              <a:spcAft>
                <a:spcPts val="0"/>
              </a:spcAft>
              <a:buClr>
                <a:srgbClr val="3F3F3F"/>
              </a:buClr>
              <a:buSzPts val="1800"/>
              <a:buChar char="•"/>
              <a:defRPr/>
            </a:lvl2pPr>
            <a:lvl3pPr indent="-342900" lvl="2" marL="1371600" algn="l">
              <a:lnSpc>
                <a:spcPct val="90000"/>
              </a:lnSpc>
              <a:spcBef>
                <a:spcPts val="500"/>
              </a:spcBef>
              <a:spcAft>
                <a:spcPts val="0"/>
              </a:spcAft>
              <a:buClr>
                <a:srgbClr val="3F3F3F"/>
              </a:buClr>
              <a:buSzPts val="1800"/>
              <a:buChar char="•"/>
              <a:defRPr/>
            </a:lvl3pPr>
            <a:lvl4pPr indent="-342900" lvl="3" marL="1828800" algn="l">
              <a:lnSpc>
                <a:spcPct val="90000"/>
              </a:lnSpc>
              <a:spcBef>
                <a:spcPts val="500"/>
              </a:spcBef>
              <a:spcAft>
                <a:spcPts val="0"/>
              </a:spcAft>
              <a:buClr>
                <a:srgbClr val="3F3F3F"/>
              </a:buClr>
              <a:buSzPts val="1800"/>
              <a:buChar char="•"/>
              <a:defRPr/>
            </a:lvl4pPr>
            <a:lvl5pPr indent="-342900" lvl="4" marL="2286000" algn="l">
              <a:lnSpc>
                <a:spcPct val="90000"/>
              </a:lnSpc>
              <a:spcBef>
                <a:spcPts val="500"/>
              </a:spcBef>
              <a:spcAft>
                <a:spcPts val="0"/>
              </a:spcAft>
              <a:buClr>
                <a:srgbClr val="3F3F3F"/>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52"/>
          <p:cNvSpPr txBox="1"/>
          <p:nvPr>
            <p:ph idx="4" type="body"/>
          </p:nvPr>
        </p:nvSpPr>
        <p:spPr>
          <a:xfrm>
            <a:off x="5021412" y="1512000"/>
            <a:ext cx="2160588" cy="467925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lvl1pPr>
            <a:lvl2pPr indent="-342900" lvl="1" marL="914400" algn="l">
              <a:lnSpc>
                <a:spcPct val="90000"/>
              </a:lnSpc>
              <a:spcBef>
                <a:spcPts val="500"/>
              </a:spcBef>
              <a:spcAft>
                <a:spcPts val="0"/>
              </a:spcAft>
              <a:buClr>
                <a:srgbClr val="3F3F3F"/>
              </a:buClr>
              <a:buSzPts val="1800"/>
              <a:buChar char="•"/>
              <a:defRPr/>
            </a:lvl2pPr>
            <a:lvl3pPr indent="-342900" lvl="2" marL="1371600" algn="l">
              <a:lnSpc>
                <a:spcPct val="90000"/>
              </a:lnSpc>
              <a:spcBef>
                <a:spcPts val="500"/>
              </a:spcBef>
              <a:spcAft>
                <a:spcPts val="0"/>
              </a:spcAft>
              <a:buClr>
                <a:srgbClr val="3F3F3F"/>
              </a:buClr>
              <a:buSzPts val="1800"/>
              <a:buChar char="•"/>
              <a:defRPr/>
            </a:lvl3pPr>
            <a:lvl4pPr indent="-342900" lvl="3" marL="1828800" algn="l">
              <a:lnSpc>
                <a:spcPct val="90000"/>
              </a:lnSpc>
              <a:spcBef>
                <a:spcPts val="500"/>
              </a:spcBef>
              <a:spcAft>
                <a:spcPts val="0"/>
              </a:spcAft>
              <a:buClr>
                <a:srgbClr val="3F3F3F"/>
              </a:buClr>
              <a:buSzPts val="1800"/>
              <a:buChar char="•"/>
              <a:defRPr/>
            </a:lvl4pPr>
            <a:lvl5pPr indent="-342900" lvl="4" marL="2286000" algn="l">
              <a:lnSpc>
                <a:spcPct val="90000"/>
              </a:lnSpc>
              <a:spcBef>
                <a:spcPts val="500"/>
              </a:spcBef>
              <a:spcAft>
                <a:spcPts val="0"/>
              </a:spcAft>
              <a:buClr>
                <a:srgbClr val="3F3F3F"/>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52"/>
          <p:cNvSpPr txBox="1"/>
          <p:nvPr>
            <p:ph idx="5" type="body"/>
          </p:nvPr>
        </p:nvSpPr>
        <p:spPr>
          <a:xfrm>
            <a:off x="7316412" y="1507535"/>
            <a:ext cx="2160588" cy="467925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lvl1pPr>
            <a:lvl2pPr indent="-342900" lvl="1" marL="914400" algn="l">
              <a:lnSpc>
                <a:spcPct val="90000"/>
              </a:lnSpc>
              <a:spcBef>
                <a:spcPts val="500"/>
              </a:spcBef>
              <a:spcAft>
                <a:spcPts val="0"/>
              </a:spcAft>
              <a:buClr>
                <a:srgbClr val="3F3F3F"/>
              </a:buClr>
              <a:buSzPts val="1800"/>
              <a:buChar char="•"/>
              <a:defRPr/>
            </a:lvl2pPr>
            <a:lvl3pPr indent="-342900" lvl="2" marL="1371600" algn="l">
              <a:lnSpc>
                <a:spcPct val="90000"/>
              </a:lnSpc>
              <a:spcBef>
                <a:spcPts val="500"/>
              </a:spcBef>
              <a:spcAft>
                <a:spcPts val="0"/>
              </a:spcAft>
              <a:buClr>
                <a:srgbClr val="3F3F3F"/>
              </a:buClr>
              <a:buSzPts val="1800"/>
              <a:buChar char="•"/>
              <a:defRPr/>
            </a:lvl3pPr>
            <a:lvl4pPr indent="-342900" lvl="3" marL="1828800" algn="l">
              <a:lnSpc>
                <a:spcPct val="90000"/>
              </a:lnSpc>
              <a:spcBef>
                <a:spcPts val="500"/>
              </a:spcBef>
              <a:spcAft>
                <a:spcPts val="0"/>
              </a:spcAft>
              <a:buClr>
                <a:srgbClr val="3F3F3F"/>
              </a:buClr>
              <a:buSzPts val="1800"/>
              <a:buChar char="•"/>
              <a:defRPr/>
            </a:lvl4pPr>
            <a:lvl5pPr indent="-342900" lvl="4" marL="2286000" algn="l">
              <a:lnSpc>
                <a:spcPct val="90000"/>
              </a:lnSpc>
              <a:spcBef>
                <a:spcPts val="500"/>
              </a:spcBef>
              <a:spcAft>
                <a:spcPts val="0"/>
              </a:spcAft>
              <a:buClr>
                <a:srgbClr val="3F3F3F"/>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52"/>
          <p:cNvSpPr txBox="1"/>
          <p:nvPr>
            <p:ph idx="6" type="body"/>
          </p:nvPr>
        </p:nvSpPr>
        <p:spPr>
          <a:xfrm>
            <a:off x="9611412" y="1507535"/>
            <a:ext cx="2160588" cy="4683715"/>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rgbClr val="3F3F3F"/>
              </a:buClr>
              <a:buSzPts val="1800"/>
              <a:buChar char="•"/>
              <a:defRPr/>
            </a:lvl1pPr>
            <a:lvl2pPr indent="-342900" lvl="1" marL="914400" algn="l">
              <a:lnSpc>
                <a:spcPct val="90000"/>
              </a:lnSpc>
              <a:spcBef>
                <a:spcPts val="500"/>
              </a:spcBef>
              <a:spcAft>
                <a:spcPts val="0"/>
              </a:spcAft>
              <a:buClr>
                <a:srgbClr val="3F3F3F"/>
              </a:buClr>
              <a:buSzPts val="1800"/>
              <a:buChar char="•"/>
              <a:defRPr/>
            </a:lvl2pPr>
            <a:lvl3pPr indent="-342900" lvl="2" marL="1371600" algn="l">
              <a:lnSpc>
                <a:spcPct val="90000"/>
              </a:lnSpc>
              <a:spcBef>
                <a:spcPts val="500"/>
              </a:spcBef>
              <a:spcAft>
                <a:spcPts val="0"/>
              </a:spcAft>
              <a:buClr>
                <a:srgbClr val="3F3F3F"/>
              </a:buClr>
              <a:buSzPts val="1800"/>
              <a:buChar char="•"/>
              <a:defRPr/>
            </a:lvl3pPr>
            <a:lvl4pPr indent="-342900" lvl="3" marL="1828800" algn="l">
              <a:lnSpc>
                <a:spcPct val="90000"/>
              </a:lnSpc>
              <a:spcBef>
                <a:spcPts val="500"/>
              </a:spcBef>
              <a:spcAft>
                <a:spcPts val="0"/>
              </a:spcAft>
              <a:buClr>
                <a:srgbClr val="3F3F3F"/>
              </a:buClr>
              <a:buSzPts val="1800"/>
              <a:buChar char="•"/>
              <a:defRPr/>
            </a:lvl4pPr>
            <a:lvl5pPr indent="-342900" lvl="4" marL="2286000" algn="l">
              <a:lnSpc>
                <a:spcPct val="90000"/>
              </a:lnSpc>
              <a:spcBef>
                <a:spcPts val="500"/>
              </a:spcBef>
              <a:spcAft>
                <a:spcPts val="0"/>
              </a:spcAft>
              <a:buClr>
                <a:srgbClr val="3F3F3F"/>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52"/>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52"/>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p:cSld name="Solo titolo">
    <p:spTree>
      <p:nvGrpSpPr>
        <p:cNvPr id="127" name="Shape 127"/>
        <p:cNvGrpSpPr/>
        <p:nvPr/>
      </p:nvGrpSpPr>
      <p:grpSpPr>
        <a:xfrm>
          <a:off x="0" y="0"/>
          <a:ext cx="0" cy="0"/>
          <a:chOff x="0" y="0"/>
          <a:chExt cx="0" cy="0"/>
        </a:xfrm>
      </p:grpSpPr>
      <p:sp>
        <p:nvSpPr>
          <p:cNvPr id="128" name="Google Shape;128;p53"/>
          <p:cNvSpPr txBox="1"/>
          <p:nvPr>
            <p:ph type="title"/>
          </p:nvPr>
        </p:nvSpPr>
        <p:spPr>
          <a:xfrm>
            <a:off x="432000" y="432000"/>
            <a:ext cx="11328000" cy="43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3F3F3F"/>
              </a:buClr>
              <a:buSzPts val="3200"/>
              <a:buFont typeface="Corbel"/>
              <a:buNone/>
              <a:defRPr>
                <a:solidFill>
                  <a:srgbClr val="3F3F3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53"/>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000"/>
              </a:spcBef>
              <a:spcAft>
                <a:spcPts val="0"/>
              </a:spcAft>
              <a:buClr>
                <a:srgbClr val="3F3F3F"/>
              </a:buClr>
              <a:buSzPts val="1800"/>
              <a:buNone/>
              <a:defRPr/>
            </a:lvl1pPr>
            <a:lvl2pPr indent="-228600" lvl="1" marL="914400" algn="l">
              <a:lnSpc>
                <a:spcPct val="90000"/>
              </a:lnSpc>
              <a:spcBef>
                <a:spcPts val="500"/>
              </a:spcBef>
              <a:spcAft>
                <a:spcPts val="0"/>
              </a:spcAft>
              <a:buClr>
                <a:srgbClr val="3F3F3F"/>
              </a:buClr>
              <a:buSzPts val="1600"/>
              <a:buNone/>
              <a:defRPr/>
            </a:lvl2pPr>
            <a:lvl3pPr indent="-228600" lvl="2" marL="1371600" algn="l">
              <a:lnSpc>
                <a:spcPct val="90000"/>
              </a:lnSpc>
              <a:spcBef>
                <a:spcPts val="500"/>
              </a:spcBef>
              <a:spcAft>
                <a:spcPts val="0"/>
              </a:spcAft>
              <a:buClr>
                <a:srgbClr val="3F3F3F"/>
              </a:buClr>
              <a:buSzPts val="1400"/>
              <a:buNone/>
              <a:defRPr/>
            </a:lvl3pPr>
            <a:lvl4pPr indent="-228600" lvl="3" marL="1828800" algn="l">
              <a:lnSpc>
                <a:spcPct val="90000"/>
              </a:lnSpc>
              <a:spcBef>
                <a:spcPts val="500"/>
              </a:spcBef>
              <a:spcAft>
                <a:spcPts val="0"/>
              </a:spcAft>
              <a:buClr>
                <a:srgbClr val="3F3F3F"/>
              </a:buClr>
              <a:buSzPts val="1400"/>
              <a:buNone/>
              <a:defRPr/>
            </a:lvl4pPr>
            <a:lvl5pPr indent="-228600" lvl="4" marL="2286000" algn="l">
              <a:lnSpc>
                <a:spcPct val="90000"/>
              </a:lnSpc>
              <a:spcBef>
                <a:spcPts val="500"/>
              </a:spcBef>
              <a:spcAft>
                <a:spcPts val="0"/>
              </a:spcAft>
              <a:buClr>
                <a:srgbClr val="3F3F3F"/>
              </a:buClr>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53"/>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3"/>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9"/>
          <p:cNvSpPr/>
          <p:nvPr/>
        </p:nvSpPr>
        <p:spPr>
          <a:xfrm>
            <a:off x="9780101" y="6371351"/>
            <a:ext cx="1979897" cy="43199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1" name="Google Shape;11;p39"/>
          <p:cNvSpPr/>
          <p:nvPr/>
        </p:nvSpPr>
        <p:spPr>
          <a:xfrm>
            <a:off x="9780103" y="6803351"/>
            <a:ext cx="1979897" cy="54650"/>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2" name="Google Shape;12;p39"/>
          <p:cNvSpPr/>
          <p:nvPr/>
        </p:nvSpPr>
        <p:spPr>
          <a:xfrm>
            <a:off x="0" y="6371351"/>
            <a:ext cx="9780102" cy="432000"/>
          </a:xfrm>
          <a:custGeom>
            <a:rect b="b" l="l" r="r" t="t"/>
            <a:pathLst>
              <a:path extrusionOk="0" h="432000" w="9780102">
                <a:moveTo>
                  <a:pt x="0" y="0"/>
                </a:moveTo>
                <a:lnTo>
                  <a:pt x="9780102" y="0"/>
                </a:lnTo>
                <a:lnTo>
                  <a:pt x="9780102" y="432000"/>
                </a:lnTo>
                <a:lnTo>
                  <a:pt x="0" y="432000"/>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3" name="Google Shape;13;p39"/>
          <p:cNvSpPr txBox="1"/>
          <p:nvPr>
            <p:ph type="title"/>
          </p:nvPr>
        </p:nvSpPr>
        <p:spPr>
          <a:xfrm>
            <a:off x="432000" y="432000"/>
            <a:ext cx="11328000" cy="4320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rgbClr val="3F3F3F"/>
              </a:buClr>
              <a:buSzPts val="3200"/>
              <a:buFont typeface="Corbel"/>
              <a:buNone/>
              <a:defRPr b="1" i="0" sz="3200" u="none" cap="none" strike="noStrike">
                <a:solidFill>
                  <a:srgbClr val="3F3F3F"/>
                </a:solidFill>
                <a:latin typeface="Corbel"/>
                <a:ea typeface="Corbel"/>
                <a:cs typeface="Corbel"/>
                <a:sym typeface="Corbe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39"/>
          <p:cNvSpPr txBox="1"/>
          <p:nvPr>
            <p:ph idx="1" type="body"/>
          </p:nvPr>
        </p:nvSpPr>
        <p:spPr>
          <a:xfrm>
            <a:off x="432000" y="1512000"/>
            <a:ext cx="11328000" cy="4679250"/>
          </a:xfrm>
          <a:prstGeom prst="rect">
            <a:avLst/>
          </a:prstGeom>
          <a:noFill/>
          <a:ln>
            <a:noFill/>
          </a:ln>
        </p:spPr>
        <p:txBody>
          <a:bodyPr anchorCtr="0" anchor="t" bIns="0" lIns="0" spcFirstLastPara="1" rIns="0" wrap="square" tIns="0">
            <a:noAutofit/>
          </a:bodyPr>
          <a:lstStyle>
            <a:lvl1pPr indent="-342900" lvl="0" marL="457200" marR="0" rtl="0" algn="l">
              <a:lnSpc>
                <a:spcPct val="90000"/>
              </a:lnSpc>
              <a:spcBef>
                <a:spcPts val="1000"/>
              </a:spcBef>
              <a:spcAft>
                <a:spcPts val="0"/>
              </a:spcAft>
              <a:buClr>
                <a:srgbClr val="3F3F3F"/>
              </a:buClr>
              <a:buSzPts val="1800"/>
              <a:buFont typeface="Arial"/>
              <a:buChar char="•"/>
              <a:defRPr b="0" i="0" sz="1800" u="none" cap="none" strike="noStrike">
                <a:solidFill>
                  <a:srgbClr val="3F3F3F"/>
                </a:solidFill>
                <a:latin typeface="Candara"/>
                <a:ea typeface="Candara"/>
                <a:cs typeface="Candara"/>
                <a:sym typeface="Candara"/>
              </a:defRPr>
            </a:lvl1pPr>
            <a:lvl2pPr indent="-330200" lvl="1" marL="914400" marR="0" rtl="0" algn="l">
              <a:lnSpc>
                <a:spcPct val="90000"/>
              </a:lnSpc>
              <a:spcBef>
                <a:spcPts val="500"/>
              </a:spcBef>
              <a:spcAft>
                <a:spcPts val="0"/>
              </a:spcAft>
              <a:buClr>
                <a:srgbClr val="3F3F3F"/>
              </a:buClr>
              <a:buSzPts val="1600"/>
              <a:buFont typeface="Arial"/>
              <a:buChar char="•"/>
              <a:defRPr b="0" i="0" sz="1600" u="none" cap="none" strike="noStrike">
                <a:solidFill>
                  <a:srgbClr val="3F3F3F"/>
                </a:solidFill>
                <a:latin typeface="Candara"/>
                <a:ea typeface="Candara"/>
                <a:cs typeface="Candara"/>
                <a:sym typeface="Candara"/>
              </a:defRPr>
            </a:lvl2pPr>
            <a:lvl3pPr indent="-317500" lvl="2" marL="13716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ndara"/>
                <a:ea typeface="Candara"/>
                <a:cs typeface="Candara"/>
                <a:sym typeface="Candara"/>
              </a:defRPr>
            </a:lvl3pPr>
            <a:lvl4pPr indent="-317500" lvl="3" marL="18288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ndara"/>
                <a:ea typeface="Candara"/>
                <a:cs typeface="Candara"/>
                <a:sym typeface="Candara"/>
              </a:defRPr>
            </a:lvl4pPr>
            <a:lvl5pPr indent="-317500" lvl="4" marL="2286000" marR="0" rtl="0" algn="l">
              <a:lnSpc>
                <a:spcPct val="90000"/>
              </a:lnSpc>
              <a:spcBef>
                <a:spcPts val="500"/>
              </a:spcBef>
              <a:spcAft>
                <a:spcPts val="0"/>
              </a:spcAft>
              <a:buClr>
                <a:srgbClr val="3F3F3F"/>
              </a:buClr>
              <a:buSzPts val="1400"/>
              <a:buFont typeface="Arial"/>
              <a:buChar char="•"/>
              <a:defRPr b="0" i="0" sz="1400" u="none" cap="none" strike="noStrike">
                <a:solidFill>
                  <a:srgbClr val="3F3F3F"/>
                </a:solidFill>
                <a:latin typeface="Candara"/>
                <a:ea typeface="Candara"/>
                <a:cs typeface="Candara"/>
                <a:sym typeface="Candar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ndara"/>
                <a:ea typeface="Candara"/>
                <a:cs typeface="Candara"/>
                <a:sym typeface="Candar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ndara"/>
                <a:ea typeface="Candara"/>
                <a:cs typeface="Candara"/>
                <a:sym typeface="Candar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ndara"/>
                <a:ea typeface="Candara"/>
                <a:cs typeface="Candara"/>
                <a:sym typeface="Candar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ndara"/>
                <a:ea typeface="Candara"/>
                <a:cs typeface="Candara"/>
                <a:sym typeface="Candara"/>
              </a:defRPr>
            </a:lvl9pPr>
          </a:lstStyle>
          <a:p/>
        </p:txBody>
      </p:sp>
      <p:sp>
        <p:nvSpPr>
          <p:cNvPr id="15" name="Google Shape;15;p39"/>
          <p:cNvSpPr txBox="1"/>
          <p:nvPr>
            <p:ph idx="11" type="ftr"/>
          </p:nvPr>
        </p:nvSpPr>
        <p:spPr>
          <a:xfrm>
            <a:off x="432000" y="6439820"/>
            <a:ext cx="5664000" cy="295062"/>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200" u="none" cap="none" strike="noStrike">
                <a:solidFill>
                  <a:srgbClr val="3F3F3F"/>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16" name="Google Shape;16;p39"/>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lvl1pPr indent="0" lvl="0" marL="0" marR="0" rtl="0" algn="ctr">
              <a:spcBef>
                <a:spcPts val="0"/>
              </a:spcBef>
              <a:buNone/>
              <a:defRPr b="0" i="0" sz="1200" u="none" cap="none" strike="noStrike">
                <a:solidFill>
                  <a:schemeClr val="lt1"/>
                </a:solidFill>
                <a:latin typeface="Corbel"/>
                <a:ea typeface="Corbel"/>
                <a:cs typeface="Corbel"/>
                <a:sym typeface="Corbel"/>
              </a:defRPr>
            </a:lvl1pPr>
            <a:lvl2pPr indent="0" lvl="1" marL="0" marR="0" rtl="0" algn="ctr">
              <a:spcBef>
                <a:spcPts val="0"/>
              </a:spcBef>
              <a:buNone/>
              <a:defRPr b="0" i="0" sz="1200" u="none" cap="none" strike="noStrike">
                <a:solidFill>
                  <a:schemeClr val="lt1"/>
                </a:solidFill>
                <a:latin typeface="Corbel"/>
                <a:ea typeface="Corbel"/>
                <a:cs typeface="Corbel"/>
                <a:sym typeface="Corbel"/>
              </a:defRPr>
            </a:lvl2pPr>
            <a:lvl3pPr indent="0" lvl="2" marL="0" marR="0" rtl="0" algn="ctr">
              <a:spcBef>
                <a:spcPts val="0"/>
              </a:spcBef>
              <a:buNone/>
              <a:defRPr b="0" i="0" sz="1200" u="none" cap="none" strike="noStrike">
                <a:solidFill>
                  <a:schemeClr val="lt1"/>
                </a:solidFill>
                <a:latin typeface="Corbel"/>
                <a:ea typeface="Corbel"/>
                <a:cs typeface="Corbel"/>
                <a:sym typeface="Corbel"/>
              </a:defRPr>
            </a:lvl3pPr>
            <a:lvl4pPr indent="0" lvl="3" marL="0" marR="0" rtl="0" algn="ctr">
              <a:spcBef>
                <a:spcPts val="0"/>
              </a:spcBef>
              <a:buNone/>
              <a:defRPr b="0" i="0" sz="1200" u="none" cap="none" strike="noStrike">
                <a:solidFill>
                  <a:schemeClr val="lt1"/>
                </a:solidFill>
                <a:latin typeface="Corbel"/>
                <a:ea typeface="Corbel"/>
                <a:cs typeface="Corbel"/>
                <a:sym typeface="Corbel"/>
              </a:defRPr>
            </a:lvl4pPr>
            <a:lvl5pPr indent="0" lvl="4" marL="0" marR="0" rtl="0" algn="ctr">
              <a:spcBef>
                <a:spcPts val="0"/>
              </a:spcBef>
              <a:buNone/>
              <a:defRPr b="0" i="0" sz="1200" u="none" cap="none" strike="noStrike">
                <a:solidFill>
                  <a:schemeClr val="lt1"/>
                </a:solidFill>
                <a:latin typeface="Corbel"/>
                <a:ea typeface="Corbel"/>
                <a:cs typeface="Corbel"/>
                <a:sym typeface="Corbel"/>
              </a:defRPr>
            </a:lvl5pPr>
            <a:lvl6pPr indent="0" lvl="5" marL="0" marR="0" rtl="0" algn="ctr">
              <a:spcBef>
                <a:spcPts val="0"/>
              </a:spcBef>
              <a:buNone/>
              <a:defRPr b="0" i="0" sz="1200" u="none" cap="none" strike="noStrike">
                <a:solidFill>
                  <a:schemeClr val="lt1"/>
                </a:solidFill>
                <a:latin typeface="Corbel"/>
                <a:ea typeface="Corbel"/>
                <a:cs typeface="Corbel"/>
                <a:sym typeface="Corbel"/>
              </a:defRPr>
            </a:lvl6pPr>
            <a:lvl7pPr indent="0" lvl="6" marL="0" marR="0" rtl="0" algn="ctr">
              <a:spcBef>
                <a:spcPts val="0"/>
              </a:spcBef>
              <a:buNone/>
              <a:defRPr b="0" i="0" sz="1200" u="none" cap="none" strike="noStrike">
                <a:solidFill>
                  <a:schemeClr val="lt1"/>
                </a:solidFill>
                <a:latin typeface="Corbel"/>
                <a:ea typeface="Corbel"/>
                <a:cs typeface="Corbel"/>
                <a:sym typeface="Corbel"/>
              </a:defRPr>
            </a:lvl7pPr>
            <a:lvl8pPr indent="0" lvl="7" marL="0" marR="0" rtl="0" algn="ctr">
              <a:spcBef>
                <a:spcPts val="0"/>
              </a:spcBef>
              <a:buNone/>
              <a:defRPr b="0" i="0" sz="1200" u="none" cap="none" strike="noStrike">
                <a:solidFill>
                  <a:schemeClr val="lt1"/>
                </a:solidFill>
                <a:latin typeface="Corbel"/>
                <a:ea typeface="Corbel"/>
                <a:cs typeface="Corbel"/>
                <a:sym typeface="Corbel"/>
              </a:defRPr>
            </a:lvl8pPr>
            <a:lvl9pPr indent="0" lvl="8" marL="0" marR="0" rtl="0" algn="ctr">
              <a:spcBef>
                <a:spcPts val="0"/>
              </a:spcBef>
              <a:buNone/>
              <a:defRPr b="0" i="0" sz="1200" u="none" cap="none" strike="noStrike">
                <a:solidFill>
                  <a:schemeClr val="lt1"/>
                </a:solidFill>
                <a:latin typeface="Corbel"/>
                <a:ea typeface="Corbel"/>
                <a:cs typeface="Corbel"/>
                <a:sym typeface="Corbel"/>
              </a:defRPr>
            </a:lvl9pPr>
          </a:lstStyle>
          <a:p>
            <a:pPr indent="0" lvl="0" marL="0" rtl="0" algn="ctr">
              <a:spcBef>
                <a:spcPts val="0"/>
              </a:spcBef>
              <a:spcAft>
                <a:spcPts val="0"/>
              </a:spcAft>
              <a:buNone/>
            </a:pPr>
            <a:fld id="{00000000-1234-1234-1234-123412341234}" type="slidenum">
              <a:rPr lang="it-IT"/>
              <a:t>‹#›</a:t>
            </a:fld>
            <a:endParaRPr/>
          </a:p>
        </p:txBody>
      </p:sp>
      <p:sp>
        <p:nvSpPr>
          <p:cNvPr id="17" name="Google Shape;17;p39"/>
          <p:cNvSpPr txBox="1"/>
          <p:nvPr/>
        </p:nvSpPr>
        <p:spPr>
          <a:xfrm>
            <a:off x="10243100" y="6430153"/>
            <a:ext cx="1053900" cy="365535"/>
          </a:xfrm>
          <a:prstGeom prst="rect">
            <a:avLst/>
          </a:prstGeom>
          <a:noFill/>
          <a:ln>
            <a:noFill/>
          </a:ln>
        </p:spPr>
        <p:txBody>
          <a:bodyPr anchorCtr="0" anchor="ctr" bIns="0" lIns="91425" spcFirstLastPara="1" rIns="91425" wrap="square" tIns="108000">
            <a:spAutoFit/>
          </a:bodyPr>
          <a:lstStyle/>
          <a:p>
            <a:pPr indent="0" lvl="0" marL="0" marR="0" rtl="0" algn="r">
              <a:lnSpc>
                <a:spcPct val="40000"/>
              </a:lnSpc>
              <a:spcBef>
                <a:spcPts val="0"/>
              </a:spcBef>
              <a:spcAft>
                <a:spcPts val="0"/>
              </a:spcAft>
              <a:buNone/>
            </a:pPr>
            <a:r>
              <a:rPr b="1" i="0" lang="it-IT" sz="2500" u="none" cap="none" strike="noStrike">
                <a:solidFill>
                  <a:schemeClr val="accent1"/>
                </a:solidFill>
                <a:latin typeface="Corbel"/>
                <a:ea typeface="Corbel"/>
                <a:cs typeface="Corbel"/>
                <a:sym typeface="Corbel"/>
              </a:rPr>
              <a:t>TREY</a:t>
            </a:r>
            <a:r>
              <a:rPr b="1" i="0" lang="it-IT" sz="1600" u="none" cap="none" strike="noStrike">
                <a:solidFill>
                  <a:schemeClr val="accent1"/>
                </a:solidFill>
                <a:latin typeface="Corbel"/>
                <a:ea typeface="Corbel"/>
                <a:cs typeface="Corbel"/>
                <a:sym typeface="Corbel"/>
              </a:rPr>
              <a:t> </a:t>
            </a:r>
            <a:br>
              <a:rPr b="1" i="0" lang="it-IT" sz="1600" u="none" cap="none" strike="noStrike">
                <a:solidFill>
                  <a:schemeClr val="accent1"/>
                </a:solidFill>
                <a:latin typeface="Corbel"/>
                <a:ea typeface="Corbel"/>
                <a:cs typeface="Corbel"/>
                <a:sym typeface="Corbel"/>
              </a:rPr>
            </a:br>
            <a:r>
              <a:rPr b="0" i="0" lang="it-IT" sz="1200" u="none" cap="none" strike="noStrike">
                <a:solidFill>
                  <a:srgbClr val="3F3F3F"/>
                </a:solidFill>
                <a:latin typeface="Corbel"/>
                <a:ea typeface="Corbel"/>
                <a:cs typeface="Corbel"/>
                <a:sym typeface="Corbel"/>
              </a:rPr>
              <a:t>research</a:t>
            </a:r>
            <a:endParaRPr b="0" i="0" sz="1200" u="none" cap="none" strike="noStrike">
              <a:solidFill>
                <a:srgbClr val="3F3F3F"/>
              </a:solidFill>
              <a:latin typeface="Corbel"/>
              <a:ea typeface="Corbel"/>
              <a:cs typeface="Corbel"/>
              <a:sym typeface="Corbel"/>
            </a:endParaRPr>
          </a:p>
        </p:txBody>
      </p:sp>
      <p:sp>
        <p:nvSpPr>
          <p:cNvPr id="18" name="Google Shape;18;p39"/>
          <p:cNvSpPr/>
          <p:nvPr/>
        </p:nvSpPr>
        <p:spPr>
          <a:xfrm>
            <a:off x="0" y="6803351"/>
            <a:ext cx="9780104" cy="5465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9" name="Google Shape;19;p39"/>
          <p:cNvSpPr/>
          <p:nvPr/>
        </p:nvSpPr>
        <p:spPr>
          <a:xfrm>
            <a:off x="11760000" y="6803351"/>
            <a:ext cx="432000" cy="546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cxnSp>
        <p:nvCxnSpPr>
          <p:cNvPr id="20" name="Google Shape;20;p39"/>
          <p:cNvCxnSpPr/>
          <p:nvPr/>
        </p:nvCxnSpPr>
        <p:spPr>
          <a:xfrm rot="10800000">
            <a:off x="1" y="6371351"/>
            <a:ext cx="12191999" cy="0"/>
          </a:xfrm>
          <a:prstGeom prst="straightConnector1">
            <a:avLst/>
          </a:prstGeom>
          <a:noFill/>
          <a:ln cap="flat" cmpd="sng" w="9525">
            <a:solidFill>
              <a:srgbClr val="F2F2F2"/>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8.jpg"/><Relationship Id="rId4" Type="http://schemas.openxmlformats.org/officeDocument/2006/relationships/hyperlink" Target="https://bit.ly/3LpnhvV"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hyperlink" Target="https://www.youtube.com/watch?v=iFwEEAxsWCQ"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9.jp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33.jp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3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18.jpg"/><Relationship Id="rId4" Type="http://schemas.openxmlformats.org/officeDocument/2006/relationships/hyperlink" Target="https://www.youtube.com/watch?v=GnllWwKejE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hyperlink" Target="https://www.youtube.com/watch?v=MFmJQJQFY1s" TargetMode="External"/><Relationship Id="rId4" Type="http://schemas.openxmlformats.org/officeDocument/2006/relationships/image" Target="../media/image3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id="137" name="Google Shape;137;p1"/>
          <p:cNvPicPr preferRelativeResize="0"/>
          <p:nvPr/>
        </p:nvPicPr>
        <p:blipFill rotWithShape="1">
          <a:blip r:embed="rId3">
            <a:alphaModFix/>
          </a:blip>
          <a:srcRect b="0" l="0" r="0" t="0"/>
          <a:stretch/>
        </p:blipFill>
        <p:spPr>
          <a:xfrm>
            <a:off x="-531779" y="0"/>
            <a:ext cx="12723779" cy="7157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Mani che si uniscono in cerchio" id="143" name="Google Shape;143;p2"/>
          <p:cNvPicPr preferRelativeResize="0"/>
          <p:nvPr>
            <p:ph idx="2" type="pic"/>
          </p:nvPr>
        </p:nvPicPr>
        <p:blipFill rotWithShape="1">
          <a:blip r:embed="rId3">
            <a:alphaModFix/>
          </a:blip>
          <a:srcRect b="0" l="0" r="0" t="0"/>
          <a:stretch/>
        </p:blipFill>
        <p:spPr>
          <a:xfrm>
            <a:off x="0" y="0"/>
            <a:ext cx="9780588" cy="6804025"/>
          </a:xfrm>
          <a:prstGeom prst="rect">
            <a:avLst/>
          </a:prstGeom>
          <a:solidFill>
            <a:srgbClr val="D8D8D8"/>
          </a:solidFill>
          <a:ln>
            <a:noFill/>
          </a:ln>
        </p:spPr>
      </p:pic>
      <p:sp>
        <p:nvSpPr>
          <p:cNvPr id="144" name="Google Shape;144;p2"/>
          <p:cNvSpPr txBox="1"/>
          <p:nvPr>
            <p:ph type="ctrTitle"/>
          </p:nvPr>
        </p:nvSpPr>
        <p:spPr>
          <a:xfrm>
            <a:off x="3200400" y="2811053"/>
            <a:ext cx="8991600" cy="1261295"/>
          </a:xfrm>
          <a:prstGeom prst="rect">
            <a:avLst/>
          </a:prstGeom>
          <a:solidFill>
            <a:schemeClr val="lt1"/>
          </a:solidFill>
          <a:ln>
            <a:noFill/>
          </a:ln>
        </p:spPr>
        <p:txBody>
          <a:bodyPr anchorCtr="0" anchor="t" bIns="180000" lIns="180000" spcFirstLastPara="1" rIns="252000" wrap="square" tIns="180000">
            <a:noAutofit/>
          </a:bodyPr>
          <a:lstStyle/>
          <a:p>
            <a:pPr indent="0" lvl="0" marL="0" rtl="0" algn="r">
              <a:lnSpc>
                <a:spcPct val="90000"/>
              </a:lnSpc>
              <a:spcBef>
                <a:spcPts val="0"/>
              </a:spcBef>
              <a:spcAft>
                <a:spcPts val="0"/>
              </a:spcAft>
              <a:buClr>
                <a:srgbClr val="3F3F3F"/>
              </a:buClr>
              <a:buSzPts val="6000"/>
              <a:buFont typeface="Corbel"/>
              <a:buNone/>
            </a:pPr>
            <a:r>
              <a:rPr lang="it-IT" sz="6000"/>
              <a:t>Pari Opportunità</a:t>
            </a:r>
            <a:endParaRPr/>
          </a:p>
        </p:txBody>
      </p:sp>
      <p:sp>
        <p:nvSpPr>
          <p:cNvPr id="145" name="Google Shape;145;p2"/>
          <p:cNvSpPr txBox="1"/>
          <p:nvPr>
            <p:ph idx="1" type="subTitle"/>
          </p:nvPr>
        </p:nvSpPr>
        <p:spPr>
          <a:xfrm>
            <a:off x="3200400" y="4061039"/>
            <a:ext cx="6580188" cy="580921"/>
          </a:xfrm>
          <a:prstGeom prst="rect">
            <a:avLst/>
          </a:prstGeom>
          <a:solidFill>
            <a:schemeClr val="dk1">
              <a:alpha val="80000"/>
            </a:schemeClr>
          </a:solidFill>
          <a:ln>
            <a:noFill/>
          </a:ln>
        </p:spPr>
        <p:txBody>
          <a:bodyPr anchorCtr="0" anchor="t" bIns="180000" lIns="180000" spcFirstLastPara="1" rIns="180000" wrap="square" tIns="180000">
            <a:noAutofit/>
          </a:bodyPr>
          <a:lstStyle/>
          <a:p>
            <a:pPr indent="0" lvl="0" marL="0" rtl="0" algn="r">
              <a:lnSpc>
                <a:spcPct val="90000"/>
              </a:lnSpc>
              <a:spcBef>
                <a:spcPts val="0"/>
              </a:spcBef>
              <a:spcAft>
                <a:spcPts val="0"/>
              </a:spcAft>
              <a:buClr>
                <a:schemeClr val="lt1"/>
              </a:buClr>
              <a:buSzPts val="1800"/>
              <a:buNone/>
            </a:pPr>
            <a:r>
              <a:rPr lang="it-IT"/>
              <a:t>Parità fra uomini e donne e non discriminazione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
          <p:cNvSpPr txBox="1"/>
          <p:nvPr>
            <p:ph idx="3" type="body"/>
          </p:nvPr>
        </p:nvSpPr>
        <p:spPr>
          <a:xfrm>
            <a:off x="432000" y="2668686"/>
            <a:ext cx="5472000" cy="2999426"/>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lang="it-IT" sz="1800">
                <a:latin typeface="Arial"/>
                <a:ea typeface="Arial"/>
                <a:cs typeface="Arial"/>
                <a:sym typeface="Arial"/>
              </a:rPr>
              <a:t>Quando si parla di </a:t>
            </a:r>
            <a:r>
              <a:rPr b="1" lang="it-IT" sz="1800">
                <a:latin typeface="Arial"/>
                <a:ea typeface="Arial"/>
                <a:cs typeface="Arial"/>
                <a:sym typeface="Arial"/>
              </a:rPr>
              <a:t>pari opportunità</a:t>
            </a:r>
            <a:r>
              <a:rPr lang="it-IT" sz="1800">
                <a:latin typeface="Arial"/>
                <a:ea typeface="Arial"/>
                <a:cs typeface="Arial"/>
                <a:sym typeface="Arial"/>
              </a:rPr>
              <a:t>, ci si riferisce al principio secondo cui ogni persona, indipendentemente da fattori come il </a:t>
            </a:r>
            <a:r>
              <a:rPr b="1" lang="it-IT" sz="1800">
                <a:latin typeface="Arial"/>
                <a:ea typeface="Arial"/>
                <a:cs typeface="Arial"/>
                <a:sym typeface="Arial"/>
              </a:rPr>
              <a:t>genere</a:t>
            </a:r>
            <a:r>
              <a:rPr lang="it-IT" sz="1800">
                <a:latin typeface="Arial"/>
                <a:ea typeface="Arial"/>
                <a:cs typeface="Arial"/>
                <a:sym typeface="Arial"/>
              </a:rPr>
              <a:t>, l'</a:t>
            </a:r>
            <a:r>
              <a:rPr b="1" lang="it-IT" sz="1800">
                <a:latin typeface="Arial"/>
                <a:ea typeface="Arial"/>
                <a:cs typeface="Arial"/>
                <a:sym typeface="Arial"/>
              </a:rPr>
              <a:t>etnia</a:t>
            </a:r>
            <a:r>
              <a:rPr lang="it-IT" sz="1800">
                <a:latin typeface="Arial"/>
                <a:ea typeface="Arial"/>
                <a:cs typeface="Arial"/>
                <a:sym typeface="Arial"/>
              </a:rPr>
              <a:t>, la </a:t>
            </a:r>
            <a:r>
              <a:rPr b="1" lang="it-IT" sz="1800">
                <a:latin typeface="Arial"/>
                <a:ea typeface="Arial"/>
                <a:cs typeface="Arial"/>
                <a:sym typeface="Arial"/>
              </a:rPr>
              <a:t>religione</a:t>
            </a:r>
            <a:r>
              <a:rPr lang="it-IT" sz="1800">
                <a:latin typeface="Arial"/>
                <a:ea typeface="Arial"/>
                <a:cs typeface="Arial"/>
                <a:sym typeface="Arial"/>
              </a:rPr>
              <a:t>, l'</a:t>
            </a:r>
            <a:r>
              <a:rPr b="1" lang="it-IT" sz="1800">
                <a:latin typeface="Arial"/>
                <a:ea typeface="Arial"/>
                <a:cs typeface="Arial"/>
                <a:sym typeface="Arial"/>
              </a:rPr>
              <a:t>orientamento sessuale</a:t>
            </a:r>
            <a:r>
              <a:rPr lang="it-IT" sz="1800">
                <a:latin typeface="Arial"/>
                <a:ea typeface="Arial"/>
                <a:cs typeface="Arial"/>
                <a:sym typeface="Arial"/>
              </a:rPr>
              <a:t>, la </a:t>
            </a:r>
            <a:r>
              <a:rPr b="1" lang="it-IT" sz="1800">
                <a:latin typeface="Arial"/>
                <a:ea typeface="Arial"/>
                <a:cs typeface="Arial"/>
                <a:sym typeface="Arial"/>
              </a:rPr>
              <a:t>nazionalità</a:t>
            </a:r>
            <a:r>
              <a:rPr lang="it-IT" sz="1800">
                <a:latin typeface="Arial"/>
                <a:ea typeface="Arial"/>
                <a:cs typeface="Arial"/>
                <a:sym typeface="Arial"/>
              </a:rPr>
              <a:t>, la </a:t>
            </a:r>
            <a:r>
              <a:rPr b="1" lang="it-IT" sz="1800">
                <a:latin typeface="Arial"/>
                <a:ea typeface="Arial"/>
                <a:cs typeface="Arial"/>
                <a:sym typeface="Arial"/>
              </a:rPr>
              <a:t>disabilità</a:t>
            </a:r>
            <a:r>
              <a:rPr lang="it-IT" sz="1800">
                <a:latin typeface="Arial"/>
                <a:ea typeface="Arial"/>
                <a:cs typeface="Arial"/>
                <a:sym typeface="Arial"/>
              </a:rPr>
              <a:t> o qualsiasi altra caratteristica, dovrebbe avere </a:t>
            </a:r>
            <a:r>
              <a:rPr b="1" lang="it-IT" sz="1800">
                <a:latin typeface="Arial"/>
                <a:ea typeface="Arial"/>
                <a:cs typeface="Arial"/>
                <a:sym typeface="Arial"/>
              </a:rPr>
              <a:t>le stesse possibilità</a:t>
            </a:r>
            <a:r>
              <a:rPr lang="it-IT" sz="1800">
                <a:latin typeface="Arial"/>
                <a:ea typeface="Arial"/>
                <a:cs typeface="Arial"/>
                <a:sym typeface="Arial"/>
              </a:rPr>
              <a:t> di </a:t>
            </a:r>
            <a:r>
              <a:rPr b="1" lang="it-IT" sz="1800">
                <a:latin typeface="Arial"/>
                <a:ea typeface="Arial"/>
                <a:cs typeface="Arial"/>
                <a:sym typeface="Arial"/>
              </a:rPr>
              <a:t>accedere</a:t>
            </a:r>
            <a:r>
              <a:rPr lang="it-IT" sz="1800">
                <a:latin typeface="Arial"/>
                <a:ea typeface="Arial"/>
                <a:cs typeface="Arial"/>
                <a:sym typeface="Arial"/>
              </a:rPr>
              <a:t> a </a:t>
            </a:r>
            <a:r>
              <a:rPr b="1" lang="it-IT" sz="1800">
                <a:latin typeface="Arial"/>
                <a:ea typeface="Arial"/>
                <a:cs typeface="Arial"/>
                <a:sym typeface="Arial"/>
              </a:rPr>
              <a:t>opportunità</a:t>
            </a:r>
            <a:r>
              <a:rPr lang="it-IT" sz="1800">
                <a:latin typeface="Arial"/>
                <a:ea typeface="Arial"/>
                <a:cs typeface="Arial"/>
                <a:sym typeface="Arial"/>
              </a:rPr>
              <a:t> e </a:t>
            </a:r>
            <a:r>
              <a:rPr b="1" lang="it-IT" sz="1800">
                <a:latin typeface="Arial"/>
                <a:ea typeface="Arial"/>
                <a:cs typeface="Arial"/>
                <a:sym typeface="Arial"/>
              </a:rPr>
              <a:t>diritti</a:t>
            </a:r>
            <a:r>
              <a:rPr lang="it-IT" sz="1800">
                <a:latin typeface="Arial"/>
                <a:ea typeface="Arial"/>
                <a:cs typeface="Arial"/>
                <a:sym typeface="Arial"/>
              </a:rPr>
              <a:t> in vari ambiti della vita.</a:t>
            </a:r>
            <a:endParaRPr/>
          </a:p>
        </p:txBody>
      </p:sp>
      <p:pic>
        <p:nvPicPr>
          <p:cNvPr descr="Mani che toccano un cellulare" id="152" name="Google Shape;152;p3"/>
          <p:cNvPicPr preferRelativeResize="0"/>
          <p:nvPr>
            <p:ph idx="2" type="pic"/>
          </p:nvPr>
        </p:nvPicPr>
        <p:blipFill rotWithShape="1">
          <a:blip r:embed="rId3">
            <a:alphaModFix/>
          </a:blip>
          <a:srcRect b="0" l="0" r="0" t="0"/>
          <a:stretch/>
        </p:blipFill>
        <p:spPr>
          <a:xfrm>
            <a:off x="6096000" y="1"/>
            <a:ext cx="6467191" cy="6858000"/>
          </a:xfrm>
          <a:prstGeom prst="rect">
            <a:avLst/>
          </a:prstGeom>
          <a:solidFill>
            <a:srgbClr val="F2F2F2"/>
          </a:solidFill>
          <a:ln>
            <a:noFill/>
          </a:ln>
        </p:spPr>
      </p:pic>
      <p:sp>
        <p:nvSpPr>
          <p:cNvPr descr="Blocco in evidenza" id="153" name="Google Shape;153;p3"/>
          <p:cNvSpPr/>
          <p:nvPr/>
        </p:nvSpPr>
        <p:spPr>
          <a:xfrm>
            <a:off x="9348588" y="3244453"/>
            <a:ext cx="2411412"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54" name="Google Shape;154;p3"/>
          <p:cNvSpPr txBox="1"/>
          <p:nvPr>
            <p:ph type="title"/>
          </p:nvPr>
        </p:nvSpPr>
        <p:spPr>
          <a:xfrm>
            <a:off x="7111800" y="3358196"/>
            <a:ext cx="4648200" cy="1429704"/>
          </a:xfrm>
          <a:prstGeom prst="rect">
            <a:avLst/>
          </a:prstGeom>
          <a:solidFill>
            <a:schemeClr val="lt1"/>
          </a:solidFill>
          <a:ln>
            <a:noFill/>
          </a:ln>
        </p:spPr>
        <p:txBody>
          <a:bodyPr anchorCtr="0" anchor="ctr" bIns="36000" lIns="180000" spcFirstLastPara="1" rIns="180000" wrap="square" tIns="180000">
            <a:noAutofit/>
          </a:bodyPr>
          <a:lstStyle/>
          <a:p>
            <a:pPr indent="0" lvl="0" marL="0" rtl="0" algn="r">
              <a:lnSpc>
                <a:spcPct val="80000"/>
              </a:lnSpc>
              <a:spcBef>
                <a:spcPts val="0"/>
              </a:spcBef>
              <a:spcAft>
                <a:spcPts val="0"/>
              </a:spcAft>
              <a:buClr>
                <a:srgbClr val="3F3F3F"/>
              </a:buClr>
              <a:buSzPts val="6000"/>
              <a:buFont typeface="Corbel"/>
              <a:buNone/>
            </a:pPr>
            <a:r>
              <a:rPr lang="it-IT" sz="6000"/>
              <a:t>Pari Opportunità</a:t>
            </a:r>
            <a:endParaRPr/>
          </a:p>
        </p:txBody>
      </p:sp>
      <p:sp>
        <p:nvSpPr>
          <p:cNvPr id="155" name="Google Shape;155;p3"/>
          <p:cNvSpPr txBox="1"/>
          <p:nvPr>
            <p:ph idx="1" type="body"/>
          </p:nvPr>
        </p:nvSpPr>
        <p:spPr>
          <a:xfrm>
            <a:off x="7111800" y="4787900"/>
            <a:ext cx="4648200" cy="1162800"/>
          </a:xfrm>
          <a:prstGeom prst="rect">
            <a:avLst/>
          </a:prstGeom>
          <a:solidFill>
            <a:schemeClr val="dk1">
              <a:alpha val="80000"/>
            </a:schemeClr>
          </a:solidFill>
          <a:ln>
            <a:noFill/>
          </a:ln>
        </p:spPr>
        <p:txBody>
          <a:bodyPr anchorCtr="0" anchor="t" bIns="180000" lIns="180000" spcFirstLastPara="1" rIns="180000" wrap="square" tIns="180000">
            <a:noAutofit/>
          </a:bodyPr>
          <a:lstStyle/>
          <a:p>
            <a:pPr indent="0" lvl="0" marL="0" rtl="0" algn="r">
              <a:lnSpc>
                <a:spcPct val="90000"/>
              </a:lnSpc>
              <a:spcBef>
                <a:spcPts val="0"/>
              </a:spcBef>
              <a:spcAft>
                <a:spcPts val="0"/>
              </a:spcAft>
              <a:buClr>
                <a:schemeClr val="lt1"/>
              </a:buClr>
              <a:buSzPts val="1800"/>
              <a:buNone/>
            </a:pPr>
            <a:r>
              <a:rPr lang="it-IT" sz="1800" u="sng">
                <a:latin typeface="Arial"/>
                <a:ea typeface="Arial"/>
                <a:cs typeface="Arial"/>
                <a:sym typeface="Arial"/>
              </a:rPr>
              <a:t>ogni persona, a prescindere dalle proprie caratteristiche personali, dovrebbe avere le stesse opportunità di successo, crescita e realizzazione nella vita</a:t>
            </a:r>
            <a:endParaRPr/>
          </a:p>
        </p:txBody>
      </p:sp>
      <p:sp>
        <p:nvSpPr>
          <p:cNvPr id="156" name="Google Shape;156;p3"/>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Mano che scrive un appunto su un post-it" id="161" name="Google Shape;161;p4"/>
          <p:cNvPicPr preferRelativeResize="0"/>
          <p:nvPr>
            <p:ph idx="2" type="pic"/>
          </p:nvPr>
        </p:nvPicPr>
        <p:blipFill rotWithShape="1">
          <a:blip r:embed="rId3">
            <a:alphaModFix/>
          </a:blip>
          <a:srcRect b="0" l="0" r="0" t="0"/>
          <a:stretch/>
        </p:blipFill>
        <p:spPr>
          <a:xfrm>
            <a:off x="6134093" y="486649"/>
            <a:ext cx="6096000" cy="6371351"/>
          </a:xfrm>
          <a:prstGeom prst="rect">
            <a:avLst/>
          </a:prstGeom>
          <a:solidFill>
            <a:srgbClr val="F2F2F2"/>
          </a:solidFill>
          <a:ln>
            <a:noFill/>
          </a:ln>
        </p:spPr>
      </p:pic>
      <p:sp>
        <p:nvSpPr>
          <p:cNvPr descr="Blocco in evidenza" id="162" name="Google Shape;162;p4"/>
          <p:cNvSpPr/>
          <p:nvPr/>
        </p:nvSpPr>
        <p:spPr>
          <a:xfrm>
            <a:off x="9775824" y="1762069"/>
            <a:ext cx="1984175"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63" name="Google Shape;163;p4"/>
          <p:cNvSpPr txBox="1"/>
          <p:nvPr>
            <p:ph type="title"/>
          </p:nvPr>
        </p:nvSpPr>
        <p:spPr>
          <a:xfrm>
            <a:off x="292602" y="1664393"/>
            <a:ext cx="6641900" cy="1124345"/>
          </a:xfrm>
          <a:prstGeom prst="rect">
            <a:avLst/>
          </a:prstGeom>
          <a:solidFill>
            <a:srgbClr val="F2F2F2"/>
          </a:solidFill>
          <a:ln>
            <a:noFill/>
          </a:ln>
        </p:spPr>
        <p:txBody>
          <a:bodyPr anchorCtr="0" anchor="ctr" bIns="180000" lIns="180000" spcFirstLastPara="1" rIns="180000" wrap="square" tIns="180000">
            <a:noAutofit/>
          </a:bodyPr>
          <a:lstStyle/>
          <a:p>
            <a:pPr indent="0" lvl="0" marL="0" rtl="0" algn="l">
              <a:lnSpc>
                <a:spcPct val="90000"/>
              </a:lnSpc>
              <a:spcBef>
                <a:spcPts val="0"/>
              </a:spcBef>
              <a:spcAft>
                <a:spcPts val="0"/>
              </a:spcAft>
              <a:buClr>
                <a:srgbClr val="3F3F3F"/>
              </a:buClr>
              <a:buSzPts val="6000"/>
              <a:buFont typeface="Corbel"/>
              <a:buNone/>
            </a:pPr>
            <a:r>
              <a:rPr lang="it-IT" sz="6000"/>
              <a:t>Pari Opportunità</a:t>
            </a:r>
            <a:endParaRPr/>
          </a:p>
        </p:txBody>
      </p:sp>
      <p:sp>
        <p:nvSpPr>
          <p:cNvPr id="164" name="Google Shape;164;p4"/>
          <p:cNvSpPr txBox="1"/>
          <p:nvPr>
            <p:ph idx="1" type="body"/>
          </p:nvPr>
        </p:nvSpPr>
        <p:spPr>
          <a:xfrm>
            <a:off x="292602" y="2788738"/>
            <a:ext cx="6641626" cy="590155"/>
          </a:xfrm>
          <a:prstGeom prst="rect">
            <a:avLst/>
          </a:prstGeom>
          <a:solidFill>
            <a:schemeClr val="dk1">
              <a:alpha val="80000"/>
            </a:schemeClr>
          </a:solidFill>
          <a:ln>
            <a:noFill/>
          </a:ln>
        </p:spPr>
        <p:txBody>
          <a:bodyPr anchorCtr="0" anchor="t" bIns="180000" lIns="180000" spcFirstLastPara="1" rIns="180000" wrap="square" tIns="180000">
            <a:noAutofit/>
          </a:bodyPr>
          <a:lstStyle/>
          <a:p>
            <a:pPr indent="0" lvl="0" marL="0" rtl="0" algn="l">
              <a:lnSpc>
                <a:spcPct val="90000"/>
              </a:lnSpc>
              <a:spcBef>
                <a:spcPts val="0"/>
              </a:spcBef>
              <a:spcAft>
                <a:spcPts val="0"/>
              </a:spcAft>
              <a:buClr>
                <a:schemeClr val="lt1"/>
              </a:buClr>
              <a:buSzPts val="1800"/>
              <a:buNone/>
            </a:pPr>
            <a:r>
              <a:rPr lang="it-IT"/>
              <a:t>Tutti devono avere le stesse possibilità</a:t>
            </a:r>
            <a:endParaRPr/>
          </a:p>
        </p:txBody>
      </p:sp>
      <p:sp>
        <p:nvSpPr>
          <p:cNvPr id="165" name="Google Shape;165;p4"/>
          <p:cNvSpPr txBox="1"/>
          <p:nvPr>
            <p:ph idx="3" type="body"/>
          </p:nvPr>
        </p:nvSpPr>
        <p:spPr>
          <a:xfrm>
            <a:off x="111659" y="3463270"/>
            <a:ext cx="5904000" cy="3310352"/>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400"/>
              <a:buChar char="•"/>
            </a:pPr>
            <a:r>
              <a:rPr lang="it-IT" sz="1400" u="sng">
                <a:latin typeface="Arial"/>
                <a:ea typeface="Arial"/>
                <a:cs typeface="Arial"/>
                <a:sym typeface="Arial"/>
              </a:rPr>
              <a:t>Parlare di </a:t>
            </a:r>
            <a:r>
              <a:rPr b="1" lang="it-IT" sz="1400" u="sng">
                <a:latin typeface="Arial"/>
                <a:ea typeface="Arial"/>
                <a:cs typeface="Arial"/>
                <a:sym typeface="Arial"/>
              </a:rPr>
              <a:t>pari opportunità</a:t>
            </a:r>
            <a:r>
              <a:rPr lang="it-IT" sz="1400" u="sng">
                <a:latin typeface="Arial"/>
                <a:ea typeface="Arial"/>
                <a:cs typeface="Arial"/>
                <a:sym typeface="Arial"/>
              </a:rPr>
              <a:t> significa lottare contro ogni forma di </a:t>
            </a:r>
            <a:r>
              <a:rPr b="1" lang="it-IT" sz="1400" u="sng">
                <a:latin typeface="Arial"/>
                <a:ea typeface="Arial"/>
                <a:cs typeface="Arial"/>
                <a:sym typeface="Arial"/>
              </a:rPr>
              <a:t>discriminazione</a:t>
            </a:r>
            <a:r>
              <a:rPr lang="it-IT" sz="1400" u="sng">
                <a:latin typeface="Arial"/>
                <a:ea typeface="Arial"/>
                <a:cs typeface="Arial"/>
                <a:sym typeface="Arial"/>
              </a:rPr>
              <a:t> e </a:t>
            </a:r>
            <a:r>
              <a:rPr b="1" lang="it-IT" sz="1400" u="sng">
                <a:latin typeface="Arial"/>
                <a:ea typeface="Arial"/>
                <a:cs typeface="Arial"/>
                <a:sym typeface="Arial"/>
              </a:rPr>
              <a:t>inuguaglianza</a:t>
            </a:r>
            <a:r>
              <a:rPr lang="it-IT" sz="1400" u="sng">
                <a:latin typeface="Arial"/>
                <a:ea typeface="Arial"/>
                <a:cs typeface="Arial"/>
                <a:sym typeface="Arial"/>
              </a:rPr>
              <a:t> che impedisce a una persona di realizzare il proprio potenziale solo a causa di qualcosa che non ha a che fare con le sue capacità, ma con aspetti esterni come il genere, l'origine o altre caratteristiche personali.</a:t>
            </a:r>
            <a:r>
              <a:rPr lang="it-IT" sz="1400">
                <a:latin typeface="Arial"/>
                <a:ea typeface="Arial"/>
                <a:cs typeface="Arial"/>
                <a:sym typeface="Arial"/>
              </a:rPr>
              <a:t> </a:t>
            </a:r>
            <a:endParaRPr/>
          </a:p>
          <a:p>
            <a:pPr indent="-266700" lvl="0" marL="266700" rtl="0" algn="l">
              <a:lnSpc>
                <a:spcPct val="115000"/>
              </a:lnSpc>
              <a:spcBef>
                <a:spcPts val="1800"/>
              </a:spcBef>
              <a:spcAft>
                <a:spcPts val="0"/>
              </a:spcAft>
              <a:buClr>
                <a:srgbClr val="3F3F3F"/>
              </a:buClr>
              <a:buSzPts val="1400"/>
              <a:buChar char="•"/>
            </a:pPr>
            <a:r>
              <a:rPr lang="it-IT" sz="1400">
                <a:latin typeface="Arial"/>
                <a:ea typeface="Arial"/>
                <a:cs typeface="Arial"/>
                <a:sym typeface="Arial"/>
              </a:rPr>
              <a:t>Tutte le persone devono essere trattate in modo </a:t>
            </a:r>
            <a:r>
              <a:rPr b="1" lang="it-IT" sz="1400">
                <a:latin typeface="Arial"/>
                <a:ea typeface="Arial"/>
                <a:cs typeface="Arial"/>
                <a:sym typeface="Arial"/>
              </a:rPr>
              <a:t>equo</a:t>
            </a:r>
            <a:r>
              <a:rPr lang="it-IT" sz="1400">
                <a:latin typeface="Arial"/>
                <a:ea typeface="Arial"/>
                <a:cs typeface="Arial"/>
                <a:sym typeface="Arial"/>
              </a:rPr>
              <a:t> e </a:t>
            </a:r>
            <a:r>
              <a:rPr b="1" lang="it-IT" sz="1400">
                <a:latin typeface="Arial"/>
                <a:ea typeface="Arial"/>
                <a:cs typeface="Arial"/>
                <a:sym typeface="Arial"/>
              </a:rPr>
              <a:t>giusto</a:t>
            </a:r>
            <a:r>
              <a:rPr lang="it-IT" sz="1400">
                <a:latin typeface="Arial"/>
                <a:ea typeface="Arial"/>
                <a:cs typeface="Arial"/>
                <a:sym typeface="Arial"/>
              </a:rPr>
              <a:t> e che a tutti devono essere offerte </a:t>
            </a:r>
            <a:r>
              <a:rPr b="1" lang="it-IT" sz="1400">
                <a:latin typeface="Arial"/>
                <a:ea typeface="Arial"/>
                <a:cs typeface="Arial"/>
                <a:sym typeface="Arial"/>
              </a:rPr>
              <a:t>le stesse possibilità</a:t>
            </a:r>
            <a:r>
              <a:rPr lang="it-IT" sz="1400">
                <a:latin typeface="Arial"/>
                <a:ea typeface="Arial"/>
                <a:cs typeface="Arial"/>
                <a:sym typeface="Arial"/>
              </a:rPr>
              <a:t> di successo, indipendentemente dalla loro origine o caratteristiche personali.</a:t>
            </a:r>
            <a:endParaRPr/>
          </a:p>
          <a:p>
            <a:pPr indent="-152400" lvl="0" marL="266700" rtl="0" algn="l">
              <a:lnSpc>
                <a:spcPct val="90000"/>
              </a:lnSpc>
              <a:spcBef>
                <a:spcPts val="1800"/>
              </a:spcBef>
              <a:spcAft>
                <a:spcPts val="0"/>
              </a:spcAft>
              <a:buClr>
                <a:srgbClr val="3F3F3F"/>
              </a:buClr>
              <a:buSzPts val="1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5"/>
          <p:cNvPicPr preferRelativeResize="0"/>
          <p:nvPr>
            <p:ph idx="2" type="pic"/>
          </p:nvPr>
        </p:nvPicPr>
        <p:blipFill rotWithShape="1">
          <a:blip r:embed="rId3">
            <a:alphaModFix/>
          </a:blip>
          <a:srcRect b="0" l="0" r="0" t="0"/>
          <a:stretch/>
        </p:blipFill>
        <p:spPr>
          <a:xfrm>
            <a:off x="2411412" y="486650"/>
            <a:ext cx="9780588" cy="6316702"/>
          </a:xfrm>
          <a:prstGeom prst="rect">
            <a:avLst/>
          </a:prstGeom>
          <a:solidFill>
            <a:srgbClr val="D8D8D8"/>
          </a:solidFill>
          <a:ln>
            <a:noFill/>
          </a:ln>
        </p:spPr>
      </p:pic>
      <p:sp>
        <p:nvSpPr>
          <p:cNvPr id="171" name="Google Shape;171;p5"/>
          <p:cNvSpPr txBox="1"/>
          <p:nvPr>
            <p:ph type="ctrTitle"/>
          </p:nvPr>
        </p:nvSpPr>
        <p:spPr>
          <a:xfrm>
            <a:off x="0" y="1100565"/>
            <a:ext cx="5956300" cy="1944000"/>
          </a:xfrm>
          <a:prstGeom prst="rect">
            <a:avLst/>
          </a:prstGeom>
          <a:solidFill>
            <a:schemeClr val="lt1"/>
          </a:solidFill>
          <a:ln>
            <a:noFill/>
          </a:ln>
        </p:spPr>
        <p:txBody>
          <a:bodyPr anchorCtr="0" anchor="t" bIns="180000" lIns="180000" spcFirstLastPara="1" rIns="252000" wrap="square" tIns="180000">
            <a:noAutofit/>
          </a:bodyPr>
          <a:lstStyle/>
          <a:p>
            <a:pPr indent="0" lvl="0" marL="0" rtl="0" algn="r">
              <a:lnSpc>
                <a:spcPct val="90000"/>
              </a:lnSpc>
              <a:spcBef>
                <a:spcPts val="0"/>
              </a:spcBef>
              <a:spcAft>
                <a:spcPts val="0"/>
              </a:spcAft>
              <a:buClr>
                <a:srgbClr val="3F3F3F"/>
              </a:buClr>
              <a:buSzPts val="6000"/>
              <a:buFont typeface="Corbel"/>
              <a:buNone/>
            </a:pPr>
            <a:r>
              <a:rPr lang="it-IT" sz="6000"/>
              <a:t>Pari Opportunità</a:t>
            </a:r>
            <a:endParaRPr/>
          </a:p>
        </p:txBody>
      </p:sp>
      <p:sp>
        <p:nvSpPr>
          <p:cNvPr id="172" name="Google Shape;172;p5"/>
          <p:cNvSpPr txBox="1"/>
          <p:nvPr>
            <p:ph idx="1" type="body"/>
          </p:nvPr>
        </p:nvSpPr>
        <p:spPr>
          <a:xfrm>
            <a:off x="767406" y="3044565"/>
            <a:ext cx="5956300" cy="1100565"/>
          </a:xfrm>
          <a:prstGeom prst="rect">
            <a:avLst/>
          </a:prstGeom>
          <a:solidFill>
            <a:schemeClr val="dk1">
              <a:alpha val="80000"/>
            </a:schemeClr>
          </a:solidFill>
          <a:ln>
            <a:noFill/>
          </a:ln>
        </p:spPr>
        <p:txBody>
          <a:bodyPr anchorCtr="0" anchor="t" bIns="180000" lIns="180000" spcFirstLastPara="1" rIns="252000" wrap="square" tIns="180000">
            <a:noAutofit/>
          </a:bodyPr>
          <a:lstStyle/>
          <a:p>
            <a:pPr indent="0" lvl="0" marL="0" rtl="0" algn="r">
              <a:lnSpc>
                <a:spcPct val="90000"/>
              </a:lnSpc>
              <a:spcBef>
                <a:spcPts val="0"/>
              </a:spcBef>
              <a:spcAft>
                <a:spcPts val="0"/>
              </a:spcAft>
              <a:buClr>
                <a:schemeClr val="lt1"/>
              </a:buClr>
              <a:buSzPts val="2800"/>
              <a:buNone/>
            </a:pPr>
            <a:r>
              <a:rPr lang="it-IT" sz="2800"/>
              <a:t>Cenni storici</a:t>
            </a:r>
            <a:endParaRPr/>
          </a:p>
        </p:txBody>
      </p:sp>
      <p:sp>
        <p:nvSpPr>
          <p:cNvPr id="173" name="Google Shape;173;p5"/>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Martelletto da giudice" id="178" name="Google Shape;178;p6"/>
          <p:cNvPicPr preferRelativeResize="0"/>
          <p:nvPr/>
        </p:nvPicPr>
        <p:blipFill rotWithShape="1">
          <a:blip r:embed="rId3">
            <a:alphaModFix/>
          </a:blip>
          <a:srcRect b="0" l="0" r="0" t="0"/>
          <a:stretch/>
        </p:blipFill>
        <p:spPr>
          <a:xfrm>
            <a:off x="9107786" y="5432079"/>
            <a:ext cx="3084213" cy="1366484"/>
          </a:xfrm>
          <a:prstGeom prst="rect">
            <a:avLst/>
          </a:prstGeom>
          <a:noFill/>
          <a:ln>
            <a:noFill/>
          </a:ln>
          <a:effectLst>
            <a:outerShdw blurRad="190500" rotWithShape="0" algn="tl">
              <a:srgbClr val="000000">
                <a:alpha val="69803"/>
              </a:srgbClr>
            </a:outerShdw>
          </a:effectLst>
        </p:spPr>
      </p:pic>
      <p:sp>
        <p:nvSpPr>
          <p:cNvPr id="179" name="Google Shape;179;p6"/>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Cenni storici</a:t>
            </a:r>
            <a:endParaRPr/>
          </a:p>
        </p:txBody>
      </p:sp>
      <p:sp>
        <p:nvSpPr>
          <p:cNvPr id="180" name="Google Shape;180;p6"/>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Nel corso del </a:t>
            </a:r>
            <a:r>
              <a:rPr b="1" lang="it-IT" sz="1800">
                <a:latin typeface="Arial"/>
                <a:ea typeface="Arial"/>
                <a:cs typeface="Arial"/>
                <a:sym typeface="Arial"/>
              </a:rPr>
              <a:t>XIX secolo</a:t>
            </a:r>
            <a:r>
              <a:rPr lang="it-IT" sz="1800">
                <a:latin typeface="Arial"/>
                <a:ea typeface="Arial"/>
                <a:cs typeface="Arial"/>
                <a:sym typeface="Arial"/>
              </a:rPr>
              <a:t>, le donne in Italia, come in gran parte del mondo, non avevano gli stessi diritti degli uomini. Non potevano votare, non avevano accesso a molte professioni e non godevano di piena autonomia legale.</a:t>
            </a:r>
            <a:endParaRPr sz="1800">
              <a:latin typeface="Arial"/>
              <a:ea typeface="Arial"/>
              <a:cs typeface="Arial"/>
              <a:sym typeface="Arial"/>
            </a:endParaRPr>
          </a:p>
        </p:txBody>
      </p:sp>
      <p:sp>
        <p:nvSpPr>
          <p:cNvPr descr="Blocco in evidenza a sinistra" id="181" name="Google Shape;181;p6"/>
          <p:cNvSpPr/>
          <p:nvPr/>
        </p:nvSpPr>
        <p:spPr>
          <a:xfrm>
            <a:off x="431800" y="2100317"/>
            <a:ext cx="1984175"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82" name="Google Shape;182;p6"/>
          <p:cNvSpPr txBox="1"/>
          <p:nvPr>
            <p:ph idx="2" type="body"/>
          </p:nvPr>
        </p:nvSpPr>
        <p:spPr>
          <a:xfrm>
            <a:off x="432000" y="2442934"/>
            <a:ext cx="5472000"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L’introduzione del diritto di voto per le donne (1946)</a:t>
            </a:r>
            <a:endParaRPr sz="1800">
              <a:latin typeface="Arial"/>
              <a:ea typeface="Arial"/>
              <a:cs typeface="Arial"/>
              <a:sym typeface="Arial"/>
            </a:endParaRPr>
          </a:p>
        </p:txBody>
      </p:sp>
      <p:sp>
        <p:nvSpPr>
          <p:cNvPr id="183" name="Google Shape;183;p6"/>
          <p:cNvSpPr txBox="1"/>
          <p:nvPr>
            <p:ph idx="3" type="body"/>
          </p:nvPr>
        </p:nvSpPr>
        <p:spPr>
          <a:xfrm>
            <a:off x="432000" y="2950768"/>
            <a:ext cx="5472000" cy="2194694"/>
          </a:xfrm>
          <a:prstGeom prst="rect">
            <a:avLst/>
          </a:prstGeom>
          <a:noFill/>
          <a:ln>
            <a:noFill/>
          </a:ln>
        </p:spPr>
        <p:txBody>
          <a:bodyPr anchorCtr="0" anchor="t" bIns="0" lIns="0" spcFirstLastPara="1" rIns="0" wrap="square" tIns="0">
            <a:noAutofit/>
          </a:bodyPr>
          <a:lstStyle/>
          <a:p>
            <a:pPr indent="0" lvl="0" marL="266700" rtl="0" algn="l">
              <a:lnSpc>
                <a:spcPct val="115000"/>
              </a:lnSpc>
              <a:spcBef>
                <a:spcPts val="0"/>
              </a:spcBef>
              <a:spcAft>
                <a:spcPts val="0"/>
              </a:spcAft>
              <a:buNone/>
            </a:pPr>
            <a:r>
              <a:rPr b="1" lang="it-IT" sz="1800">
                <a:latin typeface="Arial"/>
                <a:ea typeface="Arial"/>
                <a:cs typeface="Arial"/>
                <a:sym typeface="Arial"/>
              </a:rPr>
              <a:t>Referendum del 2 giugno 1946</a:t>
            </a:r>
            <a:r>
              <a:rPr lang="it-IT" sz="1800">
                <a:latin typeface="Arial"/>
                <a:ea typeface="Arial"/>
                <a:cs typeface="Arial"/>
                <a:sym typeface="Arial"/>
              </a:rPr>
              <a:t>: Questo fu un momento storico, non solo perché le donne votarono per la prima volta, ma anche perché, nello stesso giorno, si decise la forma istituzionale della Repubblica. Da quel momento in poi, le donne italiane iniziarono a partecipare attivamente alla vita politica e sociale del paese.</a:t>
            </a:r>
            <a:endParaRPr sz="1800">
              <a:latin typeface="Arial"/>
              <a:ea typeface="Arial"/>
              <a:cs typeface="Arial"/>
              <a:sym typeface="Arial"/>
            </a:endParaRPr>
          </a:p>
          <a:p>
            <a:pPr indent="0" lvl="0" marL="266700" rtl="0" algn="l">
              <a:lnSpc>
                <a:spcPct val="115000"/>
              </a:lnSpc>
              <a:spcBef>
                <a:spcPts val="0"/>
              </a:spcBef>
              <a:spcAft>
                <a:spcPts val="0"/>
              </a:spcAft>
              <a:buNone/>
            </a:pPr>
            <a:r>
              <a:rPr lang="it-IT">
                <a:latin typeface="Arial"/>
                <a:ea typeface="Arial"/>
                <a:cs typeface="Arial"/>
                <a:sym typeface="Arial"/>
              </a:rPr>
              <a:t>Condizione della donna in Italia: </a:t>
            </a:r>
            <a:r>
              <a:rPr lang="it-IT" u="sng">
                <a:solidFill>
                  <a:schemeClr val="hlink"/>
                </a:solidFill>
                <a:latin typeface="Arial"/>
                <a:ea typeface="Arial"/>
                <a:cs typeface="Arial"/>
                <a:sym typeface="Arial"/>
                <a:hlinkClick r:id="rId4"/>
              </a:rPr>
              <a:t>https://bit.ly/3LpnhvV</a:t>
            </a:r>
            <a:endParaRPr>
              <a:latin typeface="Arial"/>
              <a:ea typeface="Arial"/>
              <a:cs typeface="Arial"/>
              <a:sym typeface="Arial"/>
            </a:endParaRPr>
          </a:p>
        </p:txBody>
      </p:sp>
      <p:cxnSp>
        <p:nvCxnSpPr>
          <p:cNvPr descr="Divisore diapositiva" id="184" name="Google Shape;184;p6"/>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185" name="Google Shape;185;p6"/>
          <p:cNvSpPr/>
          <p:nvPr/>
        </p:nvSpPr>
        <p:spPr>
          <a:xfrm>
            <a:off x="6299887" y="2100317"/>
            <a:ext cx="1984175" cy="11482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86" name="Google Shape;186;p6"/>
          <p:cNvSpPr txBox="1"/>
          <p:nvPr>
            <p:ph idx="4" type="body"/>
          </p:nvPr>
        </p:nvSpPr>
        <p:spPr>
          <a:xfrm>
            <a:off x="6300000" y="2443459"/>
            <a:ext cx="5472000" cy="35877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b="1" lang="it-IT" sz="1800">
                <a:latin typeface="Arial"/>
                <a:ea typeface="Arial"/>
                <a:cs typeface="Arial"/>
                <a:sym typeface="Arial"/>
              </a:rPr>
              <a:t>La parità di genere nel lavoro (1977)</a:t>
            </a:r>
            <a:endParaRPr/>
          </a:p>
        </p:txBody>
      </p:sp>
      <p:sp>
        <p:nvSpPr>
          <p:cNvPr id="187" name="Google Shape;187;p6"/>
          <p:cNvSpPr txBox="1"/>
          <p:nvPr>
            <p:ph idx="5" type="body"/>
          </p:nvPr>
        </p:nvSpPr>
        <p:spPr>
          <a:xfrm>
            <a:off x="6299887" y="2947459"/>
            <a:ext cx="5472113" cy="2196041"/>
          </a:xfrm>
          <a:prstGeom prst="rect">
            <a:avLst/>
          </a:prstGeom>
          <a:noFill/>
          <a:ln>
            <a:noFill/>
          </a:ln>
        </p:spPr>
        <p:txBody>
          <a:bodyPr anchorCtr="0" anchor="t" bIns="0" lIns="0" spcFirstLastPara="1" rIns="0" wrap="square" tIns="0">
            <a:noAutofit/>
          </a:bodyPr>
          <a:lstStyle/>
          <a:p>
            <a:pPr indent="-266700" lvl="0" marL="266700" rtl="0" algn="l">
              <a:lnSpc>
                <a:spcPct val="90000"/>
              </a:lnSpc>
              <a:spcBef>
                <a:spcPts val="0"/>
              </a:spcBef>
              <a:spcAft>
                <a:spcPts val="0"/>
              </a:spcAft>
              <a:buClr>
                <a:srgbClr val="3F3F3F"/>
              </a:buClr>
              <a:buSzPts val="1800"/>
              <a:buChar char="•"/>
            </a:pPr>
            <a:r>
              <a:rPr lang="it-IT" sz="1800">
                <a:latin typeface="Arial"/>
                <a:ea typeface="Arial"/>
                <a:cs typeface="Arial"/>
                <a:sym typeface="Arial"/>
              </a:rPr>
              <a:t>Nel </a:t>
            </a:r>
            <a:r>
              <a:rPr b="1" lang="it-IT" sz="1800">
                <a:latin typeface="Arial"/>
                <a:ea typeface="Arial"/>
                <a:cs typeface="Arial"/>
                <a:sym typeface="Arial"/>
              </a:rPr>
              <a:t>1977</a:t>
            </a:r>
            <a:r>
              <a:rPr lang="it-IT" sz="1800">
                <a:latin typeface="Arial"/>
                <a:ea typeface="Arial"/>
                <a:cs typeface="Arial"/>
                <a:sym typeface="Arial"/>
              </a:rPr>
              <a:t>, venne approvata la </a:t>
            </a:r>
            <a:r>
              <a:rPr b="1" lang="it-IT" sz="1800">
                <a:latin typeface="Arial"/>
                <a:ea typeface="Arial"/>
                <a:cs typeface="Arial"/>
                <a:sym typeface="Arial"/>
              </a:rPr>
              <a:t>legge n. 903</a:t>
            </a:r>
            <a:r>
              <a:rPr lang="it-IT" sz="1800">
                <a:latin typeface="Arial"/>
                <a:ea typeface="Arial"/>
                <a:cs typeface="Arial"/>
                <a:sym typeface="Arial"/>
              </a:rPr>
              <a:t> che sanciva il </a:t>
            </a:r>
            <a:r>
              <a:rPr b="1" lang="it-IT" sz="1800">
                <a:latin typeface="Arial"/>
                <a:ea typeface="Arial"/>
                <a:cs typeface="Arial"/>
                <a:sym typeface="Arial"/>
              </a:rPr>
              <a:t>principio di parità tra uomini e donne nel mondo del lavoro</a:t>
            </a:r>
            <a:r>
              <a:rPr lang="it-IT" sz="1800">
                <a:latin typeface="Arial"/>
                <a:ea typeface="Arial"/>
                <a:cs typeface="Arial"/>
                <a:sym typeface="Arial"/>
              </a:rPr>
              <a:t>, vietando la discriminazione salariale e nelle assunzioni.</a:t>
            </a:r>
            <a:endParaRPr/>
          </a:p>
          <a:p>
            <a:pPr indent="0" lvl="0" marL="0" rtl="0" algn="l">
              <a:lnSpc>
                <a:spcPct val="90000"/>
              </a:lnSpc>
              <a:spcBef>
                <a:spcPts val="1000"/>
              </a:spcBef>
              <a:spcAft>
                <a:spcPts val="0"/>
              </a:spcAft>
              <a:buClr>
                <a:srgbClr val="3F3F3F"/>
              </a:buClr>
              <a:buSzPts val="1800"/>
              <a:buNone/>
            </a:pPr>
            <a:r>
              <a:rPr b="1" lang="it-IT" sz="1800">
                <a:latin typeface="Arial"/>
                <a:ea typeface="Arial"/>
                <a:cs typeface="Arial"/>
                <a:sym typeface="Arial"/>
              </a:rPr>
              <a:t>Il percorso delle persone con disabilità </a:t>
            </a:r>
            <a:endParaRPr/>
          </a:p>
          <a:p>
            <a:pPr indent="-266700" lvl="0" marL="266700" rtl="0" algn="l">
              <a:lnSpc>
                <a:spcPct val="90000"/>
              </a:lnSpc>
              <a:spcBef>
                <a:spcPts val="1000"/>
              </a:spcBef>
              <a:spcAft>
                <a:spcPts val="0"/>
              </a:spcAft>
              <a:buClr>
                <a:srgbClr val="3F3F3F"/>
              </a:buClr>
              <a:buSzPts val="1800"/>
              <a:buChar char="•"/>
            </a:pPr>
            <a:r>
              <a:rPr lang="it-IT">
                <a:latin typeface="Arial"/>
                <a:ea typeface="Arial"/>
                <a:cs typeface="Arial"/>
                <a:sym typeface="Arial"/>
              </a:rPr>
              <a:t>l</a:t>
            </a:r>
            <a:r>
              <a:rPr lang="it-IT" sz="1800">
                <a:latin typeface="Arial"/>
                <a:ea typeface="Arial"/>
                <a:cs typeface="Arial"/>
                <a:sym typeface="Arial"/>
              </a:rPr>
              <a:t>a </a:t>
            </a:r>
            <a:r>
              <a:rPr b="1" lang="it-IT" sz="1800">
                <a:latin typeface="Arial"/>
                <a:ea typeface="Arial"/>
                <a:cs typeface="Arial"/>
                <a:sym typeface="Arial"/>
              </a:rPr>
              <a:t>Legge 104/1992</a:t>
            </a:r>
            <a:r>
              <a:rPr lang="it-IT" sz="1800">
                <a:latin typeface="Arial"/>
                <a:ea typeface="Arial"/>
                <a:cs typeface="Arial"/>
                <a:sym typeface="Arial"/>
              </a:rPr>
              <a:t> ha istituito diritti fondamentali per le persone con disabilità, promuovendo l'inclusione sociale, l'accesso al lavoro, e l'adeguamento degli edifici pubblici e privati</a:t>
            </a:r>
            <a:endParaRPr/>
          </a:p>
        </p:txBody>
      </p:sp>
      <p:sp>
        <p:nvSpPr>
          <p:cNvPr id="188" name="Google Shape;188;p6"/>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descr="Donne multietniche che protestano" id="193" name="Google Shape;193;p7"/>
          <p:cNvPicPr preferRelativeResize="0"/>
          <p:nvPr/>
        </p:nvPicPr>
        <p:blipFill rotWithShape="1">
          <a:blip r:embed="rId3">
            <a:alphaModFix/>
          </a:blip>
          <a:srcRect b="0" l="0" r="0" t="0"/>
          <a:stretch/>
        </p:blipFill>
        <p:spPr>
          <a:xfrm>
            <a:off x="7894622" y="3855150"/>
            <a:ext cx="4297377" cy="2948201"/>
          </a:xfrm>
          <a:prstGeom prst="rect">
            <a:avLst/>
          </a:prstGeom>
          <a:noFill/>
          <a:ln>
            <a:noFill/>
          </a:ln>
        </p:spPr>
      </p:pic>
      <p:sp>
        <p:nvSpPr>
          <p:cNvPr id="194" name="Google Shape;194;p7"/>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Cenni storici</a:t>
            </a:r>
            <a:endParaRPr/>
          </a:p>
        </p:txBody>
      </p:sp>
      <p:sp>
        <p:nvSpPr>
          <p:cNvPr id="195" name="Google Shape;195;p7"/>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Nel corso del </a:t>
            </a:r>
            <a:r>
              <a:rPr b="1" lang="it-IT" sz="1800">
                <a:latin typeface="Arial"/>
                <a:ea typeface="Arial"/>
                <a:cs typeface="Arial"/>
                <a:sym typeface="Arial"/>
              </a:rPr>
              <a:t>XIX secolo</a:t>
            </a:r>
            <a:r>
              <a:rPr lang="it-IT" sz="1800">
                <a:latin typeface="Arial"/>
                <a:ea typeface="Arial"/>
                <a:cs typeface="Arial"/>
                <a:sym typeface="Arial"/>
              </a:rPr>
              <a:t>, le donne in Italia, come in gran parte del mondo, non avevano gli stessi diritti degli uomini. Non potevano votare, non avevano accesso a molte professioni e non godevano di piena autonomia legale.</a:t>
            </a:r>
            <a:endParaRPr sz="1800">
              <a:latin typeface="Arial"/>
              <a:ea typeface="Arial"/>
              <a:cs typeface="Arial"/>
              <a:sym typeface="Arial"/>
            </a:endParaRPr>
          </a:p>
        </p:txBody>
      </p:sp>
      <p:sp>
        <p:nvSpPr>
          <p:cNvPr descr="Blocco in evidenza a sinistra" id="196" name="Google Shape;196;p7"/>
          <p:cNvSpPr/>
          <p:nvPr/>
        </p:nvSpPr>
        <p:spPr>
          <a:xfrm>
            <a:off x="431800" y="2100317"/>
            <a:ext cx="1984175"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197" name="Google Shape;197;p7"/>
          <p:cNvSpPr txBox="1"/>
          <p:nvPr>
            <p:ph idx="2" type="body"/>
          </p:nvPr>
        </p:nvSpPr>
        <p:spPr>
          <a:xfrm>
            <a:off x="432000" y="2442934"/>
            <a:ext cx="5472000"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La Legge 66/1996 contro la violenza di genere</a:t>
            </a:r>
            <a:endParaRPr sz="1800">
              <a:latin typeface="Arial"/>
              <a:ea typeface="Arial"/>
              <a:cs typeface="Arial"/>
              <a:sym typeface="Arial"/>
            </a:endParaRPr>
          </a:p>
        </p:txBody>
      </p:sp>
      <p:sp>
        <p:nvSpPr>
          <p:cNvPr id="198" name="Google Shape;198;p7"/>
          <p:cNvSpPr txBox="1"/>
          <p:nvPr>
            <p:ph idx="3" type="body"/>
          </p:nvPr>
        </p:nvSpPr>
        <p:spPr>
          <a:xfrm>
            <a:off x="432000" y="2950768"/>
            <a:ext cx="5472000" cy="2194694"/>
          </a:xfrm>
          <a:prstGeom prst="rect">
            <a:avLst/>
          </a:prstGeom>
          <a:noFill/>
          <a:ln>
            <a:noFill/>
          </a:ln>
        </p:spPr>
        <p:txBody>
          <a:bodyPr anchorCtr="0" anchor="t" bIns="0" lIns="0" spcFirstLastPara="1" rIns="0" wrap="square" tIns="0">
            <a:noAutofit/>
          </a:bodyPr>
          <a:lstStyle/>
          <a:p>
            <a:pPr indent="-342900" lvl="0" marL="342900" rtl="0" algn="l">
              <a:lnSpc>
                <a:spcPct val="115000"/>
              </a:lnSpc>
              <a:spcBef>
                <a:spcPts val="0"/>
              </a:spcBef>
              <a:spcAft>
                <a:spcPts val="0"/>
              </a:spcAft>
              <a:buClr>
                <a:srgbClr val="3F3F3F"/>
              </a:buClr>
              <a:buSzPts val="1000"/>
              <a:buFont typeface="Noto Sans Symbols"/>
              <a:buChar char="∙"/>
            </a:pPr>
            <a:r>
              <a:rPr lang="it-IT" sz="1800">
                <a:latin typeface="Arial"/>
                <a:ea typeface="Arial"/>
                <a:cs typeface="Arial"/>
                <a:sym typeface="Arial"/>
              </a:rPr>
              <a:t>la </a:t>
            </a:r>
            <a:r>
              <a:rPr b="1" lang="it-IT" sz="1800">
                <a:latin typeface="Arial"/>
                <a:ea typeface="Arial"/>
                <a:cs typeface="Arial"/>
                <a:sym typeface="Arial"/>
              </a:rPr>
              <a:t>Legge 66/1996</a:t>
            </a:r>
            <a:r>
              <a:rPr lang="it-IT" sz="1800">
                <a:latin typeface="Arial"/>
                <a:ea typeface="Arial"/>
                <a:cs typeface="Arial"/>
                <a:sym typeface="Arial"/>
              </a:rPr>
              <a:t>, ha introdotto norme per contrastare la </a:t>
            </a:r>
            <a:r>
              <a:rPr b="1" lang="it-IT" sz="1800">
                <a:latin typeface="Arial"/>
                <a:ea typeface="Arial"/>
                <a:cs typeface="Arial"/>
                <a:sym typeface="Arial"/>
              </a:rPr>
              <a:t>violenza sessuale</a:t>
            </a:r>
            <a:r>
              <a:rPr lang="it-IT" sz="1800">
                <a:latin typeface="Arial"/>
                <a:ea typeface="Arial"/>
                <a:cs typeface="Arial"/>
                <a:sym typeface="Arial"/>
              </a:rPr>
              <a:t> e </a:t>
            </a:r>
            <a:r>
              <a:rPr b="1" lang="it-IT" sz="1800">
                <a:latin typeface="Arial"/>
                <a:ea typeface="Arial"/>
                <a:cs typeface="Arial"/>
                <a:sym typeface="Arial"/>
              </a:rPr>
              <a:t>domestica</a:t>
            </a:r>
            <a:r>
              <a:rPr lang="it-IT" sz="1800">
                <a:latin typeface="Arial"/>
                <a:ea typeface="Arial"/>
                <a:cs typeface="Arial"/>
                <a:sym typeface="Arial"/>
              </a:rPr>
              <a:t>. Questa legge ha cercato di affrontare uno degli aspetti più gravi della discriminazione di genere, creando misure di protezione per le donne vittime di violenza.</a:t>
            </a:r>
            <a:endParaRPr sz="1800">
              <a:latin typeface="Arial"/>
              <a:ea typeface="Arial"/>
              <a:cs typeface="Arial"/>
              <a:sym typeface="Arial"/>
            </a:endParaRPr>
          </a:p>
        </p:txBody>
      </p:sp>
      <p:cxnSp>
        <p:nvCxnSpPr>
          <p:cNvPr descr="Divisore diapositiva" id="199" name="Google Shape;199;p7"/>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200" name="Google Shape;200;p7"/>
          <p:cNvSpPr/>
          <p:nvPr/>
        </p:nvSpPr>
        <p:spPr>
          <a:xfrm>
            <a:off x="6299887" y="2100317"/>
            <a:ext cx="1984175" cy="11482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201" name="Google Shape;201;p7"/>
          <p:cNvSpPr txBox="1"/>
          <p:nvPr>
            <p:ph idx="4" type="body"/>
          </p:nvPr>
        </p:nvSpPr>
        <p:spPr>
          <a:xfrm>
            <a:off x="6300000" y="2443459"/>
            <a:ext cx="5472000" cy="35877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b="1" lang="it-IT" sz="1800">
                <a:latin typeface="Arial"/>
                <a:ea typeface="Arial"/>
                <a:cs typeface="Arial"/>
                <a:sym typeface="Arial"/>
              </a:rPr>
              <a:t>Quote Rosa (2011)</a:t>
            </a:r>
            <a:endParaRPr/>
          </a:p>
        </p:txBody>
      </p:sp>
      <p:sp>
        <p:nvSpPr>
          <p:cNvPr id="202" name="Google Shape;202;p7"/>
          <p:cNvSpPr txBox="1"/>
          <p:nvPr>
            <p:ph idx="5" type="body"/>
          </p:nvPr>
        </p:nvSpPr>
        <p:spPr>
          <a:xfrm>
            <a:off x="6299887" y="2947459"/>
            <a:ext cx="5472113" cy="2196041"/>
          </a:xfrm>
          <a:prstGeom prst="rect">
            <a:avLst/>
          </a:prstGeom>
          <a:noFill/>
          <a:ln>
            <a:noFill/>
          </a:ln>
        </p:spPr>
        <p:txBody>
          <a:bodyPr anchorCtr="0" anchor="t" bIns="0" lIns="0" spcFirstLastPara="1" rIns="0" wrap="square" tIns="0">
            <a:noAutofit/>
          </a:bodyPr>
          <a:lstStyle/>
          <a:p>
            <a:pPr indent="-342900" lvl="0" marL="342900" rtl="0" algn="l">
              <a:lnSpc>
                <a:spcPct val="115000"/>
              </a:lnSpc>
              <a:spcBef>
                <a:spcPts val="0"/>
              </a:spcBef>
              <a:spcAft>
                <a:spcPts val="0"/>
              </a:spcAft>
              <a:buClr>
                <a:srgbClr val="3F3F3F"/>
              </a:buClr>
              <a:buSzPts val="1000"/>
              <a:buFont typeface="Noto Sans Symbols"/>
              <a:buChar char="∙"/>
            </a:pPr>
            <a:r>
              <a:rPr b="1" lang="it-IT" sz="1800">
                <a:latin typeface="Arial"/>
                <a:ea typeface="Arial"/>
                <a:cs typeface="Arial"/>
                <a:sym typeface="Arial"/>
              </a:rPr>
              <a:t>Quote rosa</a:t>
            </a:r>
            <a:r>
              <a:rPr lang="it-IT" sz="1800">
                <a:latin typeface="Arial"/>
                <a:ea typeface="Arial"/>
                <a:cs typeface="Arial"/>
                <a:sym typeface="Arial"/>
              </a:rPr>
              <a:t>: nel 2011 è stata introdotta la legge sulle </a:t>
            </a:r>
            <a:r>
              <a:rPr b="1" lang="it-IT" sz="1800">
                <a:latin typeface="Arial"/>
                <a:ea typeface="Arial"/>
                <a:cs typeface="Arial"/>
                <a:sym typeface="Arial"/>
              </a:rPr>
              <a:t>quote rosa</a:t>
            </a:r>
            <a:r>
              <a:rPr lang="it-IT" sz="1800">
                <a:latin typeface="Arial"/>
                <a:ea typeface="Arial"/>
                <a:cs typeface="Arial"/>
                <a:sym typeface="Arial"/>
              </a:rPr>
              <a:t>, che obbliga le aziende pubbliche e le società quotate in borsa ad avere almeno una </a:t>
            </a:r>
            <a:r>
              <a:rPr b="1" lang="it-IT" sz="1800">
                <a:latin typeface="Arial"/>
                <a:ea typeface="Arial"/>
                <a:cs typeface="Arial"/>
                <a:sym typeface="Arial"/>
              </a:rPr>
              <a:t>partecipazione femminile</a:t>
            </a:r>
            <a:r>
              <a:rPr lang="it-IT" sz="1800">
                <a:latin typeface="Arial"/>
                <a:ea typeface="Arial"/>
                <a:cs typeface="Arial"/>
                <a:sym typeface="Arial"/>
              </a:rPr>
              <a:t> minima nei loro </a:t>
            </a:r>
            <a:r>
              <a:rPr b="1" lang="it-IT" sz="1800">
                <a:latin typeface="Arial"/>
                <a:ea typeface="Arial"/>
                <a:cs typeface="Arial"/>
                <a:sym typeface="Arial"/>
              </a:rPr>
              <a:t>consigli di amministrazione</a:t>
            </a:r>
            <a:r>
              <a:rPr lang="it-IT" sz="1800">
                <a:latin typeface="Arial"/>
                <a:ea typeface="Arial"/>
                <a:cs typeface="Arial"/>
                <a:sym typeface="Arial"/>
              </a:rPr>
              <a:t>. </a:t>
            </a:r>
            <a:r>
              <a:rPr b="1" lang="it-IT" sz="1800">
                <a:latin typeface="Arial"/>
                <a:ea typeface="Arial"/>
                <a:cs typeface="Arial"/>
                <a:sym typeface="Arial"/>
              </a:rPr>
              <a:t>quote rosa</a:t>
            </a:r>
            <a:r>
              <a:rPr lang="it-IT" sz="1800">
                <a:latin typeface="Arial"/>
                <a:ea typeface="Arial"/>
                <a:cs typeface="Arial"/>
                <a:sym typeface="Arial"/>
              </a:rPr>
              <a:t>. </a:t>
            </a:r>
            <a:endParaRPr sz="1800">
              <a:latin typeface="Arial"/>
              <a:ea typeface="Arial"/>
              <a:cs typeface="Arial"/>
              <a:sym typeface="Arial"/>
            </a:endParaRPr>
          </a:p>
        </p:txBody>
      </p:sp>
      <p:sp>
        <p:nvSpPr>
          <p:cNvPr id="203" name="Google Shape;203;p7"/>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descr="Pietre in equilibrio su del legno" id="208" name="Google Shape;208;p8"/>
          <p:cNvPicPr preferRelativeResize="0"/>
          <p:nvPr/>
        </p:nvPicPr>
        <p:blipFill rotWithShape="1">
          <a:blip r:embed="rId3">
            <a:alphaModFix/>
          </a:blip>
          <a:srcRect b="0" l="0" r="0" t="0"/>
          <a:stretch/>
        </p:blipFill>
        <p:spPr>
          <a:xfrm>
            <a:off x="7749767" y="4387099"/>
            <a:ext cx="4532767" cy="2606968"/>
          </a:xfrm>
          <a:prstGeom prst="rect">
            <a:avLst/>
          </a:prstGeom>
          <a:noFill/>
          <a:ln>
            <a:noFill/>
          </a:ln>
        </p:spPr>
      </p:pic>
      <p:sp>
        <p:nvSpPr>
          <p:cNvPr id="209" name="Google Shape;209;p8"/>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Cenni storici</a:t>
            </a:r>
            <a:endParaRPr/>
          </a:p>
        </p:txBody>
      </p:sp>
      <p:sp>
        <p:nvSpPr>
          <p:cNvPr id="210" name="Google Shape;210;p8"/>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Le azioni positive</a:t>
            </a:r>
            <a:r>
              <a:rPr lang="it-IT" sz="1800">
                <a:latin typeface="Arial"/>
                <a:ea typeface="Arial"/>
                <a:cs typeface="Arial"/>
                <a:sym typeface="Arial"/>
              </a:rPr>
              <a:t>, secondo la legge 10 aprile 1991, n. 125, </a:t>
            </a:r>
            <a:r>
              <a:rPr b="1" lang="it-IT" sz="1800">
                <a:latin typeface="Arial"/>
                <a:ea typeface="Arial"/>
                <a:cs typeface="Arial"/>
                <a:sym typeface="Arial"/>
              </a:rPr>
              <a:t>sono misure finalizzate a rimuovere gli ostacoli che impediscono la piena uguaglianza tra donne e uomini nel mondo del lavoro e nella società</a:t>
            </a:r>
            <a:r>
              <a:rPr lang="it-IT" sz="1800">
                <a:latin typeface="Arial"/>
                <a:ea typeface="Arial"/>
                <a:cs typeface="Arial"/>
                <a:sym typeface="Arial"/>
              </a:rPr>
              <a:t>. La legge 125/1991, conosciuta anche come "Legge sulle azioni positive", è una normativa italiana che promuove politiche di parità di genere, attraverso l'introduzione di azioni mirate a favorire l'accesso delle donne a opportunità lavorative, la parità salariale e la rimozione di discriminazioni dirette o indirette nei confronti delle donne.</a:t>
            </a:r>
            <a:endParaRPr sz="1800">
              <a:latin typeface="Arial"/>
              <a:ea typeface="Arial"/>
              <a:cs typeface="Arial"/>
              <a:sym typeface="Arial"/>
            </a:endParaRPr>
          </a:p>
          <a:p>
            <a:pPr indent="0" lvl="0" marL="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a:p>
            <a:pPr indent="0" lvl="0" marL="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p:txBody>
      </p:sp>
      <p:sp>
        <p:nvSpPr>
          <p:cNvPr descr="Blocco in evidenza a sinistra" id="211" name="Google Shape;211;p8"/>
          <p:cNvSpPr/>
          <p:nvPr/>
        </p:nvSpPr>
        <p:spPr>
          <a:xfrm>
            <a:off x="431800" y="808325"/>
            <a:ext cx="2003582" cy="8055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212" name="Google Shape;212;p8"/>
          <p:cNvSpPr txBox="1"/>
          <p:nvPr>
            <p:ph idx="2" type="body"/>
          </p:nvPr>
        </p:nvSpPr>
        <p:spPr>
          <a:xfrm>
            <a:off x="418225" y="2768275"/>
            <a:ext cx="5472000" cy="35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In particolare prevedono</a:t>
            </a:r>
            <a:endParaRPr sz="1800">
              <a:latin typeface="Arial"/>
              <a:ea typeface="Arial"/>
              <a:cs typeface="Arial"/>
              <a:sym typeface="Arial"/>
            </a:endParaRPr>
          </a:p>
        </p:txBody>
      </p:sp>
      <p:sp>
        <p:nvSpPr>
          <p:cNvPr id="213" name="Google Shape;213;p8"/>
          <p:cNvSpPr txBox="1"/>
          <p:nvPr>
            <p:ph idx="3" type="body"/>
          </p:nvPr>
        </p:nvSpPr>
        <p:spPr>
          <a:xfrm>
            <a:off x="431800" y="3127071"/>
            <a:ext cx="5063100" cy="12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000"/>
              <a:buNone/>
            </a:pPr>
            <a:r>
              <a:rPr lang="it-IT" sz="1600">
                <a:latin typeface="Arial"/>
                <a:ea typeface="Arial"/>
                <a:cs typeface="Arial"/>
                <a:sym typeface="Arial"/>
              </a:rPr>
              <a:t>Misure di sostegno e incentivi per le imprese che attuano politiche di parità di trattamento e opportunità per le donne, come il miglioramento delle condizioni di lavoro, la promozione di conciliazione tra vita familiare e professionale, e la prevenzione della discriminazione</a:t>
            </a:r>
            <a:r>
              <a:rPr lang="it-IT" sz="1800">
                <a:latin typeface="Arial"/>
                <a:ea typeface="Arial"/>
                <a:cs typeface="Arial"/>
                <a:sym typeface="Arial"/>
              </a:rPr>
              <a:t>.</a:t>
            </a:r>
            <a:endParaRPr sz="1800">
              <a:latin typeface="Arial"/>
              <a:ea typeface="Arial"/>
              <a:cs typeface="Arial"/>
              <a:sym typeface="Arial"/>
            </a:endParaRPr>
          </a:p>
        </p:txBody>
      </p:sp>
      <p:cxnSp>
        <p:nvCxnSpPr>
          <p:cNvPr descr="Divisore diapositiva" id="214" name="Google Shape;214;p8"/>
          <p:cNvCxnSpPr/>
          <p:nvPr/>
        </p:nvCxnSpPr>
        <p:spPr>
          <a:xfrm>
            <a:off x="6209950" y="2321585"/>
            <a:ext cx="0" cy="241140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215" name="Google Shape;215;p8"/>
          <p:cNvSpPr/>
          <p:nvPr/>
        </p:nvSpPr>
        <p:spPr>
          <a:xfrm>
            <a:off x="431800" y="3033487"/>
            <a:ext cx="2578500" cy="7530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sp>
        <p:nvSpPr>
          <p:cNvPr id="216" name="Google Shape;216;p8"/>
          <p:cNvSpPr txBox="1"/>
          <p:nvPr>
            <p:ph idx="4" type="body"/>
          </p:nvPr>
        </p:nvSpPr>
        <p:spPr>
          <a:xfrm>
            <a:off x="404675" y="4774365"/>
            <a:ext cx="5499125" cy="35877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3F3F3F"/>
              </a:buClr>
              <a:buSzPts val="1600"/>
              <a:buNone/>
            </a:pPr>
            <a:r>
              <a:rPr b="0" lang="it-IT" sz="1600">
                <a:latin typeface="Arial"/>
                <a:ea typeface="Arial"/>
                <a:cs typeface="Arial"/>
                <a:sym typeface="Arial"/>
              </a:rPr>
              <a:t>La legge incoraggia l'introduzione di misure che promuovano la partecipazione delle donne al mercato del lavoro, in particolare in settori in cui sono sottorappresentate. Le azioni possono riguardare anche la formazione, l'orientamento professionale, e altre misure che riducano il divario tra uomini e donne in ambito lavorativo.</a:t>
            </a:r>
            <a:endParaRPr b="0" sz="1600">
              <a:latin typeface="Arial"/>
              <a:ea typeface="Arial"/>
              <a:cs typeface="Arial"/>
              <a:sym typeface="Arial"/>
            </a:endParaRPr>
          </a:p>
          <a:p>
            <a:pPr indent="0" lvl="0" marL="0" rtl="0" algn="l">
              <a:lnSpc>
                <a:spcPct val="90000"/>
              </a:lnSpc>
              <a:spcBef>
                <a:spcPts val="1000"/>
              </a:spcBef>
              <a:spcAft>
                <a:spcPts val="0"/>
              </a:spcAft>
              <a:buClr>
                <a:srgbClr val="3F3F3F"/>
              </a:buClr>
              <a:buSzPts val="2400"/>
              <a:buNone/>
            </a:pPr>
            <a:r>
              <a:t/>
            </a:r>
            <a:endParaRPr b="0"/>
          </a:p>
        </p:txBody>
      </p:sp>
      <p:sp>
        <p:nvSpPr>
          <p:cNvPr id="217" name="Google Shape;217;p8"/>
          <p:cNvSpPr txBox="1"/>
          <p:nvPr>
            <p:ph idx="5" type="body"/>
          </p:nvPr>
        </p:nvSpPr>
        <p:spPr>
          <a:xfrm>
            <a:off x="6014668" y="3163277"/>
            <a:ext cx="5472113" cy="2196041"/>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rgbClr val="3F3F3F"/>
              </a:buClr>
              <a:buSzPts val="1000"/>
              <a:buFont typeface="Noto Sans Symbols"/>
              <a:buChar char="∙"/>
            </a:pPr>
            <a:r>
              <a:rPr lang="it-IT" sz="1600">
                <a:latin typeface="Arial"/>
                <a:ea typeface="Arial"/>
                <a:cs typeface="Arial"/>
                <a:sym typeface="Arial"/>
              </a:rPr>
              <a:t>La legge 125/1991 ha rappresentato un passo importante per il riconoscimento e l'affermazione della parità di genere, in un periodo in cui le donne erano ancora molto penalizzate in termini di accesso al lavoro e di opportunità professionali</a:t>
            </a:r>
            <a:r>
              <a:rPr b="1" lang="it-IT" sz="1600">
                <a:latin typeface="Arial"/>
                <a:ea typeface="Arial"/>
                <a:cs typeface="Arial"/>
                <a:sym typeface="Arial"/>
              </a:rPr>
              <a:t>. Grazie a questa legge, il concetto di "azioni positive" si è esteso anche ad altri ambiti della vita sociale e lavorativa, mirando a superare le disuguaglianze di genere e a promuovere una partecipazione più equa delle donne nella società.</a:t>
            </a:r>
            <a:endParaRPr b="1" sz="16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descr="Immagine che contiene testo, schizzo, calligrafia, lettera&#10;&#10;Descrizione generata automaticamente" id="222" name="Google Shape;222;p10"/>
          <p:cNvPicPr preferRelativeResize="0"/>
          <p:nvPr/>
        </p:nvPicPr>
        <p:blipFill rotWithShape="1">
          <a:blip r:embed="rId3">
            <a:alphaModFix/>
          </a:blip>
          <a:srcRect b="0" l="0" r="0" t="0"/>
          <a:stretch/>
        </p:blipFill>
        <p:spPr>
          <a:xfrm>
            <a:off x="9777743" y="5621874"/>
            <a:ext cx="2414257" cy="1181477"/>
          </a:xfrm>
          <a:prstGeom prst="rect">
            <a:avLst/>
          </a:prstGeom>
          <a:noFill/>
          <a:ln>
            <a:noFill/>
          </a:ln>
          <a:effectLst>
            <a:outerShdw blurRad="190500" rotWithShape="0" algn="tl">
              <a:srgbClr val="000000">
                <a:alpha val="69803"/>
              </a:srgbClr>
            </a:outerShdw>
          </a:effectLst>
        </p:spPr>
      </p:pic>
      <p:sp>
        <p:nvSpPr>
          <p:cNvPr id="223" name="Google Shape;223;p10"/>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Articolo 3</a:t>
            </a:r>
            <a:endParaRPr/>
          </a:p>
        </p:txBody>
      </p:sp>
      <p:sp>
        <p:nvSpPr>
          <p:cNvPr id="224" name="Google Shape;224;p10"/>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highlight>
                  <a:srgbClr val="FFFF00"/>
                </a:highlight>
                <a:latin typeface="Arial"/>
                <a:ea typeface="Arial"/>
                <a:cs typeface="Arial"/>
                <a:sym typeface="Arial"/>
              </a:rPr>
              <a:t>Quindi, l'articolo 3 ci dice che la legge è uguale per tutti, e non si può discriminare nessuno in base alla sua etnia, religione, orientamento sessuale, condizioni economiche o politiche.</a:t>
            </a:r>
            <a:endParaRPr sz="1800">
              <a:latin typeface="Arial"/>
              <a:ea typeface="Arial"/>
              <a:cs typeface="Arial"/>
              <a:sym typeface="Arial"/>
            </a:endParaRPr>
          </a:p>
          <a:p>
            <a:pPr indent="0" lvl="0" marL="0" rtl="0" algn="l">
              <a:lnSpc>
                <a:spcPct val="115000"/>
              </a:lnSpc>
              <a:spcBef>
                <a:spcPts val="1800"/>
              </a:spcBef>
              <a:spcAft>
                <a:spcPts val="0"/>
              </a:spcAft>
              <a:buClr>
                <a:srgbClr val="3F3F3F"/>
              </a:buClr>
              <a:buSzPts val="1800"/>
              <a:buNone/>
            </a:pPr>
            <a:r>
              <a:rPr lang="it-IT" sz="1800">
                <a:latin typeface="Arial"/>
                <a:ea typeface="Arial"/>
                <a:cs typeface="Arial"/>
                <a:sym typeface="Arial"/>
              </a:rPr>
              <a:t>.</a:t>
            </a:r>
            <a:endParaRPr sz="1800">
              <a:latin typeface="Arial"/>
              <a:ea typeface="Arial"/>
              <a:cs typeface="Arial"/>
              <a:sym typeface="Arial"/>
            </a:endParaRPr>
          </a:p>
        </p:txBody>
      </p:sp>
      <p:sp>
        <p:nvSpPr>
          <p:cNvPr descr="Blocco in evidenza a sinistra" id="225" name="Google Shape;225;p10"/>
          <p:cNvSpPr/>
          <p:nvPr/>
        </p:nvSpPr>
        <p:spPr>
          <a:xfrm>
            <a:off x="420000" y="864156"/>
            <a:ext cx="1984175"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226" name="Google Shape;226;p10"/>
          <p:cNvSpPr txBox="1"/>
          <p:nvPr>
            <p:ph idx="2" type="body"/>
          </p:nvPr>
        </p:nvSpPr>
        <p:spPr>
          <a:xfrm>
            <a:off x="393705" y="1843707"/>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In altre parole, la Costituzione non si limita a dire che tutti sono uguali davanti alla legge, </a:t>
            </a:r>
            <a:r>
              <a:rPr b="1" lang="it-IT" sz="1800">
                <a:latin typeface="Arial"/>
                <a:ea typeface="Arial"/>
                <a:cs typeface="Arial"/>
                <a:sym typeface="Arial"/>
              </a:rPr>
              <a:t>ma ci dice che lo Stato deve fare tutto il possibile per fare in modo che ogni cittadino abbia davvero le stesse opportunità nella vita, rimuovendo le barriere che impediscono a una persona di essere veramente libera e uguale.</a:t>
            </a:r>
            <a:endParaRPr sz="1800">
              <a:latin typeface="Arial"/>
              <a:ea typeface="Arial"/>
              <a:cs typeface="Arial"/>
              <a:sym typeface="Arial"/>
            </a:endParaRPr>
          </a:p>
          <a:p>
            <a:pPr indent="0" lvl="0" marL="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p:txBody>
      </p:sp>
      <p:sp>
        <p:nvSpPr>
          <p:cNvPr id="227" name="Google Shape;227;p10"/>
          <p:cNvSpPr txBox="1"/>
          <p:nvPr>
            <p:ph idx="3" type="body"/>
          </p:nvPr>
        </p:nvSpPr>
        <p:spPr>
          <a:xfrm>
            <a:off x="202274" y="3910014"/>
            <a:ext cx="5472000"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b="1" lang="it-IT" sz="1800">
                <a:latin typeface="Arial"/>
                <a:ea typeface="Arial"/>
                <a:cs typeface="Arial"/>
                <a:sym typeface="Arial"/>
              </a:rPr>
              <a:t>Esempi di come lo Stato può rimuovere questi ostacoli</a:t>
            </a:r>
            <a:endParaRPr b="1">
              <a:latin typeface="Arial"/>
              <a:ea typeface="Arial"/>
              <a:cs typeface="Arial"/>
              <a:sym typeface="Arial"/>
            </a:endParaRPr>
          </a:p>
          <a:p>
            <a:pPr indent="-266700" lvl="0" marL="266700" rtl="0" algn="l">
              <a:lnSpc>
                <a:spcPct val="115000"/>
              </a:lnSpc>
              <a:spcBef>
                <a:spcPts val="1800"/>
              </a:spcBef>
              <a:spcAft>
                <a:spcPts val="0"/>
              </a:spcAft>
              <a:buClr>
                <a:srgbClr val="3F3F3F"/>
              </a:buClr>
              <a:buSzPts val="1400"/>
              <a:buChar char="•"/>
            </a:pPr>
            <a:r>
              <a:rPr lang="it-IT" sz="1400">
                <a:latin typeface="Arial"/>
                <a:ea typeface="Arial"/>
                <a:cs typeface="Arial"/>
                <a:sym typeface="Arial"/>
              </a:rPr>
              <a:t>Immaginate una persona che nasce in una famiglia povera e che non può permettersi di studiare in una buona scuola o andare all’università. In questo caso, non è che la legge discrimina questa persona, ma la sua condizione economica le impedisce di avere le stesse opportunità di altri che possono permettersi un'educazione di qualità.</a:t>
            </a:r>
            <a:endParaRPr sz="1400">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228" name="Google Shape;228;p10"/>
          <p:cNvCxnSpPr/>
          <p:nvPr/>
        </p:nvCxnSpPr>
        <p:spPr>
          <a:xfrm>
            <a:off x="6214265" y="1952070"/>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229" name="Google Shape;229;p10"/>
          <p:cNvSpPr/>
          <p:nvPr/>
        </p:nvSpPr>
        <p:spPr>
          <a:xfrm>
            <a:off x="6299887" y="2100317"/>
            <a:ext cx="1984175" cy="11482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230" name="Google Shape;230;p10"/>
          <p:cNvSpPr txBox="1"/>
          <p:nvPr>
            <p:ph idx="4" type="body"/>
          </p:nvPr>
        </p:nvSpPr>
        <p:spPr>
          <a:xfrm>
            <a:off x="6300000" y="2443459"/>
            <a:ext cx="5472000" cy="35877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2400"/>
              <a:buNone/>
            </a:pPr>
            <a:r>
              <a:rPr lang="it-IT"/>
              <a:t>Come interviene lo Stato?</a:t>
            </a:r>
            <a:endParaRPr/>
          </a:p>
        </p:txBody>
      </p:sp>
      <p:sp>
        <p:nvSpPr>
          <p:cNvPr id="231" name="Google Shape;231;p10"/>
          <p:cNvSpPr txBox="1"/>
          <p:nvPr>
            <p:ph idx="5" type="body"/>
          </p:nvPr>
        </p:nvSpPr>
        <p:spPr>
          <a:xfrm>
            <a:off x="6299887" y="2947459"/>
            <a:ext cx="5472113" cy="2196041"/>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Lo Stato, quindi, deve intervenire in vari modi per aiutare questa persona, per esempio:</a:t>
            </a:r>
            <a:endParaRPr sz="18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lang="it-IT" sz="1800">
                <a:latin typeface="Arial"/>
                <a:ea typeface="Arial"/>
                <a:cs typeface="Arial"/>
                <a:sym typeface="Arial"/>
              </a:rPr>
              <a:t>Offrendo borse di studio per studenti meritevoli ma che non hanno risorse economiche.</a:t>
            </a:r>
            <a:endParaRPr sz="18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lang="it-IT" sz="1800">
                <a:latin typeface="Arial"/>
                <a:ea typeface="Arial"/>
                <a:cs typeface="Arial"/>
                <a:sym typeface="Arial"/>
              </a:rPr>
              <a:t>Fornendo servizi di welfare (come sussidi o aiuti economici) per le famiglie più povere, così che i figli di quelle famiglie possano accedere a una buona istruzione.</a:t>
            </a:r>
            <a:endParaRPr sz="1800">
              <a:latin typeface="Arial"/>
              <a:ea typeface="Arial"/>
              <a:cs typeface="Arial"/>
              <a:sym typeface="Arial"/>
            </a:endParaRPr>
          </a:p>
        </p:txBody>
      </p:sp>
      <p:sp>
        <p:nvSpPr>
          <p:cNvPr id="232" name="Google Shape;232;p10"/>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11"/>
          <p:cNvPicPr preferRelativeResize="0"/>
          <p:nvPr>
            <p:ph idx="2" type="pic"/>
          </p:nvPr>
        </p:nvPicPr>
        <p:blipFill rotWithShape="1">
          <a:blip r:embed="rId3">
            <a:alphaModFix/>
          </a:blip>
          <a:srcRect b="0" l="0" r="0" t="0"/>
          <a:stretch/>
        </p:blipFill>
        <p:spPr>
          <a:xfrm>
            <a:off x="6659350" y="690360"/>
            <a:ext cx="6096000" cy="6390916"/>
          </a:xfrm>
          <a:prstGeom prst="rect">
            <a:avLst/>
          </a:prstGeom>
          <a:solidFill>
            <a:srgbClr val="F2F2F2"/>
          </a:solidFill>
          <a:ln>
            <a:noFill/>
          </a:ln>
        </p:spPr>
      </p:pic>
      <p:sp>
        <p:nvSpPr>
          <p:cNvPr id="238" name="Google Shape;238;p11"/>
          <p:cNvSpPr txBox="1"/>
          <p:nvPr>
            <p:ph type="title"/>
          </p:nvPr>
        </p:nvSpPr>
        <p:spPr>
          <a:xfrm>
            <a:off x="164571" y="430462"/>
            <a:ext cx="6641900" cy="1124345"/>
          </a:xfrm>
          <a:prstGeom prst="rect">
            <a:avLst/>
          </a:prstGeom>
          <a:solidFill>
            <a:srgbClr val="F2F2F2"/>
          </a:solidFill>
          <a:ln>
            <a:noFill/>
          </a:ln>
        </p:spPr>
        <p:txBody>
          <a:bodyPr anchorCtr="0" anchor="ctr" bIns="180000" lIns="180000" spcFirstLastPara="1" rIns="180000" wrap="square" tIns="180000">
            <a:noAutofit/>
          </a:bodyPr>
          <a:lstStyle/>
          <a:p>
            <a:pPr indent="0" lvl="0" marL="0" rtl="0" algn="l">
              <a:lnSpc>
                <a:spcPct val="90000"/>
              </a:lnSpc>
              <a:spcBef>
                <a:spcPts val="0"/>
              </a:spcBef>
              <a:spcAft>
                <a:spcPts val="0"/>
              </a:spcAft>
              <a:buClr>
                <a:srgbClr val="3F3F3F"/>
              </a:buClr>
              <a:buSzPts val="6000"/>
              <a:buFont typeface="Corbel"/>
              <a:buNone/>
            </a:pPr>
            <a:r>
              <a:rPr lang="it-IT" sz="6000"/>
              <a:t>Sfide attuali</a:t>
            </a:r>
            <a:endParaRPr/>
          </a:p>
        </p:txBody>
      </p:sp>
      <p:sp>
        <p:nvSpPr>
          <p:cNvPr id="239" name="Google Shape;239;p11"/>
          <p:cNvSpPr txBox="1"/>
          <p:nvPr>
            <p:ph idx="1" type="body"/>
          </p:nvPr>
        </p:nvSpPr>
        <p:spPr>
          <a:xfrm>
            <a:off x="512127" y="1564540"/>
            <a:ext cx="6641626" cy="752548"/>
          </a:xfrm>
          <a:prstGeom prst="rect">
            <a:avLst/>
          </a:prstGeom>
          <a:solidFill>
            <a:schemeClr val="dk1">
              <a:alpha val="80000"/>
            </a:schemeClr>
          </a:solidFill>
          <a:ln>
            <a:noFill/>
          </a:ln>
        </p:spPr>
        <p:txBody>
          <a:bodyPr anchorCtr="0" anchor="t" bIns="180000" lIns="180000" spcFirstLastPara="1" rIns="180000" wrap="square" tIns="180000">
            <a:noAutofit/>
          </a:bodyPr>
          <a:lstStyle/>
          <a:p>
            <a:pPr indent="0" lvl="0" marL="0" rtl="0" algn="l">
              <a:lnSpc>
                <a:spcPct val="90000"/>
              </a:lnSpc>
              <a:spcBef>
                <a:spcPts val="0"/>
              </a:spcBef>
              <a:spcAft>
                <a:spcPts val="0"/>
              </a:spcAft>
              <a:buClr>
                <a:schemeClr val="lt1"/>
              </a:buClr>
              <a:buSzPts val="1400"/>
              <a:buNone/>
            </a:pPr>
            <a:r>
              <a:rPr lang="it-IT" sz="1400">
                <a:latin typeface="Arial"/>
                <a:ea typeface="Arial"/>
                <a:cs typeface="Arial"/>
                <a:sym typeface="Arial"/>
              </a:rPr>
              <a:t>Oggi, nonostante i progressi, l'Italia, come molti altri paesi, affronta ancora sfide legate alla </a:t>
            </a:r>
            <a:r>
              <a:rPr b="1" lang="it-IT" sz="1400">
                <a:latin typeface="Arial"/>
                <a:ea typeface="Arial"/>
                <a:cs typeface="Arial"/>
                <a:sym typeface="Arial"/>
              </a:rPr>
              <a:t>discriminazione</a:t>
            </a:r>
            <a:r>
              <a:rPr lang="it-IT" sz="1400">
                <a:latin typeface="Arial"/>
                <a:ea typeface="Arial"/>
                <a:cs typeface="Arial"/>
                <a:sym typeface="Arial"/>
              </a:rPr>
              <a:t>, sia </a:t>
            </a:r>
            <a:r>
              <a:rPr b="1" lang="it-IT" sz="1400">
                <a:latin typeface="Arial"/>
                <a:ea typeface="Arial"/>
                <a:cs typeface="Arial"/>
                <a:sym typeface="Arial"/>
              </a:rPr>
              <a:t>di genere</a:t>
            </a:r>
            <a:r>
              <a:rPr lang="it-IT" sz="1400">
                <a:latin typeface="Arial"/>
                <a:ea typeface="Arial"/>
                <a:cs typeface="Arial"/>
                <a:sym typeface="Arial"/>
              </a:rPr>
              <a:t> che </a:t>
            </a:r>
            <a:r>
              <a:rPr b="1" lang="it-IT" sz="1400">
                <a:latin typeface="Arial"/>
                <a:ea typeface="Arial"/>
                <a:cs typeface="Arial"/>
                <a:sym typeface="Arial"/>
              </a:rPr>
              <a:t>etnica</a:t>
            </a:r>
            <a:r>
              <a:rPr lang="it-IT" sz="1400">
                <a:latin typeface="Arial"/>
                <a:ea typeface="Arial"/>
                <a:cs typeface="Arial"/>
                <a:sym typeface="Arial"/>
              </a:rPr>
              <a:t>, </a:t>
            </a:r>
            <a:r>
              <a:rPr b="1" lang="it-IT" sz="1400">
                <a:latin typeface="Arial"/>
                <a:ea typeface="Arial"/>
                <a:cs typeface="Arial"/>
                <a:sym typeface="Arial"/>
              </a:rPr>
              <a:t>razziale</a:t>
            </a:r>
            <a:r>
              <a:rPr lang="it-IT" sz="1400">
                <a:latin typeface="Arial"/>
                <a:ea typeface="Arial"/>
                <a:cs typeface="Arial"/>
                <a:sym typeface="Arial"/>
              </a:rPr>
              <a:t>, </a:t>
            </a:r>
            <a:r>
              <a:rPr b="1" lang="it-IT" sz="1400">
                <a:latin typeface="Arial"/>
                <a:ea typeface="Arial"/>
                <a:cs typeface="Arial"/>
                <a:sym typeface="Arial"/>
              </a:rPr>
              <a:t>sociale</a:t>
            </a:r>
            <a:r>
              <a:rPr lang="it-IT" sz="1400">
                <a:latin typeface="Arial"/>
                <a:ea typeface="Arial"/>
                <a:cs typeface="Arial"/>
                <a:sym typeface="Arial"/>
              </a:rPr>
              <a:t> o </a:t>
            </a:r>
            <a:r>
              <a:rPr b="1" lang="it-IT" sz="1400">
                <a:latin typeface="Arial"/>
                <a:ea typeface="Arial"/>
                <a:cs typeface="Arial"/>
                <a:sym typeface="Arial"/>
              </a:rPr>
              <a:t>legata all'orientamento sessuale</a:t>
            </a:r>
            <a:endParaRPr sz="1400"/>
          </a:p>
        </p:txBody>
      </p:sp>
      <p:sp>
        <p:nvSpPr>
          <p:cNvPr id="240" name="Google Shape;240;p11"/>
          <p:cNvSpPr txBox="1"/>
          <p:nvPr>
            <p:ph idx="3" type="body"/>
          </p:nvPr>
        </p:nvSpPr>
        <p:spPr>
          <a:xfrm>
            <a:off x="512127" y="2540867"/>
            <a:ext cx="5472000" cy="2428351"/>
          </a:xfrm>
          <a:prstGeom prst="rect">
            <a:avLst/>
          </a:prstGeom>
          <a:noFill/>
          <a:ln>
            <a:noFill/>
          </a:ln>
        </p:spPr>
        <p:txBody>
          <a:bodyPr anchorCtr="0" anchor="t" bIns="0" lIns="0" spcFirstLastPara="1" rIns="0" wrap="square" tIns="0">
            <a:noAutofit/>
          </a:bodyPr>
          <a:lstStyle/>
          <a:p>
            <a:pPr indent="-342900" lvl="0" marL="342900" rtl="0" algn="l">
              <a:lnSpc>
                <a:spcPct val="115000"/>
              </a:lnSpc>
              <a:spcBef>
                <a:spcPts val="0"/>
              </a:spcBef>
              <a:spcAft>
                <a:spcPts val="0"/>
              </a:spcAft>
              <a:buClr>
                <a:srgbClr val="3F3F3F"/>
              </a:buClr>
              <a:buSzPts val="1000"/>
              <a:buFont typeface="Noto Sans Symbols"/>
              <a:buChar char="∙"/>
            </a:pPr>
            <a:r>
              <a:rPr b="1" lang="it-IT" sz="1600">
                <a:latin typeface="Arial"/>
                <a:ea typeface="Arial"/>
                <a:cs typeface="Arial"/>
                <a:sym typeface="Arial"/>
              </a:rPr>
              <a:t>Lotta contro il sessismo</a:t>
            </a:r>
            <a:r>
              <a:rPr lang="it-IT" sz="1600">
                <a:latin typeface="Arial"/>
                <a:ea typeface="Arial"/>
                <a:cs typeface="Arial"/>
                <a:sym typeface="Arial"/>
              </a:rPr>
              <a:t> e la </a:t>
            </a:r>
            <a:r>
              <a:rPr b="1" lang="it-IT" sz="1600">
                <a:latin typeface="Arial"/>
                <a:ea typeface="Arial"/>
                <a:cs typeface="Arial"/>
                <a:sym typeface="Arial"/>
              </a:rPr>
              <a:t>violenza domestica</a:t>
            </a:r>
            <a:r>
              <a:rPr lang="it-IT" sz="1600">
                <a:latin typeface="Arial"/>
                <a:ea typeface="Arial"/>
                <a:cs typeface="Arial"/>
                <a:sym typeface="Arial"/>
              </a:rPr>
              <a:t>: Sebbene siano stati fatti passi avanti, c'è ancora molta strada da fare per garantire che le donne, e le vittime di violenza, ricevano la protezione e il rispetto che meritano.</a:t>
            </a:r>
            <a:endParaRPr sz="1600">
              <a:latin typeface="Arial"/>
              <a:ea typeface="Arial"/>
              <a:cs typeface="Arial"/>
              <a:sym typeface="Arial"/>
            </a:endParaRPr>
          </a:p>
          <a:p>
            <a:pPr indent="-342900" lvl="0" marL="342900" rtl="0" algn="l">
              <a:lnSpc>
                <a:spcPct val="115000"/>
              </a:lnSpc>
              <a:spcBef>
                <a:spcPts val="1800"/>
              </a:spcBef>
              <a:spcAft>
                <a:spcPts val="0"/>
              </a:spcAft>
              <a:buClr>
                <a:srgbClr val="3F3F3F"/>
              </a:buClr>
              <a:buSzPts val="1000"/>
              <a:buFont typeface="Noto Sans Symbols"/>
              <a:buChar char="∙"/>
            </a:pPr>
            <a:r>
              <a:rPr b="1" lang="it-IT" sz="1600">
                <a:latin typeface="Arial"/>
                <a:ea typeface="Arial"/>
                <a:cs typeface="Arial"/>
                <a:sym typeface="Arial"/>
              </a:rPr>
              <a:t>Parità di opportunità nel mondo del lavoro</a:t>
            </a:r>
            <a:r>
              <a:rPr lang="it-IT" sz="1600">
                <a:latin typeface="Arial"/>
                <a:ea typeface="Arial"/>
                <a:cs typeface="Arial"/>
                <a:sym typeface="Arial"/>
              </a:rPr>
              <a:t>: la </a:t>
            </a:r>
            <a:r>
              <a:rPr b="1" lang="it-IT" sz="1600">
                <a:latin typeface="Arial"/>
                <a:ea typeface="Arial"/>
                <a:cs typeface="Arial"/>
                <a:sym typeface="Arial"/>
              </a:rPr>
              <a:t>disparità salariale</a:t>
            </a:r>
            <a:r>
              <a:rPr lang="it-IT" sz="1600">
                <a:latin typeface="Arial"/>
                <a:ea typeface="Arial"/>
                <a:cs typeface="Arial"/>
                <a:sym typeface="Arial"/>
              </a:rPr>
              <a:t> tra uomini e donne continua a essere un problema in molte professioni, e le </a:t>
            </a:r>
            <a:r>
              <a:rPr b="1" lang="it-IT" sz="1600">
                <a:latin typeface="Arial"/>
                <a:ea typeface="Arial"/>
                <a:cs typeface="Arial"/>
                <a:sym typeface="Arial"/>
              </a:rPr>
              <a:t>cariche di leadership</a:t>
            </a:r>
            <a:r>
              <a:rPr lang="it-IT" sz="1600">
                <a:latin typeface="Arial"/>
                <a:ea typeface="Arial"/>
                <a:cs typeface="Arial"/>
                <a:sym typeface="Arial"/>
              </a:rPr>
              <a:t> sono ancora dominate dagli uomini. </a:t>
            </a:r>
            <a:endParaRPr sz="16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600"/>
              <a:buChar char="•"/>
            </a:pPr>
            <a:r>
              <a:rPr lang="it-IT" sz="1600">
                <a:latin typeface="Arial"/>
                <a:ea typeface="Arial"/>
                <a:cs typeface="Arial"/>
                <a:sym typeface="Arial"/>
              </a:rPr>
              <a:t>Tutte le persone devono essere trattate in modo </a:t>
            </a:r>
            <a:r>
              <a:rPr b="1" lang="it-IT" sz="1600">
                <a:latin typeface="Arial"/>
                <a:ea typeface="Arial"/>
                <a:cs typeface="Arial"/>
                <a:sym typeface="Arial"/>
              </a:rPr>
              <a:t>equo</a:t>
            </a:r>
            <a:r>
              <a:rPr lang="it-IT" sz="1600">
                <a:latin typeface="Arial"/>
                <a:ea typeface="Arial"/>
                <a:cs typeface="Arial"/>
                <a:sym typeface="Arial"/>
              </a:rPr>
              <a:t> e </a:t>
            </a:r>
            <a:r>
              <a:rPr b="1" lang="it-IT" sz="1600">
                <a:latin typeface="Arial"/>
                <a:ea typeface="Arial"/>
                <a:cs typeface="Arial"/>
                <a:sym typeface="Arial"/>
              </a:rPr>
              <a:t>giusto</a:t>
            </a:r>
            <a:r>
              <a:rPr lang="it-IT" sz="1600">
                <a:latin typeface="Arial"/>
                <a:ea typeface="Arial"/>
                <a:cs typeface="Arial"/>
                <a:sym typeface="Arial"/>
              </a:rPr>
              <a:t> e che a tutti devono essere offerte </a:t>
            </a:r>
            <a:r>
              <a:rPr b="1" lang="it-IT" sz="1600">
                <a:latin typeface="Arial"/>
                <a:ea typeface="Arial"/>
                <a:cs typeface="Arial"/>
                <a:sym typeface="Arial"/>
              </a:rPr>
              <a:t>le stesse possibilità</a:t>
            </a:r>
            <a:r>
              <a:rPr lang="it-IT" sz="1600">
                <a:latin typeface="Arial"/>
                <a:ea typeface="Arial"/>
                <a:cs typeface="Arial"/>
                <a:sym typeface="Arial"/>
              </a:rPr>
              <a:t> di successo, indipendentemente dalla loro origine o caratteristiche personali.</a:t>
            </a:r>
            <a:endParaRPr/>
          </a:p>
          <a:p>
            <a:pPr indent="-152400" lvl="0" marL="266700" rtl="0" algn="l">
              <a:lnSpc>
                <a:spcPct val="90000"/>
              </a:lnSpc>
              <a:spcBef>
                <a:spcPts val="1800"/>
              </a:spcBef>
              <a:spcAft>
                <a:spcPts val="0"/>
              </a:spcAft>
              <a:buClr>
                <a:srgbClr val="3F3F3F"/>
              </a:buClr>
              <a:buSzPts val="1800"/>
              <a:buNone/>
            </a:pPr>
            <a:r>
              <a:t/>
            </a:r>
            <a:endParaRPr/>
          </a:p>
        </p:txBody>
      </p:sp>
      <p:sp>
        <p:nvSpPr>
          <p:cNvPr id="241" name="Google Shape;241;p11"/>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2"/>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Tipi di discriminazione</a:t>
            </a:r>
            <a:endParaRPr/>
          </a:p>
        </p:txBody>
      </p:sp>
      <p:sp>
        <p:nvSpPr>
          <p:cNvPr id="247" name="Google Shape;247;p12"/>
          <p:cNvSpPr txBox="1"/>
          <p:nvPr>
            <p:ph idx="1" type="body"/>
          </p:nvPr>
        </p:nvSpPr>
        <p:spPr>
          <a:xfrm>
            <a:off x="318784" y="1499160"/>
            <a:ext cx="11339513" cy="360000"/>
          </a:xfrm>
          <a:prstGeom prst="rect">
            <a:avLst/>
          </a:prstGeom>
          <a:noFill/>
          <a:ln>
            <a:noFill/>
          </a:ln>
        </p:spPr>
        <p:txBody>
          <a:bodyPr anchorCtr="0" anchor="t" bIns="0" lIns="0" spcFirstLastPara="1" rIns="0" wrap="square" tIns="0">
            <a:noAutofit/>
          </a:bodyPr>
          <a:lstStyle/>
          <a:p>
            <a:pPr indent="-285750" lvl="0" marL="285750" rtl="0" algn="l">
              <a:lnSpc>
                <a:spcPct val="115000"/>
              </a:lnSpc>
              <a:spcBef>
                <a:spcPts val="0"/>
              </a:spcBef>
              <a:spcAft>
                <a:spcPts val="0"/>
              </a:spcAft>
              <a:buClr>
                <a:srgbClr val="3F3F3F"/>
              </a:buClr>
              <a:buSzPts val="1800"/>
              <a:buFont typeface="Arial"/>
              <a:buChar char="•"/>
            </a:pPr>
            <a:r>
              <a:rPr b="1" lang="it-IT" sz="1800">
                <a:latin typeface="Arial"/>
                <a:ea typeface="Arial"/>
                <a:cs typeface="Arial"/>
                <a:sym typeface="Arial"/>
              </a:rPr>
              <a:t>Discriminazione di genere</a:t>
            </a:r>
            <a:endParaRPr/>
          </a:p>
          <a:p>
            <a:pPr indent="-285750" lvl="0" marL="285750" rtl="0" algn="l">
              <a:lnSpc>
                <a:spcPct val="115000"/>
              </a:lnSpc>
              <a:spcBef>
                <a:spcPts val="1800"/>
              </a:spcBef>
              <a:spcAft>
                <a:spcPts val="0"/>
              </a:spcAft>
              <a:buClr>
                <a:srgbClr val="3F3F3F"/>
              </a:buClr>
              <a:buSzPts val="1800"/>
              <a:buFont typeface="Arial"/>
              <a:buChar char="•"/>
            </a:pPr>
            <a:r>
              <a:rPr b="1" lang="it-IT" sz="1800">
                <a:latin typeface="Arial"/>
                <a:ea typeface="Arial"/>
                <a:cs typeface="Arial"/>
                <a:sym typeface="Arial"/>
              </a:rPr>
              <a:t>Discriminazione etnica e razziale</a:t>
            </a:r>
            <a:endParaRPr b="1">
              <a:latin typeface="Arial"/>
              <a:ea typeface="Arial"/>
              <a:cs typeface="Arial"/>
              <a:sym typeface="Arial"/>
            </a:endParaRPr>
          </a:p>
          <a:p>
            <a:pPr indent="-285750" lvl="0" marL="285750" rtl="0" algn="l">
              <a:lnSpc>
                <a:spcPct val="115000"/>
              </a:lnSpc>
              <a:spcBef>
                <a:spcPts val="1800"/>
              </a:spcBef>
              <a:spcAft>
                <a:spcPts val="0"/>
              </a:spcAft>
              <a:buClr>
                <a:srgbClr val="3F3F3F"/>
              </a:buClr>
              <a:buSzPts val="1800"/>
              <a:buFont typeface="Arial"/>
              <a:buChar char="•"/>
            </a:pPr>
            <a:r>
              <a:rPr b="1" lang="it-IT" sz="1800">
                <a:latin typeface="Arial"/>
                <a:ea typeface="Arial"/>
                <a:cs typeface="Arial"/>
                <a:sym typeface="Arial"/>
              </a:rPr>
              <a:t>Discriminazione basata sull'orientamento sessuale</a:t>
            </a:r>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0" lvl="0" marL="0" rtl="0" algn="l">
              <a:lnSpc>
                <a:spcPct val="115000"/>
              </a:lnSpc>
              <a:spcBef>
                <a:spcPts val="1800"/>
              </a:spcBef>
              <a:spcAft>
                <a:spcPts val="0"/>
              </a:spcAft>
              <a:buNone/>
            </a:pPr>
            <a:r>
              <a:t/>
            </a:r>
            <a:endParaRPr sz="1800">
              <a:latin typeface="Arial"/>
              <a:ea typeface="Arial"/>
              <a:cs typeface="Arial"/>
              <a:sym typeface="Arial"/>
            </a:endParaRPr>
          </a:p>
        </p:txBody>
      </p:sp>
      <p:sp>
        <p:nvSpPr>
          <p:cNvPr descr="Blocco in evidenza a sinistra" id="248" name="Google Shape;248;p12"/>
          <p:cNvSpPr/>
          <p:nvPr/>
        </p:nvSpPr>
        <p:spPr>
          <a:xfrm>
            <a:off x="431800" y="898090"/>
            <a:ext cx="1984175" cy="11482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249" name="Google Shape;249;p12"/>
          <p:cNvSpPr txBox="1"/>
          <p:nvPr>
            <p:ph idx="2" type="body"/>
          </p:nvPr>
        </p:nvSpPr>
        <p:spPr>
          <a:xfrm>
            <a:off x="318784" y="3069000"/>
            <a:ext cx="5472000" cy="360000"/>
          </a:xfrm>
          <a:prstGeom prst="rect">
            <a:avLst/>
          </a:prstGeom>
          <a:noFill/>
          <a:ln>
            <a:noFill/>
          </a:ln>
        </p:spPr>
        <p:txBody>
          <a:bodyPr anchorCtr="0" anchor="t" bIns="0" lIns="0" spcFirstLastPara="1" rIns="0" wrap="square" tIns="0">
            <a:noAutofit/>
          </a:bodyPr>
          <a:lstStyle/>
          <a:p>
            <a:pPr indent="-285750" lvl="0" marL="285750" rtl="0" algn="l">
              <a:lnSpc>
                <a:spcPct val="115000"/>
              </a:lnSpc>
              <a:spcBef>
                <a:spcPts val="0"/>
              </a:spcBef>
              <a:spcAft>
                <a:spcPts val="0"/>
              </a:spcAft>
              <a:buClr>
                <a:srgbClr val="3F3F3F"/>
              </a:buClr>
              <a:buSzPts val="1800"/>
              <a:buFont typeface="Arial"/>
              <a:buChar char="•"/>
            </a:pPr>
            <a:r>
              <a:rPr b="1" lang="it-IT" sz="1800">
                <a:latin typeface="Arial"/>
                <a:ea typeface="Arial"/>
                <a:cs typeface="Arial"/>
                <a:sym typeface="Arial"/>
              </a:rPr>
              <a:t>Discriminazione basata sullo stato socioeconomico</a:t>
            </a:r>
            <a:endParaRPr/>
          </a:p>
          <a:p>
            <a:pPr indent="-285750" lvl="0" marL="285750" rtl="0" algn="l">
              <a:lnSpc>
                <a:spcPct val="115000"/>
              </a:lnSpc>
              <a:spcBef>
                <a:spcPts val="1800"/>
              </a:spcBef>
              <a:spcAft>
                <a:spcPts val="0"/>
              </a:spcAft>
              <a:buClr>
                <a:srgbClr val="3F3F3F"/>
              </a:buClr>
              <a:buSzPts val="1800"/>
              <a:buFont typeface="Arial"/>
              <a:buChar char="•"/>
            </a:pPr>
            <a:r>
              <a:rPr b="1" lang="it-IT" sz="1800">
                <a:latin typeface="Arial"/>
                <a:ea typeface="Arial"/>
                <a:cs typeface="Arial"/>
                <a:sym typeface="Arial"/>
              </a:rPr>
              <a:t>Discriminazione legata alla disabilità</a:t>
            </a:r>
            <a:endParaRPr b="1" sz="1800">
              <a:latin typeface="Arial"/>
              <a:ea typeface="Arial"/>
              <a:cs typeface="Arial"/>
              <a:sym typeface="Arial"/>
            </a:endParaRPr>
          </a:p>
          <a:p>
            <a:pPr indent="-285750" lvl="0" marL="285750" rtl="0" algn="l">
              <a:lnSpc>
                <a:spcPct val="115000"/>
              </a:lnSpc>
              <a:spcBef>
                <a:spcPts val="1800"/>
              </a:spcBef>
              <a:spcAft>
                <a:spcPts val="0"/>
              </a:spcAft>
              <a:buSzPts val="1800"/>
              <a:buFont typeface="Arial"/>
              <a:buChar char="•"/>
            </a:pPr>
            <a:r>
              <a:rPr lang="it-IT" sz="1800">
                <a:latin typeface="Arial"/>
                <a:ea typeface="Arial"/>
                <a:cs typeface="Arial"/>
                <a:sym typeface="Arial"/>
              </a:rPr>
              <a:t>Discriminazioni legate all’aspetto fisico</a:t>
            </a:r>
            <a:endParaRPr sz="1800">
              <a:latin typeface="Arial"/>
              <a:ea typeface="Arial"/>
              <a:cs typeface="Arial"/>
              <a:sym typeface="Arial"/>
            </a:endParaRPr>
          </a:p>
        </p:txBody>
      </p:sp>
      <p:cxnSp>
        <p:nvCxnSpPr>
          <p:cNvPr descr="Divisore diapositiva" id="250" name="Google Shape;250;p12"/>
          <p:cNvCxnSpPr/>
          <p:nvPr/>
        </p:nvCxnSpPr>
        <p:spPr>
          <a:xfrm>
            <a:off x="6365350" y="2363035"/>
            <a:ext cx="0" cy="241140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251" name="Google Shape;251;p12"/>
          <p:cNvSpPr/>
          <p:nvPr/>
        </p:nvSpPr>
        <p:spPr>
          <a:xfrm>
            <a:off x="6227459" y="1097997"/>
            <a:ext cx="1984175" cy="11482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252" name="Google Shape;252;p12"/>
          <p:cNvSpPr txBox="1"/>
          <p:nvPr>
            <p:ph idx="4" type="body"/>
          </p:nvPr>
        </p:nvSpPr>
        <p:spPr>
          <a:xfrm>
            <a:off x="5630044" y="1313738"/>
            <a:ext cx="5472000" cy="358775"/>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3F3F3F"/>
              </a:buClr>
              <a:buSzPts val="2800"/>
              <a:buNone/>
            </a:pPr>
            <a:r>
              <a:rPr b="1" lang="it-IT" sz="2800">
                <a:latin typeface="Arial"/>
                <a:ea typeface="Arial"/>
                <a:cs typeface="Arial"/>
                <a:sym typeface="Arial"/>
              </a:rPr>
              <a:t>Esistono</a:t>
            </a:r>
            <a:r>
              <a:rPr b="1" lang="it-IT" sz="1800">
                <a:latin typeface="Arial"/>
                <a:ea typeface="Arial"/>
                <a:cs typeface="Arial"/>
                <a:sym typeface="Arial"/>
              </a:rPr>
              <a:t> </a:t>
            </a:r>
            <a:r>
              <a:rPr b="1" lang="it-IT" sz="2800">
                <a:latin typeface="Arial"/>
                <a:ea typeface="Arial"/>
                <a:cs typeface="Arial"/>
                <a:sym typeface="Arial"/>
              </a:rPr>
              <a:t>due tipi di discri</a:t>
            </a:r>
            <a:r>
              <a:rPr lang="it-IT" sz="2800">
                <a:latin typeface="Arial"/>
                <a:ea typeface="Arial"/>
                <a:cs typeface="Arial"/>
                <a:sym typeface="Arial"/>
              </a:rPr>
              <a:t>minazione</a:t>
            </a:r>
            <a:endParaRPr sz="2800"/>
          </a:p>
        </p:txBody>
      </p:sp>
      <p:sp>
        <p:nvSpPr>
          <p:cNvPr id="253" name="Google Shape;253;p12"/>
          <p:cNvSpPr txBox="1"/>
          <p:nvPr>
            <p:ph idx="5" type="body"/>
          </p:nvPr>
        </p:nvSpPr>
        <p:spPr>
          <a:xfrm>
            <a:off x="6298575" y="2206575"/>
            <a:ext cx="5269500" cy="2159100"/>
          </a:xfrm>
          <a:prstGeom prst="rect">
            <a:avLst/>
          </a:prstGeom>
          <a:noFill/>
          <a:ln>
            <a:noFill/>
          </a:ln>
        </p:spPr>
        <p:txBody>
          <a:bodyPr anchorCtr="0" anchor="t" bIns="0" lIns="0" spcFirstLastPara="1" rIns="0" wrap="square" tIns="0">
            <a:noAutofit/>
          </a:bodyPr>
          <a:lstStyle/>
          <a:p>
            <a:pPr indent="-266700" lvl="0" marL="266700" rtl="0" algn="ctr">
              <a:lnSpc>
                <a:spcPct val="115000"/>
              </a:lnSpc>
              <a:spcBef>
                <a:spcPts val="0"/>
              </a:spcBef>
              <a:spcAft>
                <a:spcPts val="0"/>
              </a:spcAft>
              <a:buClr>
                <a:srgbClr val="3F3F3F"/>
              </a:buClr>
              <a:buSzPts val="2800"/>
              <a:buChar char="•"/>
            </a:pPr>
            <a:r>
              <a:rPr b="1" lang="it-IT" sz="2800">
                <a:highlight>
                  <a:srgbClr val="FFFF00"/>
                </a:highlight>
                <a:latin typeface="Arial"/>
                <a:ea typeface="Arial"/>
                <a:cs typeface="Arial"/>
                <a:sym typeface="Arial"/>
              </a:rPr>
              <a:t>DISCRIMINAZIONE DIRETTA</a:t>
            </a:r>
            <a:endParaRPr sz="2800">
              <a:latin typeface="Arial"/>
              <a:ea typeface="Arial"/>
              <a:cs typeface="Arial"/>
              <a:sym typeface="Arial"/>
            </a:endParaRPr>
          </a:p>
          <a:p>
            <a:pPr indent="-266700" lvl="0" marL="266700" rtl="0" algn="ctr">
              <a:lnSpc>
                <a:spcPct val="115000"/>
              </a:lnSpc>
              <a:spcBef>
                <a:spcPts val="1800"/>
              </a:spcBef>
              <a:spcAft>
                <a:spcPts val="0"/>
              </a:spcAft>
              <a:buClr>
                <a:srgbClr val="3F3F3F"/>
              </a:buClr>
              <a:buSzPts val="2800"/>
              <a:buChar char="•"/>
            </a:pPr>
            <a:r>
              <a:rPr b="1" lang="it-IT" sz="2800">
                <a:highlight>
                  <a:srgbClr val="FFFF00"/>
                </a:highlight>
                <a:latin typeface="Arial"/>
                <a:ea typeface="Arial"/>
                <a:cs typeface="Arial"/>
                <a:sym typeface="Arial"/>
              </a:rPr>
              <a:t>DISCRIMINAZIONE INDIRETTA</a:t>
            </a:r>
            <a:endParaRPr sz="2800">
              <a:latin typeface="Arial"/>
              <a:ea typeface="Arial"/>
              <a:cs typeface="Arial"/>
              <a:sym typeface="Arial"/>
            </a:endParaRPr>
          </a:p>
        </p:txBody>
      </p:sp>
      <p:sp>
        <p:nvSpPr>
          <p:cNvPr id="254" name="Google Shape;254;p12"/>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bianco e nero, calligrafia, testo, mano&#10;&#10;Descrizione generata automaticamente" id="255" name="Google Shape;255;p12"/>
          <p:cNvPicPr preferRelativeResize="0"/>
          <p:nvPr>
            <p:ph idx="3" type="body"/>
          </p:nvPr>
        </p:nvPicPr>
        <p:blipFill rotWithShape="1">
          <a:blip r:embed="rId3">
            <a:alphaModFix/>
          </a:blip>
          <a:srcRect b="0" l="0" r="0" t="0"/>
          <a:stretch/>
        </p:blipFill>
        <p:spPr>
          <a:xfrm>
            <a:off x="6166000" y="4247400"/>
            <a:ext cx="6026100" cy="2556000"/>
          </a:xfrm>
          <a:prstGeom prst="rect">
            <a:avLst/>
          </a:prstGeom>
          <a:noFill/>
          <a:ln>
            <a:noFill/>
          </a:ln>
          <a:effectLst>
            <a:outerShdw blurRad="190500" rotWithShape="0" algn="tl">
              <a:srgbClr val="000000">
                <a:alpha val="6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descr="Immagine che contiene Elementi grafici, cerchio, design&#10;&#10;Descrizione generata automaticamente" id="260" name="Google Shape;260;p13"/>
          <p:cNvPicPr preferRelativeResize="0"/>
          <p:nvPr/>
        </p:nvPicPr>
        <p:blipFill rotWithShape="1">
          <a:blip r:embed="rId3">
            <a:alphaModFix/>
          </a:blip>
          <a:srcRect b="0" l="0" r="0" t="0"/>
          <a:stretch/>
        </p:blipFill>
        <p:spPr>
          <a:xfrm>
            <a:off x="8569078" y="4906978"/>
            <a:ext cx="3622922" cy="1896373"/>
          </a:xfrm>
          <a:prstGeom prst="rect">
            <a:avLst/>
          </a:prstGeom>
          <a:noFill/>
          <a:ln>
            <a:noFill/>
          </a:ln>
        </p:spPr>
      </p:pic>
      <p:sp>
        <p:nvSpPr>
          <p:cNvPr id="261" name="Google Shape;261;p13"/>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Discriminazione DIRETTA e INDIRETTA</a:t>
            </a:r>
            <a:endParaRPr/>
          </a:p>
        </p:txBody>
      </p:sp>
      <p:sp>
        <p:nvSpPr>
          <p:cNvPr id="262" name="Google Shape;262;p13"/>
          <p:cNvSpPr txBox="1"/>
          <p:nvPr>
            <p:ph idx="1" type="body"/>
          </p:nvPr>
        </p:nvSpPr>
        <p:spPr>
          <a:xfrm>
            <a:off x="420000" y="1041785"/>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a:latin typeface="Arial"/>
                <a:ea typeface="Arial"/>
                <a:cs typeface="Arial"/>
                <a:sym typeface="Arial"/>
              </a:rPr>
              <a:t>La discriminazione di genere riguarda il trattamento ingiusto o il pregiudizio basato sul sesso o sul genere di una persona. Storicamente, le donne hanno subito enormi ingiustizie, come il diritto di voto che è stato conquistato solo nel 1946 in Italia, o l'accesso limitato a certe professioni. </a:t>
            </a:r>
            <a:r>
              <a:rPr b="1" lang="it-IT">
                <a:latin typeface="Arial"/>
                <a:ea typeface="Arial"/>
                <a:cs typeface="Arial"/>
                <a:sym typeface="Arial"/>
              </a:rPr>
              <a:t>Anche oggi, sebbene ci siano stati molti progressi, persistono disparità</a:t>
            </a:r>
            <a:r>
              <a:rPr lang="it-IT">
                <a:latin typeface="Arial"/>
                <a:ea typeface="Arial"/>
                <a:cs typeface="Arial"/>
                <a:sym typeface="Arial"/>
              </a:rPr>
              <a:t>, come la disparità salariale (le donne guadagnano, in media, meno degli uomini per lo stesso lavoro) e una rappresentanza insufficiente nelle posizioni di potere, come nei consigli di amministrazione delle aziende o nella politica. Inoltre, c’è un fenomeno legato agli stereotipi di genere: per esempio, si tende a pensare che gli uomini debbano essere più intraprendenti o forti, mentre alle donne si impone spesso un ruolo di cura e accudimento. Ma queste idee sono limitanti e non rispecchiano le vere potenzialità delle persone, che non dipendono dal loro genere.</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800"/>
              <a:buNone/>
            </a:pPr>
            <a:r>
              <a:t/>
            </a:r>
            <a:endParaRPr>
              <a:latin typeface="Arial"/>
              <a:ea typeface="Arial"/>
              <a:cs typeface="Arial"/>
              <a:sym typeface="Arial"/>
            </a:endParaRPr>
          </a:p>
        </p:txBody>
      </p:sp>
      <p:sp>
        <p:nvSpPr>
          <p:cNvPr descr="Blocco in evidenza a sinistra" id="263" name="Google Shape;263;p13"/>
          <p:cNvSpPr/>
          <p:nvPr/>
        </p:nvSpPr>
        <p:spPr>
          <a:xfrm>
            <a:off x="420000" y="877357"/>
            <a:ext cx="6243350" cy="14418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264" name="Google Shape;264;p13"/>
          <p:cNvSpPr txBox="1"/>
          <p:nvPr>
            <p:ph idx="2" type="body"/>
          </p:nvPr>
        </p:nvSpPr>
        <p:spPr>
          <a:xfrm>
            <a:off x="358600" y="4630792"/>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600"/>
              <a:buNone/>
            </a:pPr>
            <a:r>
              <a:t/>
            </a:r>
            <a:endParaRPr sz="1600">
              <a:latin typeface="Arial"/>
              <a:ea typeface="Arial"/>
              <a:cs typeface="Arial"/>
              <a:sym typeface="Arial"/>
            </a:endParaRPr>
          </a:p>
          <a:p>
            <a:pPr indent="0" lvl="0" marL="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p:txBody>
      </p:sp>
      <p:sp>
        <p:nvSpPr>
          <p:cNvPr id="265" name="Google Shape;265;p13"/>
          <p:cNvSpPr txBox="1"/>
          <p:nvPr>
            <p:ph idx="3" type="body"/>
          </p:nvPr>
        </p:nvSpPr>
        <p:spPr>
          <a:xfrm>
            <a:off x="2479167" y="4974747"/>
            <a:ext cx="7086860" cy="219469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000"/>
              <a:buNone/>
            </a:pPr>
            <a:r>
              <a:rPr lang="it-IT" sz="2400" u="sng">
                <a:solidFill>
                  <a:schemeClr val="hlink"/>
                </a:solidFill>
                <a:latin typeface="Arial"/>
                <a:ea typeface="Arial"/>
                <a:cs typeface="Arial"/>
                <a:sym typeface="Arial"/>
                <a:hlinkClick r:id="rId4"/>
              </a:rPr>
              <a:t>https://www.youtube.com/watch?v=iFwEEAxsWCQ</a:t>
            </a:r>
            <a:endParaRPr sz="2400">
              <a:latin typeface="Arial"/>
              <a:ea typeface="Arial"/>
              <a:cs typeface="Arial"/>
              <a:sym typeface="Arial"/>
            </a:endParaRPr>
          </a:p>
        </p:txBody>
      </p:sp>
      <p:cxnSp>
        <p:nvCxnSpPr>
          <p:cNvPr descr="Divisore diapositiva" id="266" name="Google Shape;266;p13"/>
          <p:cNvCxnSpPr/>
          <p:nvPr/>
        </p:nvCxnSpPr>
        <p:spPr>
          <a:xfrm>
            <a:off x="3255668" y="3425127"/>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267" name="Google Shape;267;p13"/>
          <p:cNvSpPr txBox="1"/>
          <p:nvPr>
            <p:ph idx="5" type="body"/>
          </p:nvPr>
        </p:nvSpPr>
        <p:spPr>
          <a:xfrm>
            <a:off x="1949172" y="4175354"/>
            <a:ext cx="6891600" cy="21960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3F3F3F"/>
              </a:buClr>
              <a:buSzPts val="1800"/>
              <a:buNone/>
            </a:pPr>
            <a:r>
              <a:rPr b="1" lang="it-IT">
                <a:latin typeface="Arial"/>
                <a:ea typeface="Arial"/>
                <a:cs typeface="Arial"/>
                <a:sym typeface="Arial"/>
              </a:rPr>
              <a:t>Le discriminazioni di genere rappresentate in un video ironico</a:t>
            </a:r>
            <a:endParaRPr b="1" sz="1800">
              <a:latin typeface="Arial"/>
              <a:ea typeface="Arial"/>
              <a:cs typeface="Arial"/>
              <a:sym typeface="Arial"/>
            </a:endParaRPr>
          </a:p>
        </p:txBody>
      </p:sp>
      <p:sp>
        <p:nvSpPr>
          <p:cNvPr id="268" name="Google Shape;268;p13"/>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
        <p:nvSpPr>
          <p:cNvPr id="269" name="Google Shape;269;p13"/>
          <p:cNvSpPr txBox="1"/>
          <p:nvPr>
            <p:ph idx="4" type="body"/>
          </p:nvPr>
        </p:nvSpPr>
        <p:spPr>
          <a:xfrm>
            <a:off x="3784107" y="4659987"/>
            <a:ext cx="5472000" cy="35877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2400"/>
              <a:buNone/>
            </a:pPr>
            <a:r>
              <a:rPr lang="it-IT"/>
              <a:t>Io non sono maschilista però…</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4"/>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Tipi di discriminazione</a:t>
            </a:r>
            <a:endParaRPr/>
          </a:p>
        </p:txBody>
      </p:sp>
      <p:sp>
        <p:nvSpPr>
          <p:cNvPr id="275" name="Google Shape;275;p14"/>
          <p:cNvSpPr txBox="1"/>
          <p:nvPr>
            <p:ph idx="1" type="body"/>
          </p:nvPr>
        </p:nvSpPr>
        <p:spPr>
          <a:xfrm>
            <a:off x="420487" y="1873365"/>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40C28"/>
              </a:buClr>
              <a:buSzPts val="1800"/>
              <a:buNone/>
            </a:pPr>
            <a:r>
              <a:rPr b="0" i="0" lang="it-IT">
                <a:solidFill>
                  <a:srgbClr val="040C28"/>
                </a:solidFill>
                <a:latin typeface="Arial"/>
                <a:ea typeface="Arial"/>
                <a:cs typeface="Arial"/>
                <a:sym typeface="Arial"/>
              </a:rPr>
              <a:t>quando si agisce per mettere una persona o un gruppo di persone in una situazione di svantaggio</a:t>
            </a:r>
            <a:endParaRPr b="1" sz="1800">
              <a:latin typeface="Arial"/>
              <a:ea typeface="Arial"/>
              <a:cs typeface="Arial"/>
              <a:sym typeface="Arial"/>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0" lvl="0" marL="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p:txBody>
      </p:sp>
      <p:sp>
        <p:nvSpPr>
          <p:cNvPr descr="Blocco in evidenza a sinistra" id="276" name="Google Shape;276;p14"/>
          <p:cNvSpPr/>
          <p:nvPr/>
        </p:nvSpPr>
        <p:spPr>
          <a:xfrm>
            <a:off x="431800" y="898090"/>
            <a:ext cx="3516357" cy="7355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277" name="Google Shape;277;p14"/>
          <p:cNvSpPr txBox="1"/>
          <p:nvPr>
            <p:ph idx="2" type="body"/>
          </p:nvPr>
        </p:nvSpPr>
        <p:spPr>
          <a:xfrm>
            <a:off x="797868" y="2445934"/>
            <a:ext cx="5472000"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Esempio:</a:t>
            </a:r>
            <a:endParaRPr/>
          </a:p>
        </p:txBody>
      </p:sp>
      <p:cxnSp>
        <p:nvCxnSpPr>
          <p:cNvPr descr="Divisore diapositiva" id="278" name="Google Shape;278;p14"/>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279" name="Google Shape;279;p14"/>
          <p:cNvSpPr/>
          <p:nvPr/>
        </p:nvSpPr>
        <p:spPr>
          <a:xfrm>
            <a:off x="431799" y="1758541"/>
            <a:ext cx="3687274" cy="11482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280" name="Google Shape;280;p14"/>
          <p:cNvSpPr txBox="1"/>
          <p:nvPr>
            <p:ph idx="5" type="body"/>
          </p:nvPr>
        </p:nvSpPr>
        <p:spPr>
          <a:xfrm>
            <a:off x="764093" y="2754551"/>
            <a:ext cx="10971557" cy="2196041"/>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1F1F1F"/>
              </a:buClr>
              <a:buSzPts val="2000"/>
              <a:buNone/>
            </a:pPr>
            <a:r>
              <a:rPr b="0" i="0" lang="it-IT" sz="2000">
                <a:solidFill>
                  <a:srgbClr val="1F1F1F"/>
                </a:solidFill>
                <a:latin typeface="Arial"/>
                <a:ea typeface="Arial"/>
                <a:cs typeface="Arial"/>
                <a:sym typeface="Arial"/>
              </a:rPr>
              <a:t>non assumere una donna lesbica in quanto omosessuale, seppur qualificata per il lavoro; rifiutare </a:t>
            </a:r>
            <a:r>
              <a:rPr b="0" i="0" lang="it-IT" sz="2000">
                <a:solidFill>
                  <a:srgbClr val="040C28"/>
                </a:solidFill>
                <a:latin typeface="Arial"/>
                <a:ea typeface="Arial"/>
                <a:cs typeface="Arial"/>
                <a:sym typeface="Arial"/>
              </a:rPr>
              <a:t>di</a:t>
            </a:r>
            <a:r>
              <a:rPr b="0" i="0" lang="it-IT" sz="2000">
                <a:solidFill>
                  <a:srgbClr val="1F1F1F"/>
                </a:solidFill>
                <a:latin typeface="Arial"/>
                <a:ea typeface="Arial"/>
                <a:cs typeface="Arial"/>
                <a:sym typeface="Arial"/>
              </a:rPr>
              <a:t> affittare un appartamento ad una famiglia straniera, anche se è in grado </a:t>
            </a:r>
            <a:r>
              <a:rPr b="0" i="0" lang="it-IT" sz="2000">
                <a:solidFill>
                  <a:srgbClr val="040C28"/>
                </a:solidFill>
                <a:latin typeface="Arial"/>
                <a:ea typeface="Arial"/>
                <a:cs typeface="Arial"/>
                <a:sym typeface="Arial"/>
              </a:rPr>
              <a:t>di</a:t>
            </a:r>
            <a:r>
              <a:rPr b="0" i="0" lang="it-IT" sz="2000">
                <a:solidFill>
                  <a:srgbClr val="1F1F1F"/>
                </a:solidFill>
                <a:latin typeface="Arial"/>
                <a:ea typeface="Arial"/>
                <a:cs typeface="Arial"/>
                <a:sym typeface="Arial"/>
              </a:rPr>
              <a:t> provare la propria affidabilità economica.</a:t>
            </a:r>
            <a:endParaRPr b="1" sz="2000">
              <a:latin typeface="Arial"/>
              <a:ea typeface="Arial"/>
              <a:cs typeface="Arial"/>
              <a:sym typeface="Arial"/>
            </a:endParaRPr>
          </a:p>
          <a:p>
            <a:pPr indent="-139700" lvl="0" marL="266700" rtl="0" algn="ctr">
              <a:lnSpc>
                <a:spcPct val="115000"/>
              </a:lnSpc>
              <a:spcBef>
                <a:spcPts val="1800"/>
              </a:spcBef>
              <a:spcAft>
                <a:spcPts val="0"/>
              </a:spcAft>
              <a:buClr>
                <a:srgbClr val="3F3F3F"/>
              </a:buClr>
              <a:buSzPts val="2000"/>
              <a:buNone/>
            </a:pPr>
            <a:r>
              <a:t/>
            </a:r>
            <a:endParaRPr sz="2000">
              <a:latin typeface="Arial"/>
              <a:ea typeface="Arial"/>
              <a:cs typeface="Arial"/>
              <a:sym typeface="Arial"/>
            </a:endParaRPr>
          </a:p>
        </p:txBody>
      </p:sp>
      <p:sp>
        <p:nvSpPr>
          <p:cNvPr id="281" name="Google Shape;281;p14"/>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
        <p:nvSpPr>
          <p:cNvPr id="282" name="Google Shape;282;p14"/>
          <p:cNvSpPr txBox="1"/>
          <p:nvPr>
            <p:ph idx="4" type="body"/>
          </p:nvPr>
        </p:nvSpPr>
        <p:spPr>
          <a:xfrm>
            <a:off x="431800" y="1457178"/>
            <a:ext cx="5472000" cy="35877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2400"/>
              <a:buNone/>
            </a:pPr>
            <a:r>
              <a:rPr lang="it-IT"/>
              <a:t>DISCRIMINAZIONE DIRETTA</a:t>
            </a:r>
            <a:endParaRPr/>
          </a:p>
        </p:txBody>
      </p:sp>
      <p:pic>
        <p:nvPicPr>
          <p:cNvPr descr="Immagine che contiene Viso umano, persona, sorriso, vestiti&#10;&#10;Descrizione generata automaticamente" id="283" name="Google Shape;283;p14"/>
          <p:cNvPicPr preferRelativeResize="0"/>
          <p:nvPr/>
        </p:nvPicPr>
        <p:blipFill rotWithShape="1">
          <a:blip r:embed="rId3">
            <a:alphaModFix/>
          </a:blip>
          <a:srcRect b="0" l="0" r="0" t="0"/>
          <a:stretch/>
        </p:blipFill>
        <p:spPr>
          <a:xfrm>
            <a:off x="7286706" y="3693486"/>
            <a:ext cx="4905294" cy="3109865"/>
          </a:xfrm>
          <a:prstGeom prst="rect">
            <a:avLst/>
          </a:prstGeom>
          <a:noFill/>
          <a:ln>
            <a:noFill/>
          </a:ln>
          <a:effectLst>
            <a:outerShdw blurRad="190500" rotWithShape="0" algn="tl">
              <a:srgbClr val="000000">
                <a:alpha val="69803"/>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5"/>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Tipi di discriminazione</a:t>
            </a:r>
            <a:endParaRPr/>
          </a:p>
        </p:txBody>
      </p:sp>
      <p:sp>
        <p:nvSpPr>
          <p:cNvPr id="289" name="Google Shape;289;p15"/>
          <p:cNvSpPr txBox="1"/>
          <p:nvPr>
            <p:ph idx="1" type="body"/>
          </p:nvPr>
        </p:nvSpPr>
        <p:spPr>
          <a:xfrm>
            <a:off x="410764" y="1925092"/>
            <a:ext cx="10970210"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474747"/>
              </a:buClr>
              <a:buSzPts val="1800"/>
              <a:buNone/>
            </a:pPr>
            <a:r>
              <a:rPr b="0" i="0" lang="it-IT">
                <a:solidFill>
                  <a:srgbClr val="474747"/>
                </a:solidFill>
                <a:latin typeface="Arial"/>
                <a:ea typeface="Arial"/>
                <a:cs typeface="Arial"/>
                <a:sym typeface="Arial"/>
              </a:rPr>
              <a:t>È più sottile e si ha quando una norma, un criterio o un parametro apparentemente neutri mettono in una situazione di svantaggio una categoria di persone.</a:t>
            </a:r>
            <a:endParaRPr b="1" sz="1800">
              <a:latin typeface="Arial"/>
              <a:ea typeface="Arial"/>
              <a:cs typeface="Arial"/>
              <a:sym typeface="Arial"/>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0" lvl="0" marL="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p:txBody>
      </p:sp>
      <p:sp>
        <p:nvSpPr>
          <p:cNvPr descr="Blocco in evidenza a sinistra" id="290" name="Google Shape;290;p15"/>
          <p:cNvSpPr/>
          <p:nvPr/>
        </p:nvSpPr>
        <p:spPr>
          <a:xfrm>
            <a:off x="431800" y="898090"/>
            <a:ext cx="3516357" cy="7355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cxnSp>
        <p:nvCxnSpPr>
          <p:cNvPr descr="Divisore diapositiva" id="291" name="Google Shape;291;p15"/>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292" name="Google Shape;292;p15"/>
          <p:cNvSpPr/>
          <p:nvPr/>
        </p:nvSpPr>
        <p:spPr>
          <a:xfrm>
            <a:off x="431799" y="1758541"/>
            <a:ext cx="3687274" cy="11482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293" name="Google Shape;293;p15"/>
          <p:cNvSpPr txBox="1"/>
          <p:nvPr>
            <p:ph idx="5" type="body"/>
          </p:nvPr>
        </p:nvSpPr>
        <p:spPr>
          <a:xfrm>
            <a:off x="389015" y="2705946"/>
            <a:ext cx="11413969" cy="1492593"/>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800"/>
              <a:buNone/>
            </a:pPr>
            <a:r>
              <a:rPr lang="it-IT">
                <a:solidFill>
                  <a:srgbClr val="000000"/>
                </a:solidFill>
                <a:latin typeface="Arial"/>
                <a:ea typeface="Arial"/>
                <a:cs typeface="Arial"/>
                <a:sym typeface="Arial"/>
              </a:rPr>
              <a:t>P</a:t>
            </a:r>
            <a:r>
              <a:rPr b="0" i="0" lang="it-IT">
                <a:solidFill>
                  <a:srgbClr val="000000"/>
                </a:solidFill>
                <a:latin typeface="Arial"/>
                <a:ea typeface="Arial"/>
                <a:cs typeface="Arial"/>
                <a:sym typeface="Arial"/>
              </a:rPr>
              <a:t>er esempio il caso della statura minima richiesta per la partecipazione a un concorso e tarata su medie maschili: va da sé che non vi è discriminazione sulla singola persona, ma adottando un simile criterio di selezione indubbiamente si avvantaggiano gli uomini rispetto alle donne. </a:t>
            </a:r>
            <a:endParaRPr/>
          </a:p>
          <a:p>
            <a:pPr indent="0" lvl="0" marL="0" rtl="0" algn="l">
              <a:lnSpc>
                <a:spcPct val="115000"/>
              </a:lnSpc>
              <a:spcBef>
                <a:spcPts val="1800"/>
              </a:spcBef>
              <a:spcAft>
                <a:spcPts val="0"/>
              </a:spcAft>
              <a:buClr>
                <a:srgbClr val="000000"/>
              </a:buClr>
              <a:buSzPts val="1800"/>
              <a:buNone/>
            </a:pPr>
            <a:r>
              <a:rPr b="0" i="0" lang="it-IT">
                <a:solidFill>
                  <a:srgbClr val="000000"/>
                </a:solidFill>
                <a:latin typeface="Arial"/>
                <a:ea typeface="Arial"/>
                <a:cs typeface="Arial"/>
                <a:sym typeface="Arial"/>
              </a:rPr>
              <a:t>Altro esempio è la previsione di una particolare indennità solo per dipendenti che abbiano </a:t>
            </a:r>
            <a:endParaRPr/>
          </a:p>
          <a:p>
            <a:pPr indent="0" lvl="0" marL="0" rtl="0" algn="l">
              <a:lnSpc>
                <a:spcPct val="115000"/>
              </a:lnSpc>
              <a:spcBef>
                <a:spcPts val="1800"/>
              </a:spcBef>
              <a:spcAft>
                <a:spcPts val="0"/>
              </a:spcAft>
              <a:buClr>
                <a:srgbClr val="000000"/>
              </a:buClr>
              <a:buSzPts val="1800"/>
              <a:buNone/>
            </a:pPr>
            <a:r>
              <a:rPr b="0" i="0" lang="it-IT">
                <a:solidFill>
                  <a:srgbClr val="000000"/>
                </a:solidFill>
                <a:latin typeface="Arial"/>
                <a:ea typeface="Arial"/>
                <a:cs typeface="Arial"/>
                <a:sym typeface="Arial"/>
              </a:rPr>
              <a:t>sempre optato per il “full-time”; le donne che più spesso richiedono il “part-time” </a:t>
            </a:r>
            <a:endParaRPr/>
          </a:p>
          <a:p>
            <a:pPr indent="0" lvl="0" marL="0" rtl="0" algn="l">
              <a:lnSpc>
                <a:spcPct val="115000"/>
              </a:lnSpc>
              <a:spcBef>
                <a:spcPts val="1800"/>
              </a:spcBef>
              <a:spcAft>
                <a:spcPts val="0"/>
              </a:spcAft>
              <a:buClr>
                <a:srgbClr val="000000"/>
              </a:buClr>
              <a:buSzPts val="1800"/>
              <a:buNone/>
            </a:pPr>
            <a:r>
              <a:rPr b="0" i="0" lang="it-IT">
                <a:solidFill>
                  <a:srgbClr val="000000"/>
                </a:solidFill>
                <a:latin typeface="Arial"/>
                <a:ea typeface="Arial"/>
                <a:cs typeface="Arial"/>
                <a:sym typeface="Arial"/>
              </a:rPr>
              <a:t>per ragioni di conciliazione fra casa e lavoro, ne sarebbero indirettamente escluse.</a:t>
            </a:r>
            <a:endParaRPr>
              <a:latin typeface="Arial"/>
              <a:ea typeface="Arial"/>
              <a:cs typeface="Arial"/>
              <a:sym typeface="Arial"/>
            </a:endParaRPr>
          </a:p>
        </p:txBody>
      </p:sp>
      <p:sp>
        <p:nvSpPr>
          <p:cNvPr id="294" name="Google Shape;294;p15"/>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
        <p:nvSpPr>
          <p:cNvPr id="295" name="Google Shape;295;p15"/>
          <p:cNvSpPr txBox="1"/>
          <p:nvPr>
            <p:ph idx="4" type="body"/>
          </p:nvPr>
        </p:nvSpPr>
        <p:spPr>
          <a:xfrm>
            <a:off x="431800" y="1457178"/>
            <a:ext cx="5472000" cy="35877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2400"/>
              <a:buNone/>
            </a:pPr>
            <a:r>
              <a:rPr lang="it-IT"/>
              <a:t>DISCRIMINAZIONE INDIRETTA</a:t>
            </a:r>
            <a:endParaRPr/>
          </a:p>
        </p:txBody>
      </p:sp>
      <p:pic>
        <p:nvPicPr>
          <p:cNvPr descr="Immagine che contiene testo, Carattere, simbolo, Elementi grafici&#10;&#10;Descrizione generata automaticamente" id="296" name="Google Shape;296;p15"/>
          <p:cNvPicPr preferRelativeResize="0"/>
          <p:nvPr>
            <p:ph idx="3" type="body"/>
          </p:nvPr>
        </p:nvPicPr>
        <p:blipFill rotWithShape="1">
          <a:blip r:embed="rId3">
            <a:alphaModFix/>
          </a:blip>
          <a:srcRect b="0" l="0" r="0" t="0"/>
          <a:stretch/>
        </p:blipFill>
        <p:spPr>
          <a:xfrm>
            <a:off x="9313200" y="4271775"/>
            <a:ext cx="2879100" cy="2541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pic>
        <p:nvPicPr>
          <p:cNvPr id="301" name="Google Shape;301;p16"/>
          <p:cNvPicPr preferRelativeResize="0"/>
          <p:nvPr>
            <p:ph idx="3" type="body"/>
          </p:nvPr>
        </p:nvPicPr>
        <p:blipFill rotWithShape="1">
          <a:blip r:embed="rId3">
            <a:alphaModFix/>
          </a:blip>
          <a:srcRect b="0" l="0" r="0" t="0"/>
          <a:stretch/>
        </p:blipFill>
        <p:spPr>
          <a:xfrm>
            <a:off x="6175354" y="2566804"/>
            <a:ext cx="6016646" cy="4236547"/>
          </a:xfrm>
          <a:prstGeom prst="rect">
            <a:avLst/>
          </a:prstGeom>
          <a:noFill/>
          <a:ln>
            <a:noFill/>
          </a:ln>
        </p:spPr>
      </p:pic>
      <p:sp>
        <p:nvSpPr>
          <p:cNvPr id="302" name="Google Shape;302;p16"/>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3200"/>
              <a:buFont typeface="Arial"/>
              <a:buNone/>
            </a:pPr>
            <a:r>
              <a:rPr b="1" lang="it-IT">
                <a:latin typeface="Arial"/>
                <a:ea typeface="Arial"/>
                <a:cs typeface="Arial"/>
                <a:sym typeface="Arial"/>
              </a:rPr>
              <a:t>Come combattere le discriminazioni</a:t>
            </a:r>
            <a:endParaRPr>
              <a:latin typeface="Arial"/>
              <a:ea typeface="Arial"/>
              <a:cs typeface="Arial"/>
              <a:sym typeface="Arial"/>
            </a:endParaRPr>
          </a:p>
        </p:txBody>
      </p:sp>
      <p:sp>
        <p:nvSpPr>
          <p:cNvPr id="303" name="Google Shape;303;p16"/>
          <p:cNvSpPr txBox="1"/>
          <p:nvPr>
            <p:ph idx="1" type="body"/>
          </p:nvPr>
        </p:nvSpPr>
        <p:spPr>
          <a:xfrm>
            <a:off x="1183554" y="1526823"/>
            <a:ext cx="426226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3200"/>
              <a:buNone/>
            </a:pPr>
            <a:r>
              <a:rPr b="1" lang="it-IT" sz="3200">
                <a:latin typeface="Arial"/>
                <a:ea typeface="Arial"/>
                <a:cs typeface="Arial"/>
                <a:sym typeface="Arial"/>
              </a:rPr>
              <a:t>EDUCARE</a:t>
            </a:r>
            <a:endParaRPr b="1" sz="3200">
              <a:latin typeface="Arial"/>
              <a:ea typeface="Arial"/>
              <a:cs typeface="Arial"/>
              <a:sym typeface="Arial"/>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279400" lvl="0" marL="457200" rtl="0" algn="l">
              <a:lnSpc>
                <a:spcPct val="115000"/>
              </a:lnSpc>
              <a:spcBef>
                <a:spcPts val="1800"/>
              </a:spcBef>
              <a:spcAft>
                <a:spcPts val="0"/>
              </a:spcAft>
              <a:buClr>
                <a:srgbClr val="3F3F3F"/>
              </a:buClr>
              <a:buSzPts val="2800"/>
              <a:buFont typeface="Arial"/>
              <a:buNone/>
            </a:pPr>
            <a:r>
              <a:t/>
            </a:r>
            <a:endParaRPr sz="2800">
              <a:latin typeface="Arial"/>
              <a:ea typeface="Arial"/>
              <a:cs typeface="Arial"/>
              <a:sym typeface="Arial"/>
            </a:endParaRPr>
          </a:p>
        </p:txBody>
      </p:sp>
      <p:sp>
        <p:nvSpPr>
          <p:cNvPr descr="Blocco in evidenza a sinistra" id="304" name="Google Shape;304;p16"/>
          <p:cNvSpPr/>
          <p:nvPr/>
        </p:nvSpPr>
        <p:spPr>
          <a:xfrm>
            <a:off x="431800" y="898089"/>
            <a:ext cx="6143661" cy="14916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305" name="Google Shape;305;p16"/>
          <p:cNvSpPr txBox="1"/>
          <p:nvPr>
            <p:ph idx="2" type="body"/>
          </p:nvPr>
        </p:nvSpPr>
        <p:spPr>
          <a:xfrm>
            <a:off x="964348" y="2607872"/>
            <a:ext cx="10904737" cy="360000"/>
          </a:xfrm>
          <a:prstGeom prst="rect">
            <a:avLst/>
          </a:prstGeom>
          <a:noFill/>
          <a:ln>
            <a:noFill/>
          </a:ln>
        </p:spPr>
        <p:txBody>
          <a:bodyPr anchorCtr="0" anchor="t" bIns="0" lIns="0" spcFirstLastPara="1" rIns="0" wrap="square" tIns="0">
            <a:noAutofit/>
          </a:bodyPr>
          <a:lstStyle/>
          <a:p>
            <a:pPr indent="-285750" lvl="0" marL="285750" rtl="0" algn="l">
              <a:lnSpc>
                <a:spcPct val="115000"/>
              </a:lnSpc>
              <a:spcBef>
                <a:spcPts val="0"/>
              </a:spcBef>
              <a:spcAft>
                <a:spcPts val="0"/>
              </a:spcAft>
              <a:buClr>
                <a:srgbClr val="3F3F3F"/>
              </a:buClr>
              <a:buSzPts val="3200"/>
              <a:buFont typeface="Arial"/>
              <a:buChar char="•"/>
            </a:pPr>
            <a:r>
              <a:rPr lang="it-IT" sz="3200">
                <a:latin typeface="Arial"/>
                <a:ea typeface="Arial"/>
                <a:cs typeface="Arial"/>
                <a:sym typeface="Arial"/>
              </a:rPr>
              <a:t>SOSTENERE LEGGI E POLITICHE DI PARI OPPORTUNITA’</a:t>
            </a:r>
            <a:endParaRPr sz="3200">
              <a:latin typeface="Arial"/>
              <a:ea typeface="Arial"/>
              <a:cs typeface="Arial"/>
              <a:sym typeface="Arial"/>
            </a:endParaRPr>
          </a:p>
        </p:txBody>
      </p:sp>
      <p:cxnSp>
        <p:nvCxnSpPr>
          <p:cNvPr descr="Divisore diapositiva" id="306" name="Google Shape;306;p16"/>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307" name="Google Shape;307;p16"/>
          <p:cNvSpPr txBox="1"/>
          <p:nvPr>
            <p:ph idx="5" type="body"/>
          </p:nvPr>
        </p:nvSpPr>
        <p:spPr>
          <a:xfrm>
            <a:off x="240070" y="2051818"/>
            <a:ext cx="7100556" cy="2186670"/>
          </a:xfrm>
          <a:prstGeom prst="rect">
            <a:avLst/>
          </a:prstGeom>
          <a:noFill/>
          <a:ln>
            <a:noFill/>
          </a:ln>
        </p:spPr>
        <p:txBody>
          <a:bodyPr anchorCtr="0" anchor="t" bIns="0" lIns="0" spcFirstLastPara="1" rIns="0" wrap="square" tIns="0">
            <a:noAutofit/>
          </a:bodyPr>
          <a:lstStyle/>
          <a:p>
            <a:pPr indent="-266700" lvl="0" marL="266700" rtl="0" algn="ctr">
              <a:lnSpc>
                <a:spcPct val="115000"/>
              </a:lnSpc>
              <a:spcBef>
                <a:spcPts val="0"/>
              </a:spcBef>
              <a:spcAft>
                <a:spcPts val="0"/>
              </a:spcAft>
              <a:buClr>
                <a:srgbClr val="3F3F3F"/>
              </a:buClr>
              <a:buSzPts val="3200"/>
              <a:buChar char="•"/>
            </a:pPr>
            <a:r>
              <a:rPr b="1" lang="it-IT" sz="3200">
                <a:latin typeface="Arial"/>
                <a:ea typeface="Arial"/>
                <a:cs typeface="Arial"/>
                <a:sym typeface="Arial"/>
              </a:rPr>
              <a:t>PROMUOVERE</a:t>
            </a:r>
            <a:r>
              <a:rPr b="1" lang="it-IT" sz="2800">
                <a:latin typeface="Arial"/>
                <a:ea typeface="Arial"/>
                <a:cs typeface="Arial"/>
                <a:sym typeface="Arial"/>
              </a:rPr>
              <a:t> LA TOLLERANZA</a:t>
            </a:r>
            <a:endParaRPr b="1" sz="2800">
              <a:latin typeface="Arial"/>
              <a:ea typeface="Arial"/>
              <a:cs typeface="Arial"/>
              <a:sym typeface="Arial"/>
            </a:endParaRPr>
          </a:p>
          <a:p>
            <a:pPr indent="-63500" lvl="0" marL="266700" rtl="0" algn="ctr">
              <a:lnSpc>
                <a:spcPct val="115000"/>
              </a:lnSpc>
              <a:spcBef>
                <a:spcPts val="1800"/>
              </a:spcBef>
              <a:spcAft>
                <a:spcPts val="0"/>
              </a:spcAft>
              <a:buClr>
                <a:srgbClr val="3F3F3F"/>
              </a:buClr>
              <a:buSzPts val="3200"/>
              <a:buNone/>
            </a:pPr>
            <a:r>
              <a:t/>
            </a:r>
            <a:endParaRPr sz="3200">
              <a:latin typeface="Arial"/>
              <a:ea typeface="Arial"/>
              <a:cs typeface="Arial"/>
              <a:sym typeface="Arial"/>
            </a:endParaRPr>
          </a:p>
        </p:txBody>
      </p:sp>
      <p:sp>
        <p:nvSpPr>
          <p:cNvPr id="308" name="Google Shape;308;p16"/>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
        <p:nvSpPr>
          <p:cNvPr id="309" name="Google Shape;309;p16"/>
          <p:cNvSpPr txBox="1"/>
          <p:nvPr>
            <p:ph idx="4" type="body"/>
          </p:nvPr>
        </p:nvSpPr>
        <p:spPr>
          <a:xfrm>
            <a:off x="875258" y="3698191"/>
            <a:ext cx="7725300" cy="358800"/>
          </a:xfrm>
          <a:prstGeom prst="rect">
            <a:avLst/>
          </a:prstGeom>
          <a:noFill/>
          <a:ln>
            <a:noFill/>
          </a:ln>
        </p:spPr>
        <p:txBody>
          <a:bodyPr anchorCtr="0" anchor="t" bIns="0" lIns="0" spcFirstLastPara="1" rIns="0" wrap="square" tIns="0">
            <a:noAutofit/>
          </a:bodyPr>
          <a:lstStyle/>
          <a:p>
            <a:pPr indent="-342900" lvl="0" marL="342900" rtl="0" algn="l">
              <a:lnSpc>
                <a:spcPct val="90000"/>
              </a:lnSpc>
              <a:spcBef>
                <a:spcPts val="0"/>
              </a:spcBef>
              <a:spcAft>
                <a:spcPts val="0"/>
              </a:spcAft>
              <a:buClr>
                <a:srgbClr val="3F3F3F"/>
              </a:buClr>
              <a:buSzPts val="3200"/>
              <a:buFont typeface="Arial"/>
              <a:buChar char="•"/>
            </a:pPr>
            <a:r>
              <a:rPr b="1" lang="it-IT" sz="3200">
                <a:latin typeface="Arial"/>
                <a:ea typeface="Arial"/>
                <a:cs typeface="Arial"/>
                <a:sym typeface="Arial"/>
              </a:rPr>
              <a:t>AGIRE</a:t>
            </a:r>
            <a:endParaRPr/>
          </a:p>
          <a:p>
            <a:pPr indent="-190500" lvl="0" marL="342900" rtl="0" algn="l">
              <a:lnSpc>
                <a:spcPct val="90000"/>
              </a:lnSpc>
              <a:spcBef>
                <a:spcPts val="1000"/>
              </a:spcBef>
              <a:spcAft>
                <a:spcPts val="0"/>
              </a:spcAft>
              <a:buClr>
                <a:srgbClr val="3F3F3F"/>
              </a:buClr>
              <a:buSzPts val="2400"/>
              <a:buFont typeface="Arial"/>
              <a:buNone/>
            </a:pPr>
            <a:r>
              <a:t/>
            </a:r>
            <a:endParaRPr/>
          </a:p>
        </p:txBody>
      </p:sp>
      <p:sp>
        <p:nvSpPr>
          <p:cNvPr id="310" name="Google Shape;310;p16"/>
          <p:cNvSpPr/>
          <p:nvPr/>
        </p:nvSpPr>
        <p:spPr>
          <a:xfrm>
            <a:off x="-1475" y="1597075"/>
            <a:ext cx="921300" cy="487800"/>
          </a:xfrm>
          <a:prstGeom prst="rightArrow">
            <a:avLst>
              <a:gd fmla="val 50000" name="adj1"/>
              <a:gd fmla="val 50000" name="adj2"/>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pic>
        <p:nvPicPr>
          <p:cNvPr id="311" name="Google Shape;311;p16"/>
          <p:cNvPicPr preferRelativeResize="0"/>
          <p:nvPr/>
        </p:nvPicPr>
        <p:blipFill rotWithShape="1">
          <a:blip r:embed="rId4">
            <a:alphaModFix/>
          </a:blip>
          <a:srcRect b="0" l="0" r="0" t="0"/>
          <a:stretch/>
        </p:blipFill>
        <p:spPr>
          <a:xfrm>
            <a:off x="55676" y="2125312"/>
            <a:ext cx="864000" cy="432000"/>
          </a:xfrm>
          <a:prstGeom prst="rect">
            <a:avLst/>
          </a:prstGeom>
          <a:noFill/>
          <a:ln>
            <a:noFill/>
          </a:ln>
        </p:spPr>
      </p:pic>
      <p:pic>
        <p:nvPicPr>
          <p:cNvPr id="312" name="Google Shape;312;p16"/>
          <p:cNvPicPr preferRelativeResize="0"/>
          <p:nvPr/>
        </p:nvPicPr>
        <p:blipFill rotWithShape="1">
          <a:blip r:embed="rId4">
            <a:alphaModFix/>
          </a:blip>
          <a:srcRect b="0" l="0" r="0" t="0"/>
          <a:stretch/>
        </p:blipFill>
        <p:spPr>
          <a:xfrm>
            <a:off x="208108" y="2602694"/>
            <a:ext cx="975445" cy="487722"/>
          </a:xfrm>
          <a:prstGeom prst="rect">
            <a:avLst/>
          </a:prstGeom>
          <a:noFill/>
          <a:ln>
            <a:noFill/>
          </a:ln>
        </p:spPr>
      </p:pic>
      <p:pic>
        <p:nvPicPr>
          <p:cNvPr id="313" name="Google Shape;313;p16"/>
          <p:cNvPicPr preferRelativeResize="0"/>
          <p:nvPr/>
        </p:nvPicPr>
        <p:blipFill rotWithShape="1">
          <a:blip r:embed="rId4">
            <a:alphaModFix/>
          </a:blip>
          <a:srcRect b="0" l="0" r="0" t="0"/>
          <a:stretch/>
        </p:blipFill>
        <p:spPr>
          <a:xfrm>
            <a:off x="208108" y="3608239"/>
            <a:ext cx="975445" cy="48772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descr="Immagine che contiene disegno, arte&#10;&#10;Descrizione generata automaticamente" id="318" name="Google Shape;318;p17"/>
          <p:cNvPicPr preferRelativeResize="0"/>
          <p:nvPr/>
        </p:nvPicPr>
        <p:blipFill rotWithShape="1">
          <a:blip r:embed="rId3">
            <a:alphaModFix/>
          </a:blip>
          <a:srcRect b="0" l="0" r="0" t="0"/>
          <a:stretch/>
        </p:blipFill>
        <p:spPr>
          <a:xfrm>
            <a:off x="9041847" y="5850000"/>
            <a:ext cx="2718153" cy="930441"/>
          </a:xfrm>
          <a:prstGeom prst="rect">
            <a:avLst/>
          </a:prstGeom>
          <a:noFill/>
          <a:ln>
            <a:noFill/>
          </a:ln>
        </p:spPr>
      </p:pic>
      <p:sp>
        <p:nvSpPr>
          <p:cNvPr id="319" name="Google Shape;319;p17"/>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Come combattere le discriminazioni?</a:t>
            </a:r>
            <a:endParaRPr/>
          </a:p>
        </p:txBody>
      </p:sp>
      <p:sp>
        <p:nvSpPr>
          <p:cNvPr id="320" name="Google Shape;320;p17"/>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Tutti </a:t>
            </a:r>
            <a:r>
              <a:rPr lang="it-IT">
                <a:latin typeface="Arial"/>
                <a:ea typeface="Arial"/>
                <a:cs typeface="Arial"/>
                <a:sym typeface="Arial"/>
              </a:rPr>
              <a:t>i </a:t>
            </a:r>
            <a:r>
              <a:rPr lang="it-IT" sz="1800">
                <a:latin typeface="Arial"/>
                <a:ea typeface="Arial"/>
                <a:cs typeface="Arial"/>
                <a:sym typeface="Arial"/>
              </a:rPr>
              <a:t>tipi di discriminazione </a:t>
            </a:r>
            <a:r>
              <a:rPr b="1" lang="it-IT" sz="1800">
                <a:latin typeface="Arial"/>
                <a:ea typeface="Arial"/>
                <a:cs typeface="Arial"/>
                <a:sym typeface="Arial"/>
              </a:rPr>
              <a:t>si basano su idee sbagliate e preconcette </a:t>
            </a:r>
            <a:r>
              <a:rPr lang="it-IT" sz="1800">
                <a:latin typeface="Arial"/>
                <a:ea typeface="Arial"/>
                <a:cs typeface="Arial"/>
                <a:sym typeface="Arial"/>
              </a:rPr>
              <a:t>che riducono la persona a una sola caratteristica, ignorando il suo valore individuale. </a:t>
            </a:r>
            <a:endParaRPr sz="1800">
              <a:latin typeface="Arial"/>
              <a:ea typeface="Arial"/>
              <a:cs typeface="Arial"/>
              <a:sym typeface="Arial"/>
            </a:endParaRPr>
          </a:p>
        </p:txBody>
      </p:sp>
      <p:sp>
        <p:nvSpPr>
          <p:cNvPr descr="Blocco in evidenza a sinistra" id="321" name="Google Shape;321;p17"/>
          <p:cNvSpPr/>
          <p:nvPr/>
        </p:nvSpPr>
        <p:spPr>
          <a:xfrm>
            <a:off x="420000" y="877358"/>
            <a:ext cx="5676000" cy="13064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322" name="Google Shape;322;p17"/>
          <p:cNvSpPr txBox="1"/>
          <p:nvPr>
            <p:ph idx="2" type="body"/>
          </p:nvPr>
        </p:nvSpPr>
        <p:spPr>
          <a:xfrm>
            <a:off x="420000" y="1821240"/>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2000"/>
              <a:buNone/>
            </a:pPr>
            <a:r>
              <a:rPr lang="it-IT" sz="2000">
                <a:latin typeface="Arial"/>
                <a:ea typeface="Arial"/>
                <a:cs typeface="Arial"/>
                <a:sym typeface="Arial"/>
              </a:rPr>
              <a:t>Per combattere le discriminazioni, è importante</a:t>
            </a:r>
            <a:endParaRPr sz="2000">
              <a:latin typeface="Arial"/>
              <a:ea typeface="Arial"/>
              <a:cs typeface="Arial"/>
              <a:sym typeface="Arial"/>
            </a:endParaRPr>
          </a:p>
        </p:txBody>
      </p:sp>
      <p:sp>
        <p:nvSpPr>
          <p:cNvPr id="323" name="Google Shape;323;p17"/>
          <p:cNvSpPr txBox="1"/>
          <p:nvPr>
            <p:ph idx="3" type="body"/>
          </p:nvPr>
        </p:nvSpPr>
        <p:spPr>
          <a:xfrm>
            <a:off x="266587" y="2634480"/>
            <a:ext cx="5472000"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b="1" lang="it-IT" sz="1800">
                <a:latin typeface="Arial"/>
                <a:ea typeface="Arial"/>
                <a:cs typeface="Arial"/>
                <a:sym typeface="Arial"/>
              </a:rPr>
              <a:t>Educare </a:t>
            </a:r>
            <a:r>
              <a:rPr lang="it-IT" sz="1800">
                <a:latin typeface="Arial"/>
                <a:ea typeface="Arial"/>
                <a:cs typeface="Arial"/>
                <a:sym typeface="Arial"/>
              </a:rPr>
              <a:t>Capire e riconoscere le diverse forme di discriminazione è il primo passo per superarle. Dobbiamo conoscere la storia delle lotte per l'uguaglianza e capire che la diversità è una ricchezza.</a:t>
            </a:r>
            <a:endParaRPr b="1" sz="18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b="1" lang="it-IT">
                <a:latin typeface="Arial"/>
                <a:ea typeface="Arial"/>
                <a:cs typeface="Arial"/>
                <a:sym typeface="Arial"/>
              </a:rPr>
              <a:t>Promuovere la tolleranza </a:t>
            </a:r>
            <a:r>
              <a:rPr lang="it-IT" sz="1800">
                <a:latin typeface="Arial"/>
                <a:ea typeface="Arial"/>
                <a:cs typeface="Arial"/>
                <a:sym typeface="Arial"/>
              </a:rPr>
              <a:t>fondamentale imparare a rispettare le differenze e a non giudicare le persone in base a caratteristiche che non dipendono dalla loro volontà.</a:t>
            </a:r>
            <a:endParaRPr sz="1800">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b="1">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324" name="Google Shape;324;p17"/>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325" name="Google Shape;325;p17"/>
          <p:cNvSpPr txBox="1"/>
          <p:nvPr>
            <p:ph idx="5" type="body"/>
          </p:nvPr>
        </p:nvSpPr>
        <p:spPr>
          <a:xfrm>
            <a:off x="6197013" y="2001240"/>
            <a:ext cx="5472113" cy="2196041"/>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b="1" lang="it-IT" sz="1800">
                <a:latin typeface="Arial"/>
                <a:ea typeface="Arial"/>
                <a:cs typeface="Arial"/>
                <a:sym typeface="Arial"/>
              </a:rPr>
              <a:t>Agire </a:t>
            </a:r>
            <a:r>
              <a:rPr lang="it-IT" sz="1800">
                <a:latin typeface="Arial"/>
                <a:ea typeface="Arial"/>
                <a:cs typeface="Arial"/>
                <a:sym typeface="Arial"/>
              </a:rPr>
              <a:t>Se vediamo una discriminazione, dobbiamo sentirci responsabili di intervenire, di parlare e di agire contro le ingiustizie, anche nei piccoli gesti quotidiani. Se vediamo che qualcuno viene escluso, dobbiamo cercare di far sentire quella persona accettata e inclusa.</a:t>
            </a:r>
            <a:endParaRPr sz="1800">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b="1" sz="18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b="1" lang="it-IT" sz="1800">
                <a:latin typeface="Arial"/>
                <a:ea typeface="Arial"/>
                <a:cs typeface="Arial"/>
                <a:sym typeface="Arial"/>
              </a:rPr>
              <a:t>Sostenere leggi e politiche di pari opportunità </a:t>
            </a:r>
            <a:r>
              <a:rPr lang="it-IT" sz="1800">
                <a:latin typeface="Arial"/>
                <a:ea typeface="Arial"/>
                <a:cs typeface="Arial"/>
                <a:sym typeface="Arial"/>
              </a:rPr>
              <a:t>Le leggi devono garantire che ogni persona, indipendentemente dalla sua origine, dal suo genere o da qualsiasi altra caratteristica, possa godere delle stesse opportunità.</a:t>
            </a:r>
            <a:endParaRPr sz="1800">
              <a:latin typeface="Arial"/>
              <a:ea typeface="Arial"/>
              <a:cs typeface="Arial"/>
              <a:sym typeface="Arial"/>
            </a:endParaRPr>
          </a:p>
        </p:txBody>
      </p:sp>
      <p:sp>
        <p:nvSpPr>
          <p:cNvPr id="326" name="Google Shape;326;p17"/>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8"/>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2400"/>
              <a:buFont typeface="Arial"/>
              <a:buNone/>
            </a:pPr>
            <a:r>
              <a:rPr b="1" lang="it-IT" sz="2400">
                <a:latin typeface="Arial"/>
                <a:ea typeface="Arial"/>
                <a:cs typeface="Arial"/>
                <a:sym typeface="Arial"/>
              </a:rPr>
              <a:t>Vi vengono in mente esempi di discriminazione di genere o di razza nei </a:t>
            </a:r>
            <a:br>
              <a:rPr b="1" lang="it-IT" sz="2400">
                <a:latin typeface="Arial"/>
                <a:ea typeface="Arial"/>
                <a:cs typeface="Arial"/>
                <a:sym typeface="Arial"/>
              </a:rPr>
            </a:br>
            <a:r>
              <a:rPr b="1" lang="it-IT" sz="2400">
                <a:latin typeface="Arial"/>
                <a:ea typeface="Arial"/>
                <a:cs typeface="Arial"/>
                <a:sym typeface="Arial"/>
              </a:rPr>
              <a:t>contesti che frequentate, come la scuola o i media</a:t>
            </a:r>
            <a:r>
              <a:rPr lang="it-IT" sz="2400">
                <a:latin typeface="Arial"/>
                <a:ea typeface="Arial"/>
                <a:cs typeface="Arial"/>
                <a:sym typeface="Arial"/>
              </a:rPr>
              <a:t>?</a:t>
            </a:r>
            <a:endParaRPr sz="2400">
              <a:latin typeface="Arial"/>
              <a:ea typeface="Arial"/>
              <a:cs typeface="Arial"/>
              <a:sym typeface="Arial"/>
            </a:endParaRPr>
          </a:p>
        </p:txBody>
      </p:sp>
      <p:sp>
        <p:nvSpPr>
          <p:cNvPr id="332" name="Google Shape;332;p18"/>
          <p:cNvSpPr txBox="1"/>
          <p:nvPr>
            <p:ph idx="1" type="body"/>
          </p:nvPr>
        </p:nvSpPr>
        <p:spPr>
          <a:xfrm>
            <a:off x="318784" y="149916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000"/>
              <a:buNone/>
            </a:pPr>
            <a:r>
              <a:rPr b="1" lang="it-IT" sz="2400">
                <a:latin typeface="Arial"/>
                <a:ea typeface="Arial"/>
                <a:cs typeface="Arial"/>
                <a:sym typeface="Arial"/>
              </a:rPr>
              <a:t>Come le  pari opportunità potrebbero essere </a:t>
            </a:r>
            <a:endParaRPr/>
          </a:p>
          <a:p>
            <a:pPr indent="0" lvl="0" marL="0" rtl="0" algn="l">
              <a:lnSpc>
                <a:spcPct val="115000"/>
              </a:lnSpc>
              <a:spcBef>
                <a:spcPts val="1800"/>
              </a:spcBef>
              <a:spcAft>
                <a:spcPts val="0"/>
              </a:spcAft>
              <a:buClr>
                <a:srgbClr val="3F3F3F"/>
              </a:buClr>
              <a:buSzPts val="1000"/>
              <a:buNone/>
            </a:pPr>
            <a:r>
              <a:rPr b="1" lang="it-IT" sz="2400">
                <a:latin typeface="Arial"/>
                <a:ea typeface="Arial"/>
                <a:cs typeface="Arial"/>
                <a:sym typeface="Arial"/>
              </a:rPr>
              <a:t>promosse ancora meglio in Italia e nel mondo? </a:t>
            </a:r>
            <a:endParaRPr b="1" sz="2400">
              <a:latin typeface="Arial"/>
              <a:ea typeface="Arial"/>
              <a:cs typeface="Arial"/>
              <a:sym typeface="Arial"/>
            </a:endParaRPr>
          </a:p>
          <a:p>
            <a:pPr indent="0" lvl="0" marL="0" rtl="0" algn="l">
              <a:lnSpc>
                <a:spcPct val="100000"/>
              </a:lnSpc>
              <a:spcBef>
                <a:spcPts val="1800"/>
              </a:spcBef>
              <a:spcAft>
                <a:spcPts val="0"/>
              </a:spcAft>
              <a:buClr>
                <a:srgbClr val="3F3F3F"/>
              </a:buClr>
              <a:buSzPts val="1000"/>
              <a:buNone/>
            </a:pPr>
            <a:r>
              <a:t/>
            </a:r>
            <a:endParaRPr b="1" sz="2400">
              <a:latin typeface="Arial"/>
              <a:ea typeface="Arial"/>
              <a:cs typeface="Arial"/>
              <a:sym typeface="Arial"/>
            </a:endParaRPr>
          </a:p>
          <a:p>
            <a:pPr indent="0" lvl="0" marL="0" rtl="0" algn="l">
              <a:lnSpc>
                <a:spcPct val="100000"/>
              </a:lnSpc>
              <a:spcBef>
                <a:spcPts val="1800"/>
              </a:spcBef>
              <a:spcAft>
                <a:spcPts val="0"/>
              </a:spcAft>
              <a:buClr>
                <a:srgbClr val="3F3F3F"/>
              </a:buClr>
              <a:buSzPts val="1000"/>
              <a:buNone/>
            </a:pPr>
            <a:r>
              <a:t/>
            </a:r>
            <a:endParaRPr b="1" sz="2400">
              <a:latin typeface="Arial"/>
              <a:ea typeface="Arial"/>
              <a:cs typeface="Arial"/>
              <a:sym typeface="Arial"/>
            </a:endParaRPr>
          </a:p>
          <a:p>
            <a:pPr indent="0" lvl="0" marL="0" rtl="0" algn="l">
              <a:lnSpc>
                <a:spcPct val="100000"/>
              </a:lnSpc>
              <a:spcBef>
                <a:spcPts val="1800"/>
              </a:spcBef>
              <a:spcAft>
                <a:spcPts val="0"/>
              </a:spcAft>
              <a:buClr>
                <a:srgbClr val="3F3F3F"/>
              </a:buClr>
              <a:buSzPts val="1000"/>
              <a:buNone/>
            </a:pPr>
            <a:r>
              <a:rPr b="1" lang="it-IT" sz="2400">
                <a:latin typeface="Arial"/>
                <a:ea typeface="Arial"/>
                <a:cs typeface="Arial"/>
                <a:sym typeface="Arial"/>
              </a:rPr>
              <a:t>Le politiche esistenti sono sufficienti o </a:t>
            </a:r>
            <a:endParaRPr b="1" sz="2400">
              <a:latin typeface="Arial"/>
              <a:ea typeface="Arial"/>
              <a:cs typeface="Arial"/>
              <a:sym typeface="Arial"/>
            </a:endParaRPr>
          </a:p>
          <a:p>
            <a:pPr indent="0" lvl="0" marL="0" rtl="0" algn="l">
              <a:lnSpc>
                <a:spcPct val="100000"/>
              </a:lnSpc>
              <a:spcBef>
                <a:spcPts val="1800"/>
              </a:spcBef>
              <a:spcAft>
                <a:spcPts val="0"/>
              </a:spcAft>
              <a:buClr>
                <a:srgbClr val="3F3F3F"/>
              </a:buClr>
              <a:buSzPts val="1000"/>
              <a:buNone/>
            </a:pPr>
            <a:r>
              <a:rPr b="1" lang="it-IT" sz="2400">
                <a:latin typeface="Arial"/>
                <a:ea typeface="Arial"/>
                <a:cs typeface="Arial"/>
                <a:sym typeface="Arial"/>
              </a:rPr>
              <a:t>ci sono cambiamenti da apportare?</a:t>
            </a:r>
            <a:endParaRPr sz="2400">
              <a:latin typeface="Arial"/>
              <a:ea typeface="Arial"/>
              <a:cs typeface="Arial"/>
              <a:sym typeface="Arial"/>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171450" lvl="0" marL="285750" rtl="0" algn="l">
              <a:lnSpc>
                <a:spcPct val="115000"/>
              </a:lnSpc>
              <a:spcBef>
                <a:spcPts val="1800"/>
              </a:spcBef>
              <a:spcAft>
                <a:spcPts val="0"/>
              </a:spcAft>
              <a:buClr>
                <a:srgbClr val="3F3F3F"/>
              </a:buClr>
              <a:buSzPts val="1800"/>
              <a:buFont typeface="Arial"/>
              <a:buNone/>
            </a:pPr>
            <a:r>
              <a:t/>
            </a:r>
            <a:endParaRPr b="1" sz="1800">
              <a:latin typeface="Arial"/>
              <a:ea typeface="Arial"/>
              <a:cs typeface="Arial"/>
              <a:sym typeface="Arial"/>
            </a:endParaRPr>
          </a:p>
          <a:p>
            <a:pPr indent="0" lvl="0" marL="0" rtl="0" algn="l">
              <a:lnSpc>
                <a:spcPct val="115000"/>
              </a:lnSpc>
              <a:spcBef>
                <a:spcPts val="1800"/>
              </a:spcBef>
              <a:spcAft>
                <a:spcPts val="0"/>
              </a:spcAft>
              <a:buClr>
                <a:srgbClr val="3F3F3F"/>
              </a:buClr>
              <a:buSzPts val="2800"/>
              <a:buNone/>
            </a:pPr>
            <a:r>
              <a:t/>
            </a:r>
            <a:endParaRPr sz="2800">
              <a:latin typeface="Arial"/>
              <a:ea typeface="Arial"/>
              <a:cs typeface="Arial"/>
              <a:sym typeface="Arial"/>
            </a:endParaRPr>
          </a:p>
        </p:txBody>
      </p:sp>
      <p:sp>
        <p:nvSpPr>
          <p:cNvPr id="333" name="Google Shape;333;p18"/>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lavagna, calligrafia, testo, Viso umano&#10;&#10;Descrizione generata automaticamente" id="334" name="Google Shape;334;p18"/>
          <p:cNvPicPr preferRelativeResize="0"/>
          <p:nvPr/>
        </p:nvPicPr>
        <p:blipFill rotWithShape="1">
          <a:blip r:embed="rId3">
            <a:alphaModFix/>
          </a:blip>
          <a:srcRect b="0" l="0" r="0" t="0"/>
          <a:stretch/>
        </p:blipFill>
        <p:spPr>
          <a:xfrm>
            <a:off x="5902861" y="2616451"/>
            <a:ext cx="6289140" cy="41869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9"/>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Affinché si possa parlare di discriminazione, è necessario che il comportamento non sia motivato da altri fattori, ma solo dall’appartenenza della persona o delle persone discriminate a determinate categorie e che tale appartenenza non sia oggettivamente rilevante. Infatti, se discriminazione significa fondamentalmente “distinzione”, non tutte le distinzioni sono ingiustificate e quindi discriminatorie. </a:t>
            </a:r>
            <a:endParaRPr sz="1800">
              <a:latin typeface="Arial"/>
              <a:ea typeface="Arial"/>
              <a:cs typeface="Arial"/>
              <a:sym typeface="Arial"/>
            </a:endParaRPr>
          </a:p>
        </p:txBody>
      </p:sp>
      <p:sp>
        <p:nvSpPr>
          <p:cNvPr id="340" name="Google Shape;340;p19"/>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E’ sempre DISCRIMINAZIONE?</a:t>
            </a:r>
            <a:endParaRPr/>
          </a:p>
        </p:txBody>
      </p:sp>
      <p:sp>
        <p:nvSpPr>
          <p:cNvPr descr="Blocco in evidenza a sinistra" id="341" name="Google Shape;341;p19"/>
          <p:cNvSpPr/>
          <p:nvPr/>
        </p:nvSpPr>
        <p:spPr>
          <a:xfrm>
            <a:off x="420000" y="864156"/>
            <a:ext cx="4922562" cy="14384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342" name="Google Shape;342;p19"/>
          <p:cNvSpPr txBox="1"/>
          <p:nvPr>
            <p:ph idx="2" type="body"/>
          </p:nvPr>
        </p:nvSpPr>
        <p:spPr>
          <a:xfrm>
            <a:off x="415803" y="2388138"/>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2000"/>
              <a:buNone/>
            </a:pPr>
            <a:r>
              <a:rPr lang="it-IT" sz="2000">
                <a:latin typeface="Arial"/>
                <a:ea typeface="Arial"/>
                <a:cs typeface="Arial"/>
                <a:sym typeface="Arial"/>
              </a:rPr>
              <a:t>Esempi</a:t>
            </a:r>
            <a:endParaRPr sz="2000">
              <a:latin typeface="Arial"/>
              <a:ea typeface="Arial"/>
              <a:cs typeface="Arial"/>
              <a:sym typeface="Arial"/>
            </a:endParaRPr>
          </a:p>
        </p:txBody>
      </p:sp>
      <p:sp>
        <p:nvSpPr>
          <p:cNvPr id="343" name="Google Shape;343;p19"/>
          <p:cNvSpPr txBox="1"/>
          <p:nvPr>
            <p:ph idx="3" type="body"/>
          </p:nvPr>
        </p:nvSpPr>
        <p:spPr>
          <a:xfrm>
            <a:off x="286844" y="2772328"/>
            <a:ext cx="5472000"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Un regista che cerchi un’attrice per la parte di una donna, distingue tra attori uomini e attrici donne; il suo comportamento è però giustificato da fattori oggettivi e rilevanti rispetto alla scelta e quindi non è discriminatorio. </a:t>
            </a:r>
            <a:endParaRPr sz="1800">
              <a:latin typeface="Arial"/>
              <a:ea typeface="Arial"/>
              <a:cs typeface="Arial"/>
              <a:sym typeface="Arial"/>
            </a:endParaRPr>
          </a:p>
        </p:txBody>
      </p:sp>
      <p:cxnSp>
        <p:nvCxnSpPr>
          <p:cNvPr descr="Divisore diapositiva" id="344" name="Google Shape;344;p19"/>
          <p:cNvCxnSpPr/>
          <p:nvPr/>
        </p:nvCxnSpPr>
        <p:spPr>
          <a:xfrm>
            <a:off x="6373747" y="1764567"/>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345" name="Google Shape;345;p19"/>
          <p:cNvSpPr txBox="1"/>
          <p:nvPr>
            <p:ph idx="5" type="body"/>
          </p:nvPr>
        </p:nvSpPr>
        <p:spPr>
          <a:xfrm>
            <a:off x="6373747" y="2621733"/>
            <a:ext cx="5472113" cy="2196041"/>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La titolare di un negozio che cerchi solo commesse donne distingue i candidati e le candidate sulla base di un fattore (il genere) che non è oggettivamente rilevante per lo svolgimento del lavoro e che quindi si rivela come discriminatorio. </a:t>
            </a:r>
            <a:endParaRPr/>
          </a:p>
          <a:p>
            <a:pPr indent="-165100" lvl="0" marL="266700" rtl="0" algn="l">
              <a:lnSpc>
                <a:spcPct val="115000"/>
              </a:lnSpc>
              <a:spcBef>
                <a:spcPts val="1800"/>
              </a:spcBef>
              <a:spcAft>
                <a:spcPts val="0"/>
              </a:spcAft>
              <a:buClr>
                <a:srgbClr val="3F3F3F"/>
              </a:buClr>
              <a:buSzPts val="1600"/>
              <a:buNone/>
            </a:pPr>
            <a:r>
              <a:t/>
            </a:r>
            <a:endParaRPr sz="1600">
              <a:latin typeface="Arial"/>
              <a:ea typeface="Arial"/>
              <a:cs typeface="Arial"/>
              <a:sym typeface="Arial"/>
            </a:endParaRPr>
          </a:p>
        </p:txBody>
      </p:sp>
      <p:sp>
        <p:nvSpPr>
          <p:cNvPr id="346" name="Google Shape;346;p19"/>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Arte bambini, disegno, schizzo, arte&#10;&#10;Descrizione generata automaticamente" id="347" name="Google Shape;347;p19"/>
          <p:cNvPicPr preferRelativeResize="0"/>
          <p:nvPr/>
        </p:nvPicPr>
        <p:blipFill rotWithShape="1">
          <a:blip r:embed="rId3">
            <a:alphaModFix/>
          </a:blip>
          <a:srcRect b="0" l="0" r="0" t="0"/>
          <a:stretch/>
        </p:blipFill>
        <p:spPr>
          <a:xfrm>
            <a:off x="0" y="5090820"/>
            <a:ext cx="12192000" cy="171253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0"/>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Cosa sono i pregiudizi?</a:t>
            </a:r>
            <a:endParaRPr/>
          </a:p>
        </p:txBody>
      </p:sp>
      <p:sp>
        <p:nvSpPr>
          <p:cNvPr id="353" name="Google Shape;353;p20"/>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a:latin typeface="Arial"/>
                <a:ea typeface="Arial"/>
                <a:cs typeface="Arial"/>
                <a:sym typeface="Arial"/>
              </a:rPr>
              <a:t>S</a:t>
            </a:r>
            <a:r>
              <a:rPr lang="it-IT" sz="1800">
                <a:latin typeface="Arial"/>
                <a:ea typeface="Arial"/>
                <a:cs typeface="Arial"/>
                <a:sym typeface="Arial"/>
              </a:rPr>
              <a:t>ono convinzioni errate e generalizzate che abbiamo nei confronti di altri gruppi di persone o individui, basate su stereotipi e su idee preconcette. I pregiudizi sono pericolosi perché possono alimentare discriminazioni e ineguaglianze, impedendo che ognuno abbia le stesse opportunità nella vita, indipendentemente dalle proprie caratteristiche personali.</a:t>
            </a:r>
            <a:endParaRPr sz="1800">
              <a:latin typeface="Arial"/>
              <a:ea typeface="Arial"/>
              <a:cs typeface="Arial"/>
              <a:sym typeface="Arial"/>
            </a:endParaRPr>
          </a:p>
        </p:txBody>
      </p:sp>
      <p:sp>
        <p:nvSpPr>
          <p:cNvPr descr="Blocco in evidenza a sinistra" id="354" name="Google Shape;354;p20"/>
          <p:cNvSpPr/>
          <p:nvPr/>
        </p:nvSpPr>
        <p:spPr>
          <a:xfrm>
            <a:off x="420000" y="877358"/>
            <a:ext cx="3617744" cy="1110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355" name="Google Shape;355;p20"/>
          <p:cNvSpPr txBox="1"/>
          <p:nvPr>
            <p:ph idx="2" type="body"/>
          </p:nvPr>
        </p:nvSpPr>
        <p:spPr>
          <a:xfrm>
            <a:off x="431999" y="2442934"/>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600"/>
              <a:buNone/>
            </a:pPr>
            <a:r>
              <a:rPr lang="it-IT" sz="1600">
                <a:latin typeface="Arial"/>
                <a:ea typeface="Arial"/>
                <a:cs typeface="Arial"/>
                <a:sym typeface="Arial"/>
              </a:rPr>
              <a:t>I pregiudizi possono essere legati al:</a:t>
            </a:r>
            <a:endParaRPr/>
          </a:p>
          <a:p>
            <a:pPr indent="0" lvl="0" marL="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p:txBody>
      </p:sp>
      <p:sp>
        <p:nvSpPr>
          <p:cNvPr id="356" name="Google Shape;356;p20"/>
          <p:cNvSpPr txBox="1"/>
          <p:nvPr>
            <p:ph idx="3" type="body"/>
          </p:nvPr>
        </p:nvSpPr>
        <p:spPr>
          <a:xfrm>
            <a:off x="431800" y="2910922"/>
            <a:ext cx="5472000"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b="1" lang="it-IT" sz="1800">
                <a:latin typeface="Arial"/>
                <a:ea typeface="Arial"/>
                <a:cs typeface="Arial"/>
                <a:sym typeface="Arial"/>
              </a:rPr>
              <a:t>Genere</a:t>
            </a:r>
            <a:endParaRPr/>
          </a:p>
          <a:p>
            <a:pPr indent="-266700" lvl="0" marL="266700" rtl="0" algn="l">
              <a:lnSpc>
                <a:spcPct val="115000"/>
              </a:lnSpc>
              <a:spcBef>
                <a:spcPts val="1800"/>
              </a:spcBef>
              <a:spcAft>
                <a:spcPts val="0"/>
              </a:spcAft>
              <a:buClr>
                <a:srgbClr val="3F3F3F"/>
              </a:buClr>
              <a:buSzPts val="1800"/>
              <a:buChar char="•"/>
            </a:pPr>
            <a:r>
              <a:rPr b="1" lang="it-IT">
                <a:latin typeface="Arial"/>
                <a:ea typeface="Arial"/>
                <a:cs typeface="Arial"/>
                <a:sym typeface="Arial"/>
              </a:rPr>
              <a:t>Razza o etnia</a:t>
            </a:r>
            <a:endParaRPr/>
          </a:p>
          <a:p>
            <a:pPr indent="-266700" lvl="0" marL="266700" rtl="0" algn="l">
              <a:lnSpc>
                <a:spcPct val="115000"/>
              </a:lnSpc>
              <a:spcBef>
                <a:spcPts val="1800"/>
              </a:spcBef>
              <a:spcAft>
                <a:spcPts val="0"/>
              </a:spcAft>
              <a:buClr>
                <a:srgbClr val="3F3F3F"/>
              </a:buClr>
              <a:buSzPts val="1800"/>
              <a:buChar char="•"/>
            </a:pPr>
            <a:r>
              <a:rPr b="1" lang="it-IT" sz="1800">
                <a:latin typeface="Arial"/>
                <a:ea typeface="Arial"/>
                <a:cs typeface="Arial"/>
                <a:sym typeface="Arial"/>
              </a:rPr>
              <a:t>Orientamento sessuale</a:t>
            </a:r>
            <a:endParaRPr/>
          </a:p>
          <a:p>
            <a:pPr indent="-266700" lvl="0" marL="266700" rtl="0" algn="l">
              <a:lnSpc>
                <a:spcPct val="115000"/>
              </a:lnSpc>
              <a:spcBef>
                <a:spcPts val="1800"/>
              </a:spcBef>
              <a:spcAft>
                <a:spcPts val="0"/>
              </a:spcAft>
              <a:buClr>
                <a:srgbClr val="3F3F3F"/>
              </a:buClr>
              <a:buSzPts val="1800"/>
              <a:buChar char="•"/>
            </a:pPr>
            <a:r>
              <a:rPr b="1" lang="it-IT">
                <a:latin typeface="Arial"/>
                <a:ea typeface="Arial"/>
                <a:cs typeface="Arial"/>
                <a:sym typeface="Arial"/>
              </a:rPr>
              <a:t>Disabilità</a:t>
            </a:r>
            <a:endParaRPr/>
          </a:p>
          <a:p>
            <a:pPr indent="-266700" lvl="0" marL="266700" rtl="0" algn="l">
              <a:lnSpc>
                <a:spcPct val="115000"/>
              </a:lnSpc>
              <a:spcBef>
                <a:spcPts val="1800"/>
              </a:spcBef>
              <a:spcAft>
                <a:spcPts val="0"/>
              </a:spcAft>
              <a:buClr>
                <a:srgbClr val="3F3F3F"/>
              </a:buClr>
              <a:buSzPts val="1800"/>
              <a:buChar char="•"/>
            </a:pPr>
            <a:r>
              <a:rPr b="1" lang="it-IT" sz="1800">
                <a:latin typeface="Arial"/>
                <a:ea typeface="Arial"/>
                <a:cs typeface="Arial"/>
                <a:sym typeface="Arial"/>
              </a:rPr>
              <a:t>Stato socio economico</a:t>
            </a:r>
            <a:endParaRPr/>
          </a:p>
          <a:p>
            <a:pPr indent="0" lvl="0" marL="0" rtl="0" algn="l">
              <a:lnSpc>
                <a:spcPct val="115000"/>
              </a:lnSpc>
              <a:spcBef>
                <a:spcPts val="1800"/>
              </a:spcBef>
              <a:spcAft>
                <a:spcPts val="0"/>
              </a:spcAft>
              <a:buClr>
                <a:srgbClr val="3F3F3F"/>
              </a:buClr>
              <a:buSzPts val="10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357" name="Google Shape;357;p20"/>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358" name="Google Shape;358;p20"/>
          <p:cNvSpPr/>
          <p:nvPr/>
        </p:nvSpPr>
        <p:spPr>
          <a:xfrm>
            <a:off x="6299887" y="2736327"/>
            <a:ext cx="5124974" cy="6590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359" name="Google Shape;359;p20"/>
          <p:cNvSpPr txBox="1"/>
          <p:nvPr>
            <p:ph idx="4" type="body"/>
          </p:nvPr>
        </p:nvSpPr>
        <p:spPr>
          <a:xfrm>
            <a:off x="6300000" y="2443459"/>
            <a:ext cx="5472000" cy="358775"/>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b="1" lang="it-IT" sz="1800">
                <a:latin typeface="Arial"/>
                <a:ea typeface="Arial"/>
                <a:cs typeface="Arial"/>
                <a:sym typeface="Arial"/>
              </a:rPr>
              <a:t>Come i pregiudizi influenzano le pari opportunità?</a:t>
            </a:r>
            <a:endParaRPr/>
          </a:p>
        </p:txBody>
      </p:sp>
      <p:sp>
        <p:nvSpPr>
          <p:cNvPr id="360" name="Google Shape;360;p20"/>
          <p:cNvSpPr txBox="1"/>
          <p:nvPr>
            <p:ph idx="5" type="body"/>
          </p:nvPr>
        </p:nvSpPr>
        <p:spPr>
          <a:xfrm>
            <a:off x="6586148" y="2938099"/>
            <a:ext cx="5472113" cy="2196041"/>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I pregiudizi limitano le pari opportunità. Quando una persona viene giudicata in base al suo genere, alla sua etnia, al suo orientamento sessuale, alla sua disabilità o alla sua classe sociale, le viene impedito di vivere la vita come desidera e di raggiungere il suo massimo potenziale. La società diventa ingiusta e divisiva.</a:t>
            </a:r>
            <a:endParaRPr sz="1800">
              <a:latin typeface="Arial"/>
              <a:ea typeface="Arial"/>
              <a:cs typeface="Arial"/>
              <a:sym typeface="Arial"/>
            </a:endParaRPr>
          </a:p>
        </p:txBody>
      </p:sp>
      <p:sp>
        <p:nvSpPr>
          <p:cNvPr id="361" name="Google Shape;361;p20"/>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mano, dito, persona, Danza&#10;&#10;Descrizione generata automaticamente" id="362" name="Google Shape;362;p20"/>
          <p:cNvPicPr preferRelativeResize="0"/>
          <p:nvPr/>
        </p:nvPicPr>
        <p:blipFill rotWithShape="1">
          <a:blip r:embed="rId3">
            <a:alphaModFix/>
          </a:blip>
          <a:srcRect b="0" l="0" r="0" t="0"/>
          <a:stretch/>
        </p:blipFill>
        <p:spPr>
          <a:xfrm>
            <a:off x="8021369" y="4931031"/>
            <a:ext cx="4170631" cy="187231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1"/>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Cosa sono i pregiudizi?</a:t>
            </a:r>
            <a:endParaRPr/>
          </a:p>
        </p:txBody>
      </p:sp>
      <p:sp>
        <p:nvSpPr>
          <p:cNvPr id="368" name="Google Shape;368;p21"/>
          <p:cNvSpPr txBox="1"/>
          <p:nvPr>
            <p:ph idx="1" type="body"/>
          </p:nvPr>
        </p:nvSpPr>
        <p:spPr>
          <a:xfrm>
            <a:off x="414240" y="4324333"/>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a:latin typeface="Arial"/>
                <a:ea typeface="Arial"/>
                <a:cs typeface="Arial"/>
                <a:sym typeface="Arial"/>
              </a:rPr>
              <a:t>S</a:t>
            </a:r>
            <a:r>
              <a:rPr lang="it-IT" sz="1800">
                <a:latin typeface="Arial"/>
                <a:ea typeface="Arial"/>
                <a:cs typeface="Arial"/>
                <a:sym typeface="Arial"/>
              </a:rPr>
              <a:t>ono convinzioni errate e generalizzate che abbiamo nei confronti di altri gruppi di persone o individui, basate su stereotipi e su idee preconcette. I pregiudizi sono pericolosi perché possono alimentare discriminazioni e ineguaglianze, impedendo che ognuno abbia le stesse opportunità nella vita, indipendentemente dalle proprie caratteristiche personali.</a:t>
            </a:r>
            <a:endParaRPr sz="1800">
              <a:latin typeface="Arial"/>
              <a:ea typeface="Arial"/>
              <a:cs typeface="Arial"/>
              <a:sym typeface="Arial"/>
            </a:endParaRPr>
          </a:p>
        </p:txBody>
      </p:sp>
      <p:sp>
        <p:nvSpPr>
          <p:cNvPr descr="Blocco in evidenza a sinistra" id="369" name="Google Shape;369;p21"/>
          <p:cNvSpPr/>
          <p:nvPr/>
        </p:nvSpPr>
        <p:spPr>
          <a:xfrm>
            <a:off x="420000" y="877358"/>
            <a:ext cx="3617744" cy="1110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370" name="Google Shape;370;p21"/>
          <p:cNvSpPr txBox="1"/>
          <p:nvPr>
            <p:ph idx="2" type="body"/>
          </p:nvPr>
        </p:nvSpPr>
        <p:spPr>
          <a:xfrm>
            <a:off x="420000" y="1113729"/>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Esempi</a:t>
            </a:r>
            <a:endParaRPr/>
          </a:p>
        </p:txBody>
      </p:sp>
      <p:sp>
        <p:nvSpPr>
          <p:cNvPr id="371" name="Google Shape;371;p21"/>
          <p:cNvSpPr txBox="1"/>
          <p:nvPr>
            <p:ph idx="3" type="body"/>
          </p:nvPr>
        </p:nvSpPr>
        <p:spPr>
          <a:xfrm>
            <a:off x="153218" y="1803371"/>
            <a:ext cx="11339513"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600"/>
              <a:buChar char="•"/>
            </a:pPr>
            <a:r>
              <a:rPr lang="it-IT" sz="1600">
                <a:latin typeface="Arial"/>
                <a:ea typeface="Arial"/>
                <a:cs typeface="Arial"/>
                <a:sym typeface="Arial"/>
              </a:rPr>
              <a:t>Il primo tipo di pregiudizio di cui voglio parlarvi riguarda il genere. In molte culture, e anche nella nostra, esistono stereotipi di genere che vedono l’uomo come più adatto a lavori che richiedono autorità, forza e razionalità, mentre alla donna viene attribuito un ruolo più “domestico” o legato alla cura degli altri.</a:t>
            </a:r>
            <a:endParaRPr sz="16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600"/>
              <a:buChar char="•"/>
            </a:pPr>
            <a:r>
              <a:rPr lang="it-IT" sz="1600">
                <a:latin typeface="Arial"/>
                <a:ea typeface="Arial"/>
                <a:cs typeface="Arial"/>
                <a:sym typeface="Arial"/>
              </a:rPr>
              <a:t>Immaginate, ad esempio, una ragazza che vuole diventare ingegnere o una donna che ambisce a diventare manager di una grande azienda. Quante volte ci siamo trovati a pensare che queste donne debbano affrontare più difficoltà rispetto agli uomini in questi ambiti, solo per il fatto di essere donne? Questo è un pregiudizio che limita le potenzialità di chi lo subisce e che non ha nessuna base razionale. Le capacità di una persona non dipendono dal suo genere.</a:t>
            </a:r>
            <a:endParaRPr/>
          </a:p>
          <a:p>
            <a:pPr indent="-152400" lvl="0" marL="26670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600">
              <a:latin typeface="Arial"/>
              <a:ea typeface="Arial"/>
              <a:cs typeface="Arial"/>
              <a:sym typeface="Arial"/>
            </a:endParaRPr>
          </a:p>
        </p:txBody>
      </p:sp>
      <p:cxnSp>
        <p:nvCxnSpPr>
          <p:cNvPr descr="Divisore diapositiva" id="372" name="Google Shape;372;p21"/>
          <p:cNvCxnSpPr/>
          <p:nvPr/>
        </p:nvCxnSpPr>
        <p:spPr>
          <a:xfrm>
            <a:off x="6096000" y="2712356"/>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373" name="Google Shape;373;p21"/>
          <p:cNvSpPr txBox="1"/>
          <p:nvPr>
            <p:ph idx="4" type="body"/>
          </p:nvPr>
        </p:nvSpPr>
        <p:spPr>
          <a:xfrm>
            <a:off x="420000" y="1477103"/>
            <a:ext cx="4408854" cy="32626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lang="it-IT" sz="1800"/>
              <a:t>Pregiudizio di Genere</a:t>
            </a:r>
            <a:endParaRPr/>
          </a:p>
        </p:txBody>
      </p:sp>
      <p:sp>
        <p:nvSpPr>
          <p:cNvPr id="374" name="Google Shape;374;p21"/>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Persone in abbigliamento da ufficio sedute a un tavolo mentre conversano, donna al centro e due uomini ai lati" id="375" name="Google Shape;375;p21"/>
          <p:cNvPicPr preferRelativeResize="0"/>
          <p:nvPr/>
        </p:nvPicPr>
        <p:blipFill rotWithShape="1">
          <a:blip r:embed="rId3">
            <a:alphaModFix/>
          </a:blip>
          <a:srcRect b="0" l="0" r="0" t="0"/>
          <a:stretch/>
        </p:blipFill>
        <p:spPr>
          <a:xfrm>
            <a:off x="9750582" y="5230388"/>
            <a:ext cx="2441418" cy="16276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2"/>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Cosa sono i pregiudizi?</a:t>
            </a:r>
            <a:endParaRPr/>
          </a:p>
        </p:txBody>
      </p:sp>
      <p:sp>
        <p:nvSpPr>
          <p:cNvPr descr="Blocco in evidenza a sinistra" id="381" name="Google Shape;381;p22"/>
          <p:cNvSpPr/>
          <p:nvPr/>
        </p:nvSpPr>
        <p:spPr>
          <a:xfrm>
            <a:off x="420000" y="877358"/>
            <a:ext cx="3617744" cy="1110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382" name="Google Shape;382;p22"/>
          <p:cNvSpPr txBox="1"/>
          <p:nvPr>
            <p:ph idx="2" type="body"/>
          </p:nvPr>
        </p:nvSpPr>
        <p:spPr>
          <a:xfrm>
            <a:off x="420000" y="1113729"/>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Esempi</a:t>
            </a:r>
            <a:endParaRPr/>
          </a:p>
        </p:txBody>
      </p:sp>
      <p:sp>
        <p:nvSpPr>
          <p:cNvPr id="383" name="Google Shape;383;p22"/>
          <p:cNvSpPr txBox="1"/>
          <p:nvPr>
            <p:ph idx="3" type="body"/>
          </p:nvPr>
        </p:nvSpPr>
        <p:spPr>
          <a:xfrm>
            <a:off x="204588" y="2224738"/>
            <a:ext cx="11339513"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Un altro tipo di pregiudizio diffuso riguarda la razza e l’etnia. </a:t>
            </a:r>
            <a:r>
              <a:rPr b="1" lang="it-IT" sz="1800">
                <a:latin typeface="Arial"/>
                <a:ea typeface="Arial"/>
                <a:cs typeface="Arial"/>
                <a:sym typeface="Arial"/>
              </a:rPr>
              <a:t>Questo pregiudizio si basa sull’idea che alcune persone siano superiori ad altre solo per il colore della pelle o per la loro origine geografica. Ci sono persone che pensano che le persone di colore o quelle provenienti da altri paesi siano meno intelligenti o meno adatte a certi lavori, basandosi su queste caratteristiche superficiali.</a:t>
            </a:r>
            <a:endParaRPr b="1" sz="18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lang="it-IT" sz="1800">
                <a:latin typeface="Arial"/>
                <a:ea typeface="Arial"/>
                <a:cs typeface="Arial"/>
                <a:sym typeface="Arial"/>
              </a:rPr>
              <a:t>Questi pregiudizi non solo sono falsi, ma sono anche dannosi per l’intera società. Le persone di tutte le etichette razziali sono uguali in termini di capacità e talento. I pregiudizi razziali creano divisioni e barriere che impediscono a molte persone di realizzare il loro potenziale.</a:t>
            </a:r>
            <a:endParaRPr/>
          </a:p>
          <a:p>
            <a:pPr indent="-152400" lvl="0" marL="26670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600">
              <a:latin typeface="Arial"/>
              <a:ea typeface="Arial"/>
              <a:cs typeface="Arial"/>
              <a:sym typeface="Arial"/>
            </a:endParaRPr>
          </a:p>
        </p:txBody>
      </p:sp>
      <p:cxnSp>
        <p:nvCxnSpPr>
          <p:cNvPr descr="Divisore diapositiva" id="384" name="Google Shape;384;p22"/>
          <p:cNvCxnSpPr/>
          <p:nvPr/>
        </p:nvCxnSpPr>
        <p:spPr>
          <a:xfrm>
            <a:off x="6159341" y="3811691"/>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385" name="Google Shape;385;p22"/>
          <p:cNvSpPr txBox="1"/>
          <p:nvPr>
            <p:ph idx="4" type="body"/>
          </p:nvPr>
        </p:nvSpPr>
        <p:spPr>
          <a:xfrm>
            <a:off x="420000" y="1477103"/>
            <a:ext cx="4408854" cy="32626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lang="it-IT" sz="1800"/>
              <a:t>Pregiudizio Etnico</a:t>
            </a:r>
            <a:endParaRPr/>
          </a:p>
        </p:txBody>
      </p:sp>
      <p:sp>
        <p:nvSpPr>
          <p:cNvPr id="386" name="Google Shape;386;p22"/>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Viso umano, persona, sopracciglio, ciglio&#10;&#10;Descrizione generata automaticamente" id="387" name="Google Shape;387;p22"/>
          <p:cNvPicPr preferRelativeResize="0"/>
          <p:nvPr/>
        </p:nvPicPr>
        <p:blipFill rotWithShape="1">
          <a:blip r:embed="rId3">
            <a:alphaModFix/>
          </a:blip>
          <a:srcRect b="0" l="0" r="0" t="0"/>
          <a:stretch/>
        </p:blipFill>
        <p:spPr>
          <a:xfrm>
            <a:off x="7278986" y="4419432"/>
            <a:ext cx="4493015" cy="23839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3"/>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Cosa sono i pregiudizi?</a:t>
            </a:r>
            <a:endParaRPr/>
          </a:p>
        </p:txBody>
      </p:sp>
      <p:sp>
        <p:nvSpPr>
          <p:cNvPr descr="Blocco in evidenza a sinistra" id="393" name="Google Shape;393;p23"/>
          <p:cNvSpPr/>
          <p:nvPr/>
        </p:nvSpPr>
        <p:spPr>
          <a:xfrm>
            <a:off x="420000" y="877358"/>
            <a:ext cx="3617744" cy="1110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394" name="Google Shape;394;p23"/>
          <p:cNvSpPr txBox="1"/>
          <p:nvPr>
            <p:ph idx="2" type="body"/>
          </p:nvPr>
        </p:nvSpPr>
        <p:spPr>
          <a:xfrm>
            <a:off x="420000" y="1113729"/>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Esempi</a:t>
            </a:r>
            <a:endParaRPr/>
          </a:p>
        </p:txBody>
      </p:sp>
      <p:sp>
        <p:nvSpPr>
          <p:cNvPr id="395" name="Google Shape;395;p23"/>
          <p:cNvSpPr txBox="1"/>
          <p:nvPr>
            <p:ph idx="3" type="body"/>
          </p:nvPr>
        </p:nvSpPr>
        <p:spPr>
          <a:xfrm>
            <a:off x="204588" y="2224738"/>
            <a:ext cx="11339513"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Un altro pregiudizio riguarda l'orientamento sessuale. Non tutti accettano che le persone possano amare qualcuno dello stesso sesso, o che qualcuno possa sentirsi diverso dal proprio sesso biologico. La società ha spesso imposto l'idea che solo una relazione eterosessuale sia “normale” e che le persone gay, lesbiche, bisessuali o transgender siano “diverse” in senso negativo.</a:t>
            </a:r>
            <a:endParaRPr sz="18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lang="it-IT" sz="1800">
                <a:latin typeface="Arial"/>
                <a:ea typeface="Arial"/>
                <a:cs typeface="Arial"/>
                <a:sym typeface="Arial"/>
              </a:rPr>
              <a:t>Pensare che una persona sia inferiore o che meriti meno rispetto a un’altra perché ama qualcuno dello stesso sesso è un pregiudizio. Le persone devono essere libere di amare chi vogliono senza essere giudicate o emarginate. </a:t>
            </a:r>
            <a:r>
              <a:rPr b="1" lang="it-IT" sz="1800">
                <a:latin typeface="Arial"/>
                <a:ea typeface="Arial"/>
                <a:cs typeface="Arial"/>
                <a:sym typeface="Arial"/>
              </a:rPr>
              <a:t>L’orientamento sessuale non ha nulla a che vedere con il valore di una persona</a:t>
            </a:r>
            <a:r>
              <a:rPr lang="it-IT" sz="1800">
                <a:latin typeface="Arial"/>
                <a:ea typeface="Arial"/>
                <a:cs typeface="Arial"/>
                <a:sym typeface="Arial"/>
              </a:rPr>
              <a:t>.</a:t>
            </a:r>
            <a:endParaRPr/>
          </a:p>
          <a:p>
            <a:pPr indent="-152400" lvl="0" marL="26670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600">
              <a:latin typeface="Arial"/>
              <a:ea typeface="Arial"/>
              <a:cs typeface="Arial"/>
              <a:sym typeface="Arial"/>
            </a:endParaRPr>
          </a:p>
        </p:txBody>
      </p:sp>
      <p:cxnSp>
        <p:nvCxnSpPr>
          <p:cNvPr descr="Divisore diapositiva" id="396" name="Google Shape;396;p23"/>
          <p:cNvCxnSpPr/>
          <p:nvPr/>
        </p:nvCxnSpPr>
        <p:spPr>
          <a:xfrm>
            <a:off x="6096000" y="2712356"/>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397" name="Google Shape;397;p23"/>
          <p:cNvSpPr txBox="1"/>
          <p:nvPr>
            <p:ph idx="4" type="body"/>
          </p:nvPr>
        </p:nvSpPr>
        <p:spPr>
          <a:xfrm>
            <a:off x="420000" y="1477103"/>
            <a:ext cx="4408854" cy="32626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lang="it-IT" sz="1800"/>
              <a:t>Pregiudizio Orientamento Sessuale</a:t>
            </a:r>
            <a:endParaRPr/>
          </a:p>
        </p:txBody>
      </p:sp>
      <p:sp>
        <p:nvSpPr>
          <p:cNvPr id="398" name="Google Shape;398;p23"/>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persona, Viso umano, bacio, vestiti&#10;&#10;Descrizione generata automaticamente" id="399" name="Google Shape;399;p23"/>
          <p:cNvPicPr preferRelativeResize="0"/>
          <p:nvPr/>
        </p:nvPicPr>
        <p:blipFill rotWithShape="1">
          <a:blip r:embed="rId3">
            <a:alphaModFix/>
          </a:blip>
          <a:srcRect b="0" l="0" r="0" t="0"/>
          <a:stretch/>
        </p:blipFill>
        <p:spPr>
          <a:xfrm>
            <a:off x="7369522" y="4698749"/>
            <a:ext cx="4822478" cy="2102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4"/>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Cosa sono i pregiudizi?</a:t>
            </a:r>
            <a:endParaRPr/>
          </a:p>
        </p:txBody>
      </p:sp>
      <p:sp>
        <p:nvSpPr>
          <p:cNvPr descr="Blocco in evidenza a sinistra" id="405" name="Google Shape;405;p24"/>
          <p:cNvSpPr/>
          <p:nvPr/>
        </p:nvSpPr>
        <p:spPr>
          <a:xfrm>
            <a:off x="420000" y="877358"/>
            <a:ext cx="3617744" cy="1110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06" name="Google Shape;406;p24"/>
          <p:cNvSpPr txBox="1"/>
          <p:nvPr>
            <p:ph idx="2" type="body"/>
          </p:nvPr>
        </p:nvSpPr>
        <p:spPr>
          <a:xfrm>
            <a:off x="420000" y="1113729"/>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Esempi</a:t>
            </a:r>
            <a:endParaRPr/>
          </a:p>
        </p:txBody>
      </p:sp>
      <p:sp>
        <p:nvSpPr>
          <p:cNvPr id="407" name="Google Shape;407;p24"/>
          <p:cNvSpPr txBox="1"/>
          <p:nvPr>
            <p:ph idx="3" type="body"/>
          </p:nvPr>
        </p:nvSpPr>
        <p:spPr>
          <a:xfrm>
            <a:off x="204588" y="2224738"/>
            <a:ext cx="11339513"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Un altro pregiudizio diffuso riguarda le persone con disabilità. Molte volte, si pensa che una persona con una disabilità fisica o mentale non possa fare certe cose o che sia meno capace di vivere una vita normale. Questo è un errore enorme, perché una persona con disabilità ha le stesse capacità di qualsiasi altra, ma a volte ha bisogno di maggiore supporto o di un ambiente più inclusivo per esprimere tutto il suo potenziale.</a:t>
            </a:r>
            <a:endParaRPr sz="18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lang="it-IT" sz="1800">
                <a:latin typeface="Arial"/>
                <a:ea typeface="Arial"/>
                <a:cs typeface="Arial"/>
                <a:sym typeface="Arial"/>
              </a:rPr>
              <a:t>Pensare che una persona con disabilità non possa lavorare, studiare o fare sport, è un pregiudizio che va combattuto. </a:t>
            </a:r>
            <a:r>
              <a:rPr b="1" lang="it-IT" sz="1800">
                <a:latin typeface="Arial"/>
                <a:ea typeface="Arial"/>
                <a:cs typeface="Arial"/>
                <a:sym typeface="Arial"/>
              </a:rPr>
              <a:t>Le persone con disabilità sono capaci di realizzare grandi cose, proprio come tutti noi, e la società deve offrire loro le stesse opportunità.</a:t>
            </a:r>
            <a:endParaRPr b="1" sz="1800">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600">
              <a:latin typeface="Arial"/>
              <a:ea typeface="Arial"/>
              <a:cs typeface="Arial"/>
              <a:sym typeface="Arial"/>
            </a:endParaRPr>
          </a:p>
        </p:txBody>
      </p:sp>
      <p:cxnSp>
        <p:nvCxnSpPr>
          <p:cNvPr descr="Divisore diapositiva" id="408" name="Google Shape;408;p24"/>
          <p:cNvCxnSpPr/>
          <p:nvPr/>
        </p:nvCxnSpPr>
        <p:spPr>
          <a:xfrm>
            <a:off x="6096000" y="2712356"/>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409" name="Google Shape;409;p24"/>
          <p:cNvSpPr txBox="1"/>
          <p:nvPr>
            <p:ph idx="4" type="body"/>
          </p:nvPr>
        </p:nvSpPr>
        <p:spPr>
          <a:xfrm>
            <a:off x="420000" y="1477103"/>
            <a:ext cx="4408854" cy="32626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lang="it-IT" sz="1800"/>
              <a:t>Pregiudizio legato alla Disabilità</a:t>
            </a:r>
            <a:endParaRPr/>
          </a:p>
        </p:txBody>
      </p:sp>
      <p:sp>
        <p:nvSpPr>
          <p:cNvPr id="410" name="Google Shape;410;p24"/>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cielo, nuvola, aria aperta, uccello&#10;&#10;Descrizione generata automaticamente" id="411" name="Google Shape;411;p24"/>
          <p:cNvPicPr preferRelativeResize="0"/>
          <p:nvPr/>
        </p:nvPicPr>
        <p:blipFill rotWithShape="1">
          <a:blip r:embed="rId3">
            <a:alphaModFix/>
          </a:blip>
          <a:srcRect b="0" l="0" r="0" t="0"/>
          <a:stretch/>
        </p:blipFill>
        <p:spPr>
          <a:xfrm>
            <a:off x="6989276" y="4451420"/>
            <a:ext cx="5202724" cy="235193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5"/>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3F3F3F"/>
              </a:buClr>
              <a:buSzPts val="3200"/>
              <a:buFont typeface="Corbel"/>
              <a:buNone/>
            </a:pPr>
            <a:r>
              <a:rPr lang="it-IT"/>
              <a:t>Cosa sono i pregiudizi?</a:t>
            </a:r>
            <a:endParaRPr/>
          </a:p>
        </p:txBody>
      </p:sp>
      <p:sp>
        <p:nvSpPr>
          <p:cNvPr descr="Blocco in evidenza a sinistra" id="417" name="Google Shape;417;p25"/>
          <p:cNvSpPr/>
          <p:nvPr/>
        </p:nvSpPr>
        <p:spPr>
          <a:xfrm>
            <a:off x="420000" y="877358"/>
            <a:ext cx="3617744" cy="1110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18" name="Google Shape;418;p25"/>
          <p:cNvSpPr txBox="1"/>
          <p:nvPr>
            <p:ph idx="2" type="body"/>
          </p:nvPr>
        </p:nvSpPr>
        <p:spPr>
          <a:xfrm>
            <a:off x="420000" y="1113729"/>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Esempi</a:t>
            </a:r>
            <a:endParaRPr/>
          </a:p>
        </p:txBody>
      </p:sp>
      <p:sp>
        <p:nvSpPr>
          <p:cNvPr id="419" name="Google Shape;419;p25"/>
          <p:cNvSpPr txBox="1"/>
          <p:nvPr>
            <p:ph idx="3" type="body"/>
          </p:nvPr>
        </p:nvSpPr>
        <p:spPr>
          <a:xfrm>
            <a:off x="204588" y="2224738"/>
            <a:ext cx="11339513"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Infine, un altro tipo di pregiudizio riguarda il ceto sociale o lo stato economico di una persona. Spesso, chi proviene da famiglie più povere o da quartieri più disagiati viene giudicato come meno intelligente o meno capace, solo per il fatto di avere meno risorse economiche.</a:t>
            </a:r>
            <a:endParaRPr sz="18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b="1" lang="it-IT" sz="1800">
                <a:latin typeface="Arial"/>
                <a:ea typeface="Arial"/>
                <a:cs typeface="Arial"/>
                <a:sym typeface="Arial"/>
              </a:rPr>
              <a:t>La classe sociale non determina la qualità di una persona. </a:t>
            </a:r>
            <a:r>
              <a:rPr lang="it-IT" sz="1800">
                <a:latin typeface="Arial"/>
                <a:ea typeface="Arial"/>
                <a:cs typeface="Arial"/>
                <a:sym typeface="Arial"/>
              </a:rPr>
              <a:t>Chi nasce in un ambiente difficile può trovarsi a dover lottare di più, ma questo non significa che non abbia le stesse capacità degli altri. </a:t>
            </a:r>
            <a:r>
              <a:rPr b="1" lang="it-IT" sz="1800">
                <a:latin typeface="Arial"/>
                <a:ea typeface="Arial"/>
                <a:cs typeface="Arial"/>
                <a:sym typeface="Arial"/>
              </a:rPr>
              <a:t>Ogni persona, indipendentemente dalla sua condizione economica, merita le stesse opportunità di crescita e realizzazione.</a:t>
            </a:r>
            <a:endParaRPr b="1" sz="1800">
              <a:latin typeface="Arial"/>
              <a:ea typeface="Arial"/>
              <a:cs typeface="Arial"/>
              <a:sym typeface="Arial"/>
            </a:endParaRPr>
          </a:p>
          <a:p>
            <a:pPr indent="-152400" lvl="0" marL="266700" rtl="0" algn="l">
              <a:lnSpc>
                <a:spcPct val="115000"/>
              </a:lnSpc>
              <a:spcBef>
                <a:spcPts val="1800"/>
              </a:spcBef>
              <a:spcAft>
                <a:spcPts val="0"/>
              </a:spcAft>
              <a:buClr>
                <a:srgbClr val="3F3F3F"/>
              </a:buClr>
              <a:buSzPts val="1800"/>
              <a:buNone/>
            </a:pPr>
            <a:r>
              <a:t/>
            </a:r>
            <a:endParaRPr b="1">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600">
              <a:latin typeface="Arial"/>
              <a:ea typeface="Arial"/>
              <a:cs typeface="Arial"/>
              <a:sym typeface="Arial"/>
            </a:endParaRPr>
          </a:p>
        </p:txBody>
      </p:sp>
      <p:cxnSp>
        <p:nvCxnSpPr>
          <p:cNvPr descr="Divisore diapositiva" id="420" name="Google Shape;420;p25"/>
          <p:cNvCxnSpPr/>
          <p:nvPr/>
        </p:nvCxnSpPr>
        <p:spPr>
          <a:xfrm>
            <a:off x="6096000" y="2712356"/>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421" name="Google Shape;421;p25"/>
          <p:cNvSpPr txBox="1"/>
          <p:nvPr>
            <p:ph idx="4" type="body"/>
          </p:nvPr>
        </p:nvSpPr>
        <p:spPr>
          <a:xfrm>
            <a:off x="420000" y="1477103"/>
            <a:ext cx="4408854" cy="326268"/>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lang="it-IT" sz="1800"/>
              <a:t>Pregiudizio legato allo stato socioeconomico</a:t>
            </a:r>
            <a:endParaRPr/>
          </a:p>
        </p:txBody>
      </p:sp>
      <p:sp>
        <p:nvSpPr>
          <p:cNvPr id="422" name="Google Shape;422;p25"/>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silhouette, eretto, vestiti, calzature&#10;&#10;Descrizione generata automaticamente" id="423" name="Google Shape;423;p25"/>
          <p:cNvPicPr preferRelativeResize="0"/>
          <p:nvPr/>
        </p:nvPicPr>
        <p:blipFill rotWithShape="1">
          <a:blip r:embed="rId3">
            <a:alphaModFix/>
          </a:blip>
          <a:srcRect b="0" l="0" r="0" t="0"/>
          <a:stretch/>
        </p:blipFill>
        <p:spPr>
          <a:xfrm>
            <a:off x="5957181" y="4419432"/>
            <a:ext cx="6234819" cy="238391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6"/>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2800"/>
              <a:buFont typeface="Arial"/>
              <a:buNone/>
            </a:pPr>
            <a:r>
              <a:rPr b="1" lang="it-IT" sz="2800">
                <a:latin typeface="Arial"/>
                <a:ea typeface="Arial"/>
                <a:cs typeface="Arial"/>
                <a:sym typeface="Arial"/>
              </a:rPr>
              <a:t>Perché stereotipi e pregiudizi persistono?</a:t>
            </a:r>
            <a:endParaRPr sz="2800">
              <a:latin typeface="Arial"/>
              <a:ea typeface="Arial"/>
              <a:cs typeface="Arial"/>
              <a:sym typeface="Arial"/>
            </a:endParaRPr>
          </a:p>
        </p:txBody>
      </p:sp>
      <p:sp>
        <p:nvSpPr>
          <p:cNvPr id="429" name="Google Shape;429;p26"/>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L’essere umano tende ad osservare in </a:t>
            </a:r>
            <a:r>
              <a:rPr b="1" lang="it-IT" sz="1800">
                <a:latin typeface="Arial"/>
                <a:ea typeface="Arial"/>
                <a:cs typeface="Arial"/>
                <a:sym typeface="Arial"/>
              </a:rPr>
              <a:t>maniera selettiva </a:t>
            </a:r>
            <a:r>
              <a:rPr lang="it-IT" sz="1800">
                <a:latin typeface="Arial"/>
                <a:ea typeface="Arial"/>
                <a:cs typeface="Arial"/>
                <a:sym typeface="Arial"/>
              </a:rPr>
              <a:t>quelle caratteristiche che confermano l’idea/lo stereotipo che si ha. Perché succede? </a:t>
            </a:r>
            <a:endParaRPr/>
          </a:p>
          <a:p>
            <a:pPr indent="0" lvl="0" marL="0" rtl="0" algn="l">
              <a:lnSpc>
                <a:spcPct val="115000"/>
              </a:lnSpc>
              <a:spcBef>
                <a:spcPts val="1800"/>
              </a:spcBef>
              <a:spcAft>
                <a:spcPts val="0"/>
              </a:spcAft>
              <a:buClr>
                <a:srgbClr val="3F3F3F"/>
              </a:buClr>
              <a:buSzPts val="1800"/>
              <a:buNone/>
            </a:pPr>
            <a:r>
              <a:rPr lang="it-IT" sz="1800">
                <a:latin typeface="Arial"/>
                <a:ea typeface="Arial"/>
                <a:cs typeface="Arial"/>
                <a:sym typeface="Arial"/>
              </a:rPr>
              <a:t>Perché il nostro cervello attua </a:t>
            </a:r>
            <a:r>
              <a:rPr b="1" lang="it-IT" sz="1800">
                <a:latin typeface="Arial"/>
                <a:ea typeface="Arial"/>
                <a:cs typeface="Arial"/>
                <a:sym typeface="Arial"/>
              </a:rPr>
              <a:t>scorciatoie</a:t>
            </a:r>
            <a:r>
              <a:rPr lang="it-IT" sz="1800">
                <a:latin typeface="Arial"/>
                <a:ea typeface="Arial"/>
                <a:cs typeface="Arial"/>
                <a:sym typeface="Arial"/>
              </a:rPr>
              <a:t> a causa dei bias cognitivi. </a:t>
            </a:r>
            <a:endParaRPr sz="1800">
              <a:latin typeface="Arial"/>
              <a:ea typeface="Arial"/>
              <a:cs typeface="Arial"/>
              <a:sym typeface="Arial"/>
            </a:endParaRPr>
          </a:p>
        </p:txBody>
      </p:sp>
      <p:sp>
        <p:nvSpPr>
          <p:cNvPr descr="Blocco in evidenza a sinistra" id="430" name="Google Shape;430;p26"/>
          <p:cNvSpPr/>
          <p:nvPr/>
        </p:nvSpPr>
        <p:spPr>
          <a:xfrm>
            <a:off x="419999" y="832835"/>
            <a:ext cx="5879887" cy="1110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31" name="Google Shape;431;p26"/>
          <p:cNvSpPr txBox="1"/>
          <p:nvPr>
            <p:ph idx="3" type="body"/>
          </p:nvPr>
        </p:nvSpPr>
        <p:spPr>
          <a:xfrm>
            <a:off x="420000" y="3290075"/>
            <a:ext cx="5472000" cy="219469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0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432" name="Google Shape;432;p26"/>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433" name="Google Shape;433;p26"/>
          <p:cNvSpPr/>
          <p:nvPr/>
        </p:nvSpPr>
        <p:spPr>
          <a:xfrm>
            <a:off x="317887" y="3161857"/>
            <a:ext cx="2361939" cy="12821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34" name="Google Shape;434;p26"/>
          <p:cNvSpPr txBox="1"/>
          <p:nvPr>
            <p:ph idx="4" type="body"/>
          </p:nvPr>
        </p:nvSpPr>
        <p:spPr>
          <a:xfrm>
            <a:off x="-1232482" y="2819897"/>
            <a:ext cx="5472000" cy="358775"/>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3F3F3F"/>
              </a:buClr>
              <a:buSzPts val="2800"/>
              <a:buNone/>
            </a:pPr>
            <a:r>
              <a:rPr b="1" lang="it-IT" sz="2800">
                <a:latin typeface="Arial"/>
                <a:ea typeface="Arial"/>
                <a:cs typeface="Arial"/>
                <a:sym typeface="Arial"/>
              </a:rPr>
              <a:t>I bias cognitivi</a:t>
            </a:r>
            <a:endParaRPr sz="2800"/>
          </a:p>
        </p:txBody>
      </p:sp>
      <p:sp>
        <p:nvSpPr>
          <p:cNvPr id="435" name="Google Shape;435;p26"/>
          <p:cNvSpPr txBox="1"/>
          <p:nvPr>
            <p:ph idx="5" type="body"/>
          </p:nvPr>
        </p:nvSpPr>
        <p:spPr>
          <a:xfrm>
            <a:off x="317887" y="3339707"/>
            <a:ext cx="5472113" cy="2196041"/>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3F3F3F"/>
              </a:buClr>
              <a:buSzPts val="1800"/>
              <a:buNone/>
            </a:pPr>
            <a:r>
              <a:rPr lang="it-IT">
                <a:latin typeface="Arial"/>
                <a:ea typeface="Arial"/>
                <a:cs typeface="Arial"/>
                <a:sym typeface="Arial"/>
              </a:rPr>
              <a:t>S</a:t>
            </a:r>
            <a:r>
              <a:rPr lang="it-IT" sz="1800">
                <a:latin typeface="Arial"/>
                <a:ea typeface="Arial"/>
                <a:cs typeface="Arial"/>
                <a:sym typeface="Arial"/>
              </a:rPr>
              <a:t>ono</a:t>
            </a:r>
            <a:r>
              <a:rPr b="1" lang="it-IT">
                <a:latin typeface="Arial"/>
                <a:ea typeface="Arial"/>
                <a:cs typeface="Arial"/>
                <a:sym typeface="Arial"/>
              </a:rPr>
              <a:t> </a:t>
            </a:r>
            <a:r>
              <a:rPr lang="it-IT" sz="1800">
                <a:latin typeface="Arial"/>
                <a:ea typeface="Arial"/>
                <a:cs typeface="Arial"/>
                <a:sym typeface="Arial"/>
              </a:rPr>
              <a:t>rappresentazioni distorte e personali della realtà; sono generati da convinzioni personali e non da valutazioni oggettive; sono basati su preferenze di tipo soggettivo</a:t>
            </a:r>
            <a:endParaRPr sz="1800">
              <a:latin typeface="Arial"/>
              <a:ea typeface="Arial"/>
              <a:cs typeface="Arial"/>
              <a:sym typeface="Arial"/>
            </a:endParaRPr>
          </a:p>
        </p:txBody>
      </p:sp>
      <p:sp>
        <p:nvSpPr>
          <p:cNvPr id="436" name="Google Shape;436;p26"/>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schizzo, clipart, Line art, disegno&#10;&#10;Descrizione generata automaticamente" id="437" name="Google Shape;437;p26"/>
          <p:cNvPicPr preferRelativeResize="0"/>
          <p:nvPr/>
        </p:nvPicPr>
        <p:blipFill rotWithShape="1">
          <a:blip r:embed="rId3">
            <a:alphaModFix/>
          </a:blip>
          <a:srcRect b="0" l="0" r="0" t="0"/>
          <a:stretch/>
        </p:blipFill>
        <p:spPr>
          <a:xfrm>
            <a:off x="5891999" y="2818679"/>
            <a:ext cx="6299998" cy="3984672"/>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7"/>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2800"/>
              <a:buFont typeface="Arial"/>
              <a:buNone/>
            </a:pPr>
            <a:r>
              <a:rPr b="1" lang="it-IT" sz="2800">
                <a:latin typeface="Arial"/>
                <a:ea typeface="Arial"/>
                <a:cs typeface="Arial"/>
                <a:sym typeface="Arial"/>
              </a:rPr>
              <a:t>Euristiche e bias</a:t>
            </a:r>
            <a:endParaRPr sz="2800">
              <a:latin typeface="Arial"/>
              <a:ea typeface="Arial"/>
              <a:cs typeface="Arial"/>
              <a:sym typeface="Arial"/>
            </a:endParaRPr>
          </a:p>
        </p:txBody>
      </p:sp>
      <p:sp>
        <p:nvSpPr>
          <p:cNvPr id="443" name="Google Shape;443;p27"/>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3F3F3F"/>
              </a:buClr>
              <a:buSzPts val="1800"/>
              <a:buNone/>
            </a:pPr>
            <a:r>
              <a:rPr lang="it-IT">
                <a:latin typeface="Arial"/>
                <a:ea typeface="Arial"/>
                <a:cs typeface="Arial"/>
                <a:sym typeface="Arial"/>
              </a:rPr>
              <a:t>Le </a:t>
            </a:r>
            <a:r>
              <a:rPr b="1" lang="it-IT">
                <a:latin typeface="Arial"/>
                <a:ea typeface="Arial"/>
                <a:cs typeface="Arial"/>
                <a:sym typeface="Arial"/>
              </a:rPr>
              <a:t>euristiche</a:t>
            </a:r>
            <a:r>
              <a:rPr lang="it-IT">
                <a:latin typeface="Arial"/>
                <a:ea typeface="Arial"/>
                <a:cs typeface="Arial"/>
                <a:sym typeface="Arial"/>
              </a:rPr>
              <a:t> sono strategie o regole pratiche che le persone usano per risolvere problemi, prendere decisioni o affrontare situazioni complesse in modo rapido e con un minimo di sforzo cognitivo</a:t>
            </a:r>
            <a:r>
              <a:rPr b="1" lang="it-IT">
                <a:latin typeface="Arial"/>
                <a:ea typeface="Arial"/>
                <a:cs typeface="Arial"/>
                <a:sym typeface="Arial"/>
              </a:rPr>
              <a:t>. Si tratta di soluzioni semplici, spesso efficaci, ma che non garantiscono sempre il risultato ottimale o corretto.</a:t>
            </a:r>
            <a:endParaRPr/>
          </a:p>
          <a:p>
            <a:pPr indent="0" lvl="0" marL="0" rtl="0" algn="l">
              <a:lnSpc>
                <a:spcPct val="90000"/>
              </a:lnSpc>
              <a:spcBef>
                <a:spcPts val="1000"/>
              </a:spcBef>
              <a:spcAft>
                <a:spcPts val="0"/>
              </a:spcAft>
              <a:buClr>
                <a:srgbClr val="3F3F3F"/>
              </a:buClr>
              <a:buSzPts val="1800"/>
              <a:buNone/>
            </a:pPr>
            <a:r>
              <a:rPr lang="it-IT">
                <a:latin typeface="Arial"/>
                <a:ea typeface="Arial"/>
                <a:cs typeface="Arial"/>
                <a:sym typeface="Arial"/>
              </a:rPr>
              <a:t>Le euristiche sono particolarmente utili quando ci si trova di fronte a un'abbondanza di informazioni o quando il tempo per prendere una decisione è limitato. Tuttavia, queste regole possono portare a </a:t>
            </a:r>
            <a:r>
              <a:rPr b="1" lang="it-IT">
                <a:latin typeface="Arial"/>
                <a:ea typeface="Arial"/>
                <a:cs typeface="Arial"/>
                <a:sym typeface="Arial"/>
              </a:rPr>
              <a:t>bias cognitivi</a:t>
            </a:r>
            <a:r>
              <a:rPr lang="it-IT">
                <a:latin typeface="Arial"/>
                <a:ea typeface="Arial"/>
                <a:cs typeface="Arial"/>
                <a:sym typeface="Arial"/>
              </a:rPr>
              <a:t>, ossia errori di giudizio, che derivano proprio dalla semplificazione dei processi decisionali.</a:t>
            </a:r>
            <a:endParaRPr/>
          </a:p>
        </p:txBody>
      </p:sp>
      <p:sp>
        <p:nvSpPr>
          <p:cNvPr descr="Blocco in evidenza a sinistra" id="444" name="Google Shape;444;p27"/>
          <p:cNvSpPr/>
          <p:nvPr/>
        </p:nvSpPr>
        <p:spPr>
          <a:xfrm>
            <a:off x="419999" y="832835"/>
            <a:ext cx="5879887" cy="1110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45" name="Google Shape;445;p27"/>
          <p:cNvSpPr txBox="1"/>
          <p:nvPr>
            <p:ph idx="2" type="body"/>
          </p:nvPr>
        </p:nvSpPr>
        <p:spPr>
          <a:xfrm>
            <a:off x="493638" y="4171699"/>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0" lang="it-IT" sz="1800">
                <a:latin typeface="Arial"/>
                <a:ea typeface="Arial"/>
                <a:cs typeface="Arial"/>
                <a:sym typeface="Arial"/>
              </a:rPr>
              <a:t>Le </a:t>
            </a:r>
            <a:r>
              <a:rPr lang="it-IT" sz="1800">
                <a:latin typeface="Arial"/>
                <a:ea typeface="Arial"/>
                <a:cs typeface="Arial"/>
                <a:sym typeface="Arial"/>
              </a:rPr>
              <a:t>euristiche</a:t>
            </a:r>
            <a:r>
              <a:rPr b="0" lang="it-IT" sz="1800">
                <a:latin typeface="Arial"/>
                <a:ea typeface="Arial"/>
                <a:cs typeface="Arial"/>
                <a:sym typeface="Arial"/>
              </a:rPr>
              <a:t> sono fondamentali per il funzionamento quotidiano della mente umana, ma è importante essere consapevoli che possono talvolta portare a distorsioni nelle decisioni.</a:t>
            </a:r>
            <a:endParaRPr b="0" sz="1800">
              <a:latin typeface="Arial"/>
              <a:ea typeface="Arial"/>
              <a:cs typeface="Arial"/>
              <a:sym typeface="Arial"/>
            </a:endParaRPr>
          </a:p>
        </p:txBody>
      </p:sp>
      <p:sp>
        <p:nvSpPr>
          <p:cNvPr id="446" name="Google Shape;446;p27"/>
          <p:cNvSpPr txBox="1"/>
          <p:nvPr>
            <p:ph idx="3" type="body"/>
          </p:nvPr>
        </p:nvSpPr>
        <p:spPr>
          <a:xfrm>
            <a:off x="420000" y="3290075"/>
            <a:ext cx="5472000" cy="219469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0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447" name="Google Shape;447;p27"/>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448" name="Google Shape;448;p27"/>
          <p:cNvSpPr txBox="1"/>
          <p:nvPr>
            <p:ph idx="4" type="body"/>
          </p:nvPr>
        </p:nvSpPr>
        <p:spPr>
          <a:xfrm>
            <a:off x="-1457430" y="3143926"/>
            <a:ext cx="5472000" cy="358775"/>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3F3F3F"/>
              </a:buClr>
              <a:buSzPts val="2800"/>
              <a:buNone/>
            </a:pPr>
            <a:r>
              <a:rPr b="1" lang="it-IT" sz="2800">
                <a:latin typeface="Arial"/>
                <a:ea typeface="Arial"/>
                <a:cs typeface="Arial"/>
                <a:sym typeface="Arial"/>
              </a:rPr>
              <a:t>Problema</a:t>
            </a:r>
            <a:endParaRPr sz="2800"/>
          </a:p>
        </p:txBody>
      </p:sp>
      <p:sp>
        <p:nvSpPr>
          <p:cNvPr id="449" name="Google Shape;449;p27"/>
          <p:cNvSpPr txBox="1"/>
          <p:nvPr>
            <p:ph idx="5" type="body"/>
          </p:nvPr>
        </p:nvSpPr>
        <p:spPr>
          <a:xfrm>
            <a:off x="469518" y="3482381"/>
            <a:ext cx="11228844" cy="1378636"/>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I </a:t>
            </a:r>
            <a:r>
              <a:rPr b="1" lang="it-IT" sz="1800">
                <a:latin typeface="Arial"/>
                <a:ea typeface="Arial"/>
                <a:cs typeface="Arial"/>
                <a:sym typeface="Arial"/>
              </a:rPr>
              <a:t>bias </a:t>
            </a:r>
            <a:r>
              <a:rPr lang="it-IT" sz="1800">
                <a:latin typeface="Arial"/>
                <a:ea typeface="Arial"/>
                <a:cs typeface="Arial"/>
                <a:sym typeface="Arial"/>
              </a:rPr>
              <a:t>quindi sono delle euristiche non efficaci, pregiudizi astratti non fondati sulla realtà ma acquisiti a priori senza alcuna critica o giudizio.</a:t>
            </a:r>
            <a:endParaRPr sz="1800">
              <a:latin typeface="Arial"/>
              <a:ea typeface="Arial"/>
              <a:cs typeface="Arial"/>
              <a:sym typeface="Arial"/>
            </a:endParaRPr>
          </a:p>
        </p:txBody>
      </p:sp>
      <p:sp>
        <p:nvSpPr>
          <p:cNvPr id="450" name="Google Shape;450;p27"/>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descr="Immagine che contiene cerchio&#10;&#10;Descrizione generata automaticamente" id="451" name="Google Shape;451;p27"/>
          <p:cNvPicPr preferRelativeResize="0"/>
          <p:nvPr/>
        </p:nvPicPr>
        <p:blipFill rotWithShape="1">
          <a:blip r:embed="rId3">
            <a:alphaModFix/>
          </a:blip>
          <a:srcRect b="0" l="0" r="0" t="0"/>
          <a:stretch/>
        </p:blipFill>
        <p:spPr>
          <a:xfrm>
            <a:off x="7813140" y="3794215"/>
            <a:ext cx="4378859" cy="300913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28"/>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2800"/>
              <a:buFont typeface="Arial"/>
              <a:buNone/>
            </a:pPr>
            <a:r>
              <a:rPr b="1" lang="it-IT" sz="2800">
                <a:latin typeface="Arial"/>
                <a:ea typeface="Arial"/>
                <a:cs typeface="Arial"/>
                <a:sym typeface="Arial"/>
              </a:rPr>
              <a:t>Accuratezze e veridicità degli stereotipi</a:t>
            </a:r>
            <a:endParaRPr sz="2800">
              <a:latin typeface="Arial"/>
              <a:ea typeface="Arial"/>
              <a:cs typeface="Arial"/>
              <a:sym typeface="Arial"/>
            </a:endParaRPr>
          </a:p>
        </p:txBody>
      </p:sp>
      <p:sp>
        <p:nvSpPr>
          <p:cNvPr id="457" name="Google Shape;457;p28"/>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Due teorie a confronto</a:t>
            </a:r>
            <a:r>
              <a:rPr lang="it-IT" sz="1800">
                <a:latin typeface="Arial"/>
                <a:ea typeface="Arial"/>
                <a:cs typeface="Arial"/>
                <a:sym typeface="Arial"/>
              </a:rPr>
              <a:t>. Per alcuni studiosi gli stereotipi esagerano alcuni tratti che effettivamente caratterizzano determinati gruppi, generalizzando in maniera eccessiva, equivoca e troppo rigida. Si appoggiano quindi a quello che si può definire un “nocciolo di verità”. Per altri invece, la questione della veridicità degli stereotipi è fittizia e pericolosa perché offre una giustificazione alla discriminazione. La riproduzione degli stereotipi e in generale dei pregiudizi avviene perché interagendo con gli altri sulla base delle proprie aspettative si finisce per fare in modo che effettivamente rispondano a queste aspettative, realizzando quello che nella letteratura psicosociale viene definito come “</a:t>
            </a:r>
            <a:r>
              <a:rPr b="1" lang="it-IT" sz="1800">
                <a:latin typeface="Arial"/>
                <a:ea typeface="Arial"/>
                <a:cs typeface="Arial"/>
                <a:sym typeface="Arial"/>
              </a:rPr>
              <a:t>la profezia che si autoavvera</a:t>
            </a:r>
            <a:r>
              <a:rPr lang="it-IT" sz="1800">
                <a:latin typeface="Arial"/>
                <a:ea typeface="Arial"/>
                <a:cs typeface="Arial"/>
                <a:sym typeface="Arial"/>
              </a:rPr>
              <a:t>”. Cosa si intende? Le aspettative sugli altri portano indirettamente l’altro ad agire in modo coerente con le nostre aspettative, confermando quindi il nostro stereotipo.</a:t>
            </a:r>
            <a:endParaRPr sz="1800">
              <a:latin typeface="Arial"/>
              <a:ea typeface="Arial"/>
              <a:cs typeface="Arial"/>
              <a:sym typeface="Arial"/>
            </a:endParaRPr>
          </a:p>
          <a:p>
            <a:pPr indent="0" lvl="0" marL="0" rtl="0" algn="l">
              <a:lnSpc>
                <a:spcPct val="115000"/>
              </a:lnSpc>
              <a:spcBef>
                <a:spcPts val="1800"/>
              </a:spcBef>
              <a:spcAft>
                <a:spcPts val="0"/>
              </a:spcAft>
              <a:buClr>
                <a:srgbClr val="3F3F3F"/>
              </a:buClr>
              <a:buSzPts val="1800"/>
              <a:buNone/>
            </a:pPr>
            <a:r>
              <a:t/>
            </a:r>
            <a:endParaRPr sz="1800">
              <a:latin typeface="Arial"/>
              <a:ea typeface="Arial"/>
              <a:cs typeface="Arial"/>
              <a:sym typeface="Arial"/>
            </a:endParaRPr>
          </a:p>
        </p:txBody>
      </p:sp>
      <p:sp>
        <p:nvSpPr>
          <p:cNvPr descr="Blocco in evidenza a sinistra" id="458" name="Google Shape;458;p28"/>
          <p:cNvSpPr/>
          <p:nvPr/>
        </p:nvSpPr>
        <p:spPr>
          <a:xfrm>
            <a:off x="419999" y="832835"/>
            <a:ext cx="5879887" cy="11106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59" name="Google Shape;459;p28"/>
          <p:cNvSpPr txBox="1"/>
          <p:nvPr>
            <p:ph idx="2" type="body"/>
          </p:nvPr>
        </p:nvSpPr>
        <p:spPr>
          <a:xfrm>
            <a:off x="8532228" y="4776143"/>
            <a:ext cx="5663997"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t/>
            </a:r>
            <a:endParaRPr sz="1800">
              <a:latin typeface="Arial"/>
              <a:ea typeface="Arial"/>
              <a:cs typeface="Arial"/>
              <a:sym typeface="Arial"/>
            </a:endParaRPr>
          </a:p>
        </p:txBody>
      </p:sp>
      <p:sp>
        <p:nvSpPr>
          <p:cNvPr id="460" name="Google Shape;460;p28"/>
          <p:cNvSpPr txBox="1"/>
          <p:nvPr>
            <p:ph idx="3" type="body"/>
          </p:nvPr>
        </p:nvSpPr>
        <p:spPr>
          <a:xfrm>
            <a:off x="420000" y="3290075"/>
            <a:ext cx="5472000" cy="219469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0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461" name="Google Shape;461;p28"/>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462" name="Google Shape;462;p28"/>
          <p:cNvSpPr txBox="1"/>
          <p:nvPr>
            <p:ph idx="4" type="body"/>
          </p:nvPr>
        </p:nvSpPr>
        <p:spPr>
          <a:xfrm>
            <a:off x="8712485" y="4681363"/>
            <a:ext cx="2651742" cy="358775"/>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Il legame tra Pari Opportunità e Mobbing</a:t>
            </a:r>
            <a:endParaRPr sz="1800">
              <a:latin typeface="Arial"/>
              <a:ea typeface="Arial"/>
              <a:cs typeface="Arial"/>
              <a:sym typeface="Arial"/>
            </a:endParaRPr>
          </a:p>
        </p:txBody>
      </p:sp>
      <p:sp>
        <p:nvSpPr>
          <p:cNvPr id="463" name="Google Shape;463;p28"/>
          <p:cNvSpPr txBox="1"/>
          <p:nvPr>
            <p:ph idx="5" type="body"/>
          </p:nvPr>
        </p:nvSpPr>
        <p:spPr>
          <a:xfrm>
            <a:off x="827772" y="3829124"/>
            <a:ext cx="6364135" cy="2196041"/>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Uno degli ambiti in cui si è maggiormente studiato l’effetto dell’autoadempimento della profezia è quello educativo, con riferimento al rapporto tra aspettative degli insegnanti e rendimento degli allievi</a:t>
            </a:r>
            <a:r>
              <a:rPr b="1" lang="it-IT" sz="1800">
                <a:latin typeface="Arial"/>
                <a:ea typeface="Arial"/>
                <a:cs typeface="Arial"/>
                <a:sym typeface="Arial"/>
              </a:rPr>
              <a:t>. Se gli insegnanti tendono a valutare più positivamente un allievo a parità di rendimento scolastico, questo porta poi alla fine a una modificazione effettiva del rendimento in misura maggiore in quell’alunno “trattato meglio” dall’insegnante</a:t>
            </a:r>
            <a:r>
              <a:rPr lang="it-IT" sz="1800">
                <a:latin typeface="Arial"/>
                <a:ea typeface="Arial"/>
                <a:cs typeface="Arial"/>
                <a:sym typeface="Arial"/>
              </a:rPr>
              <a:t>. </a:t>
            </a:r>
            <a:endParaRPr sz="1800">
              <a:latin typeface="Arial"/>
              <a:ea typeface="Arial"/>
              <a:cs typeface="Arial"/>
              <a:sym typeface="Arial"/>
            </a:endParaRPr>
          </a:p>
        </p:txBody>
      </p:sp>
      <p:sp>
        <p:nvSpPr>
          <p:cNvPr id="464" name="Google Shape;464;p28"/>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id="465" name="Google Shape;465;p28"/>
          <p:cNvPicPr preferRelativeResize="0"/>
          <p:nvPr/>
        </p:nvPicPr>
        <p:blipFill rotWithShape="1">
          <a:blip r:embed="rId3">
            <a:alphaModFix/>
          </a:blip>
          <a:srcRect b="0" l="0" r="0" t="0"/>
          <a:stretch/>
        </p:blipFill>
        <p:spPr>
          <a:xfrm>
            <a:off x="7966524" y="3669646"/>
            <a:ext cx="3804789" cy="2534940"/>
          </a:xfrm>
          <a:prstGeom prst="rect">
            <a:avLst/>
          </a:prstGeom>
          <a:noFill/>
          <a:ln>
            <a:noFill/>
          </a:ln>
        </p:spPr>
      </p:pic>
      <p:pic>
        <p:nvPicPr>
          <p:cNvPr descr="Immagine che contiene testo, schermata, Carattere, linea&#10;&#10;Descrizione generata automaticamente" id="466" name="Google Shape;466;p28"/>
          <p:cNvPicPr preferRelativeResize="0"/>
          <p:nvPr/>
        </p:nvPicPr>
        <p:blipFill rotWithShape="1">
          <a:blip r:embed="rId4">
            <a:alphaModFix/>
          </a:blip>
          <a:srcRect b="0" l="0" r="0" t="0"/>
          <a:stretch/>
        </p:blipFill>
        <p:spPr>
          <a:xfrm>
            <a:off x="7395907" y="3602256"/>
            <a:ext cx="4796093" cy="320109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29"/>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2800"/>
              <a:buFont typeface="Arial"/>
              <a:buNone/>
            </a:pPr>
            <a:r>
              <a:rPr b="1" lang="it-IT" sz="2800">
                <a:latin typeface="Arial"/>
                <a:ea typeface="Arial"/>
                <a:cs typeface="Arial"/>
                <a:sym typeface="Arial"/>
              </a:rPr>
              <a:t>Pari opportunità e mobbing</a:t>
            </a:r>
            <a:endParaRPr sz="2800">
              <a:latin typeface="Arial"/>
              <a:ea typeface="Arial"/>
              <a:cs typeface="Arial"/>
              <a:sym typeface="Arial"/>
            </a:endParaRPr>
          </a:p>
        </p:txBody>
      </p:sp>
      <p:sp>
        <p:nvSpPr>
          <p:cNvPr id="472" name="Google Shape;472;p29"/>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Il mobbing è una forma di </a:t>
            </a:r>
            <a:r>
              <a:rPr b="1" lang="it-IT" sz="1800">
                <a:latin typeface="Arial"/>
                <a:ea typeface="Arial"/>
                <a:cs typeface="Arial"/>
                <a:sym typeface="Arial"/>
              </a:rPr>
              <a:t>abuso psicologico</a:t>
            </a:r>
            <a:r>
              <a:rPr lang="it-IT" sz="1800">
                <a:latin typeface="Arial"/>
                <a:ea typeface="Arial"/>
                <a:cs typeface="Arial"/>
                <a:sym typeface="Arial"/>
              </a:rPr>
              <a:t> e di </a:t>
            </a:r>
            <a:r>
              <a:rPr b="1" lang="it-IT" sz="1800">
                <a:latin typeface="Arial"/>
                <a:ea typeface="Arial"/>
                <a:cs typeface="Arial"/>
                <a:sym typeface="Arial"/>
              </a:rPr>
              <a:t>bullismo</a:t>
            </a:r>
            <a:r>
              <a:rPr lang="it-IT" sz="1800">
                <a:latin typeface="Arial"/>
                <a:ea typeface="Arial"/>
                <a:cs typeface="Arial"/>
                <a:sym typeface="Arial"/>
              </a:rPr>
              <a:t> che avviene in ambito lavorativo o scolastico, dove una persona viene sistematicamente perseguitata, emarginata o maltrattata da colleghi, superiori o compagni.</a:t>
            </a:r>
            <a:endParaRPr sz="1800">
              <a:latin typeface="Arial"/>
              <a:ea typeface="Arial"/>
              <a:cs typeface="Arial"/>
              <a:sym typeface="Arial"/>
            </a:endParaRPr>
          </a:p>
        </p:txBody>
      </p:sp>
      <p:sp>
        <p:nvSpPr>
          <p:cNvPr descr="Blocco in evidenza a sinistra" id="473" name="Google Shape;473;p29"/>
          <p:cNvSpPr/>
          <p:nvPr/>
        </p:nvSpPr>
        <p:spPr>
          <a:xfrm>
            <a:off x="419999" y="863999"/>
            <a:ext cx="3916611" cy="786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74" name="Google Shape;474;p29"/>
          <p:cNvSpPr txBox="1"/>
          <p:nvPr>
            <p:ph idx="3" type="body"/>
          </p:nvPr>
        </p:nvSpPr>
        <p:spPr>
          <a:xfrm>
            <a:off x="420000" y="3290075"/>
            <a:ext cx="5472000" cy="219469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0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475" name="Google Shape;475;p29"/>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476" name="Google Shape;476;p29"/>
          <p:cNvSpPr/>
          <p:nvPr/>
        </p:nvSpPr>
        <p:spPr>
          <a:xfrm>
            <a:off x="419998" y="2564047"/>
            <a:ext cx="4206315" cy="78675"/>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77" name="Google Shape;477;p29"/>
          <p:cNvSpPr txBox="1"/>
          <p:nvPr>
            <p:ph idx="4" type="body"/>
          </p:nvPr>
        </p:nvSpPr>
        <p:spPr>
          <a:xfrm>
            <a:off x="419999" y="2254770"/>
            <a:ext cx="5472000" cy="358775"/>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Il legame tra Pari Opportunità e Mobbing</a:t>
            </a:r>
            <a:endParaRPr sz="1800">
              <a:latin typeface="Arial"/>
              <a:ea typeface="Arial"/>
              <a:cs typeface="Arial"/>
              <a:sym typeface="Arial"/>
            </a:endParaRPr>
          </a:p>
        </p:txBody>
      </p:sp>
      <p:sp>
        <p:nvSpPr>
          <p:cNvPr id="478" name="Google Shape;478;p29"/>
          <p:cNvSpPr txBox="1"/>
          <p:nvPr>
            <p:ph idx="5" type="body"/>
          </p:nvPr>
        </p:nvSpPr>
        <p:spPr>
          <a:xfrm>
            <a:off x="419886" y="2922822"/>
            <a:ext cx="5472113" cy="2196041"/>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0"/>
              </a:spcAft>
              <a:buClr>
                <a:srgbClr val="3F3F3F"/>
              </a:buClr>
              <a:buSzPts val="1800"/>
              <a:buNone/>
            </a:pPr>
            <a:r>
              <a:rPr lang="it-IT">
                <a:latin typeface="Arial"/>
                <a:ea typeface="Arial"/>
                <a:cs typeface="Arial"/>
                <a:sym typeface="Arial"/>
              </a:rPr>
              <a:t>O</a:t>
            </a:r>
            <a:r>
              <a:rPr lang="it-IT" sz="1800">
                <a:latin typeface="Arial"/>
                <a:ea typeface="Arial"/>
                <a:cs typeface="Arial"/>
                <a:sym typeface="Arial"/>
              </a:rPr>
              <a:t>gni persona ha il diritto di lavorare o studiare in un ambiente </a:t>
            </a:r>
            <a:r>
              <a:rPr b="1" lang="it-IT" sz="1800">
                <a:latin typeface="Arial"/>
                <a:ea typeface="Arial"/>
                <a:cs typeface="Arial"/>
                <a:sym typeface="Arial"/>
              </a:rPr>
              <a:t>sicuro</a:t>
            </a:r>
            <a:r>
              <a:rPr lang="it-IT" sz="1800">
                <a:latin typeface="Arial"/>
                <a:ea typeface="Arial"/>
                <a:cs typeface="Arial"/>
                <a:sym typeface="Arial"/>
              </a:rPr>
              <a:t>, dove possa esprimere il proprio talento, crescere e dare il meglio di sé, senza essere giudicata o maltrattata. Questo diritto è alla base delle pari opportunità.</a:t>
            </a:r>
            <a:r>
              <a:rPr b="1" lang="it-IT" sz="1800">
                <a:latin typeface="Arial"/>
                <a:ea typeface="Arial"/>
                <a:cs typeface="Arial"/>
                <a:sym typeface="Arial"/>
              </a:rPr>
              <a:t> Le pari opportunità</a:t>
            </a:r>
            <a:r>
              <a:rPr lang="it-IT" sz="1800">
                <a:latin typeface="Arial"/>
                <a:ea typeface="Arial"/>
                <a:cs typeface="Arial"/>
                <a:sym typeface="Arial"/>
              </a:rPr>
              <a:t> garantiscono che ogni individuo, indipendentemente dal proprio </a:t>
            </a:r>
            <a:r>
              <a:rPr b="1" lang="it-IT" sz="1800">
                <a:latin typeface="Arial"/>
                <a:ea typeface="Arial"/>
                <a:cs typeface="Arial"/>
                <a:sym typeface="Arial"/>
              </a:rPr>
              <a:t>genere</a:t>
            </a:r>
            <a:r>
              <a:rPr lang="it-IT" sz="1800">
                <a:latin typeface="Arial"/>
                <a:ea typeface="Arial"/>
                <a:cs typeface="Arial"/>
                <a:sym typeface="Arial"/>
              </a:rPr>
              <a:t>, </a:t>
            </a:r>
            <a:r>
              <a:rPr b="1" lang="it-IT" sz="1800">
                <a:latin typeface="Arial"/>
                <a:ea typeface="Arial"/>
                <a:cs typeface="Arial"/>
                <a:sym typeface="Arial"/>
              </a:rPr>
              <a:t>orientamento sessuale</a:t>
            </a:r>
            <a:r>
              <a:rPr lang="it-IT" sz="1800">
                <a:latin typeface="Arial"/>
                <a:ea typeface="Arial"/>
                <a:cs typeface="Arial"/>
                <a:sym typeface="Arial"/>
              </a:rPr>
              <a:t>, </a:t>
            </a:r>
            <a:r>
              <a:rPr b="1" lang="it-IT" sz="1800">
                <a:latin typeface="Arial"/>
                <a:ea typeface="Arial"/>
                <a:cs typeface="Arial"/>
                <a:sym typeface="Arial"/>
              </a:rPr>
              <a:t>origine etnica</a:t>
            </a:r>
            <a:r>
              <a:rPr lang="it-IT" sz="1800">
                <a:latin typeface="Arial"/>
                <a:ea typeface="Arial"/>
                <a:cs typeface="Arial"/>
                <a:sym typeface="Arial"/>
              </a:rPr>
              <a:t>, </a:t>
            </a:r>
            <a:r>
              <a:rPr b="1" lang="it-IT" sz="1800">
                <a:latin typeface="Arial"/>
                <a:ea typeface="Arial"/>
                <a:cs typeface="Arial"/>
                <a:sym typeface="Arial"/>
              </a:rPr>
              <a:t>disabilità</a:t>
            </a:r>
            <a:r>
              <a:rPr lang="it-IT" sz="1800">
                <a:latin typeface="Arial"/>
                <a:ea typeface="Arial"/>
                <a:cs typeface="Arial"/>
                <a:sym typeface="Arial"/>
              </a:rPr>
              <a:t> o </a:t>
            </a:r>
            <a:r>
              <a:rPr b="1" lang="it-IT" sz="1800">
                <a:latin typeface="Arial"/>
                <a:ea typeface="Arial"/>
                <a:cs typeface="Arial"/>
                <a:sym typeface="Arial"/>
              </a:rPr>
              <a:t>condizione sociale</a:t>
            </a:r>
            <a:r>
              <a:rPr lang="it-IT" sz="1800">
                <a:latin typeface="Arial"/>
                <a:ea typeface="Arial"/>
                <a:cs typeface="Arial"/>
                <a:sym typeface="Arial"/>
              </a:rPr>
              <a:t>, debba poter accedere alle stesse opportunità di crescita e successo.</a:t>
            </a:r>
            <a:endParaRPr sz="1800">
              <a:latin typeface="Arial"/>
              <a:ea typeface="Arial"/>
              <a:cs typeface="Arial"/>
              <a:sym typeface="Arial"/>
            </a:endParaRPr>
          </a:p>
        </p:txBody>
      </p:sp>
      <p:sp>
        <p:nvSpPr>
          <p:cNvPr id="479" name="Google Shape;479;p29"/>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id="480" name="Google Shape;480;p29"/>
          <p:cNvPicPr preferRelativeResize="0"/>
          <p:nvPr/>
        </p:nvPicPr>
        <p:blipFill rotWithShape="1">
          <a:blip r:embed="rId3">
            <a:alphaModFix/>
          </a:blip>
          <a:srcRect b="0" l="0" r="0" t="0"/>
          <a:stretch/>
        </p:blipFill>
        <p:spPr>
          <a:xfrm>
            <a:off x="6720000" y="2512560"/>
            <a:ext cx="5472000" cy="42930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descr="Immagine che contiene testo, biglietto da visita, Carattere, schermata&#10;&#10;Descrizione generata automaticamente" id="485" name="Google Shape;485;p30"/>
          <p:cNvPicPr preferRelativeResize="0"/>
          <p:nvPr/>
        </p:nvPicPr>
        <p:blipFill rotWithShape="1">
          <a:blip r:embed="rId3">
            <a:alphaModFix/>
          </a:blip>
          <a:srcRect b="0" l="0" r="0" t="0"/>
          <a:stretch/>
        </p:blipFill>
        <p:spPr>
          <a:xfrm>
            <a:off x="8618901" y="4590516"/>
            <a:ext cx="3292442" cy="2212835"/>
          </a:xfrm>
          <a:prstGeom prst="rect">
            <a:avLst/>
          </a:prstGeom>
          <a:noFill/>
          <a:ln>
            <a:noFill/>
          </a:ln>
        </p:spPr>
      </p:pic>
      <p:sp>
        <p:nvSpPr>
          <p:cNvPr id="486" name="Google Shape;486;p30"/>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2000"/>
              <a:buFont typeface="Arial"/>
              <a:buNone/>
            </a:pPr>
            <a:r>
              <a:rPr b="1" lang="it-IT" sz="2000">
                <a:latin typeface="Arial"/>
                <a:ea typeface="Arial"/>
                <a:cs typeface="Arial"/>
                <a:sym typeface="Arial"/>
              </a:rPr>
              <a:t>Come contrastare il Mobbing e promuovere le Pari Opportunità</a:t>
            </a:r>
            <a:endParaRPr sz="2000">
              <a:latin typeface="Arial"/>
              <a:ea typeface="Arial"/>
              <a:cs typeface="Arial"/>
              <a:sym typeface="Arial"/>
            </a:endParaRPr>
          </a:p>
        </p:txBody>
      </p:sp>
      <p:sp>
        <p:nvSpPr>
          <p:cNvPr id="487" name="Google Shape;487;p30"/>
          <p:cNvSpPr txBox="1"/>
          <p:nvPr>
            <p:ph idx="1" type="body"/>
          </p:nvPr>
        </p:nvSpPr>
        <p:spPr>
          <a:xfrm>
            <a:off x="432000" y="1336546"/>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Per prevenire e combattere il mobbing e promuovere le pari opportunità, è importante adottare alcune pratiche:</a:t>
            </a:r>
            <a:endParaRPr b="1" sz="1800">
              <a:latin typeface="Arial"/>
              <a:ea typeface="Arial"/>
              <a:cs typeface="Arial"/>
              <a:sym typeface="Arial"/>
            </a:endParaRPr>
          </a:p>
        </p:txBody>
      </p:sp>
      <p:sp>
        <p:nvSpPr>
          <p:cNvPr descr="Blocco in evidenza a sinistra" id="488" name="Google Shape;488;p30"/>
          <p:cNvSpPr/>
          <p:nvPr/>
        </p:nvSpPr>
        <p:spPr>
          <a:xfrm>
            <a:off x="419999" y="832835"/>
            <a:ext cx="6145187" cy="1202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89" name="Google Shape;489;p30"/>
          <p:cNvSpPr txBox="1"/>
          <p:nvPr>
            <p:ph idx="3" type="body"/>
          </p:nvPr>
        </p:nvSpPr>
        <p:spPr>
          <a:xfrm>
            <a:off x="419999" y="2148004"/>
            <a:ext cx="5472000" cy="2194694"/>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b="1" lang="it-IT" sz="1800">
                <a:latin typeface="Arial"/>
                <a:ea typeface="Arial"/>
                <a:cs typeface="Arial"/>
                <a:sym typeface="Arial"/>
              </a:rPr>
              <a:t>Creare un ambiente di rispetto e inclusione</a:t>
            </a:r>
            <a:endParaRPr b="1">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b="1" lang="it-IT" sz="1800">
                <a:latin typeface="Arial"/>
                <a:ea typeface="Arial"/>
                <a:cs typeface="Arial"/>
                <a:sym typeface="Arial"/>
              </a:rPr>
              <a:t>Educazione ai diritti e al rispetto</a:t>
            </a:r>
            <a:endParaRPr/>
          </a:p>
          <a:p>
            <a:pPr indent="-266700" lvl="0" marL="266700" rtl="0" algn="l">
              <a:lnSpc>
                <a:spcPct val="115000"/>
              </a:lnSpc>
              <a:spcBef>
                <a:spcPts val="1800"/>
              </a:spcBef>
              <a:spcAft>
                <a:spcPts val="0"/>
              </a:spcAft>
              <a:buClr>
                <a:srgbClr val="3F3F3F"/>
              </a:buClr>
              <a:buSzPts val="1800"/>
              <a:buChar char="•"/>
            </a:pPr>
            <a:r>
              <a:rPr b="1" lang="it-IT" sz="1800">
                <a:latin typeface="Arial"/>
                <a:ea typeface="Arial"/>
                <a:cs typeface="Arial"/>
                <a:sym typeface="Arial"/>
              </a:rPr>
              <a:t>Intervenire tempestivamente</a:t>
            </a:r>
            <a:endParaRPr/>
          </a:p>
          <a:p>
            <a:pPr indent="-266700" lvl="0" marL="266700" rtl="0" algn="l">
              <a:lnSpc>
                <a:spcPct val="115000"/>
              </a:lnSpc>
              <a:spcBef>
                <a:spcPts val="1800"/>
              </a:spcBef>
              <a:spcAft>
                <a:spcPts val="0"/>
              </a:spcAft>
              <a:buClr>
                <a:srgbClr val="3F3F3F"/>
              </a:buClr>
              <a:buSzPts val="1800"/>
              <a:buChar char="•"/>
            </a:pPr>
            <a:r>
              <a:rPr b="1" lang="it-IT" sz="1800">
                <a:latin typeface="Arial"/>
                <a:ea typeface="Arial"/>
                <a:cs typeface="Arial"/>
                <a:sym typeface="Arial"/>
              </a:rPr>
              <a:t>Stato socio economico</a:t>
            </a:r>
            <a:endParaRPr/>
          </a:p>
          <a:p>
            <a:pPr indent="0" lvl="0" marL="0" rtl="0" algn="l">
              <a:lnSpc>
                <a:spcPct val="115000"/>
              </a:lnSpc>
              <a:spcBef>
                <a:spcPts val="1800"/>
              </a:spcBef>
              <a:spcAft>
                <a:spcPts val="0"/>
              </a:spcAft>
              <a:buClr>
                <a:srgbClr val="3F3F3F"/>
              </a:buClr>
              <a:buSzPts val="10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rPr lang="it-IT" sz="1800" u="sng">
                <a:solidFill>
                  <a:schemeClr val="hlink"/>
                </a:solidFill>
                <a:latin typeface="Arial"/>
                <a:ea typeface="Arial"/>
                <a:cs typeface="Arial"/>
                <a:sym typeface="Arial"/>
                <a:hlinkClick r:id="rId4"/>
              </a:rPr>
              <a:t>https://www.youtube.com/watch?v=GnllWwKejEY</a:t>
            </a:r>
            <a:endParaRPr sz="1800">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490" name="Google Shape;490;p30"/>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491" name="Google Shape;491;p30"/>
          <p:cNvSpPr/>
          <p:nvPr/>
        </p:nvSpPr>
        <p:spPr>
          <a:xfrm>
            <a:off x="6285882" y="2079979"/>
            <a:ext cx="5275393" cy="59627"/>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492" name="Google Shape;492;p30"/>
          <p:cNvSpPr txBox="1"/>
          <p:nvPr>
            <p:ph idx="4" type="body"/>
          </p:nvPr>
        </p:nvSpPr>
        <p:spPr>
          <a:xfrm>
            <a:off x="6200412" y="1867927"/>
            <a:ext cx="5472000" cy="358775"/>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3F3F3F"/>
              </a:buClr>
              <a:buSzPts val="1800"/>
              <a:buNone/>
            </a:pPr>
            <a:r>
              <a:rPr lang="it-IT" sz="1800">
                <a:latin typeface="Arial"/>
                <a:ea typeface="Arial"/>
                <a:cs typeface="Arial"/>
                <a:sym typeface="Arial"/>
              </a:rPr>
              <a:t>Il mobbing è una forma grave di violazione dei diritti umani </a:t>
            </a:r>
            <a:endParaRPr/>
          </a:p>
        </p:txBody>
      </p:sp>
      <p:sp>
        <p:nvSpPr>
          <p:cNvPr id="493" name="Google Shape;493;p30"/>
          <p:cNvSpPr txBox="1"/>
          <p:nvPr>
            <p:ph idx="5" type="body"/>
          </p:nvPr>
        </p:nvSpPr>
        <p:spPr>
          <a:xfrm>
            <a:off x="6200412" y="2363035"/>
            <a:ext cx="5472113" cy="2196041"/>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Le persone che subiscono mobbing vengono private della possibilità di esprimere il proprio valore e di crescere in un ambiente giusto e inclusivo. Per costruire una società più giusta, dobbiamo impegnarci tutti per contrastare il mobbing e garantire che ogni individuo, indipendentemente dalle sue caratteristiche, possa avere accesso alle stesse opportunità di crescita, lavoro e realizzazione.</a:t>
            </a:r>
            <a:endParaRPr/>
          </a:p>
        </p:txBody>
      </p:sp>
      <p:sp>
        <p:nvSpPr>
          <p:cNvPr id="494" name="Google Shape;494;p30"/>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1"/>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2800"/>
              <a:buFont typeface="Arial"/>
              <a:buNone/>
            </a:pPr>
            <a:r>
              <a:rPr b="1" lang="it-IT" sz="2800">
                <a:latin typeface="Arial"/>
                <a:ea typeface="Arial"/>
                <a:cs typeface="Arial"/>
                <a:sym typeface="Arial"/>
              </a:rPr>
              <a:t>Cos’è il Gender Gap?</a:t>
            </a:r>
            <a:endParaRPr sz="2800">
              <a:latin typeface="Arial"/>
              <a:ea typeface="Arial"/>
              <a:cs typeface="Arial"/>
              <a:sym typeface="Arial"/>
            </a:endParaRPr>
          </a:p>
        </p:txBody>
      </p:sp>
      <p:sp>
        <p:nvSpPr>
          <p:cNvPr id="500" name="Google Shape;500;p31"/>
          <p:cNvSpPr txBox="1"/>
          <p:nvPr>
            <p:ph idx="1" type="body"/>
          </p:nvPr>
        </p:nvSpPr>
        <p:spPr>
          <a:xfrm>
            <a:off x="431800" y="1008000"/>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a:latin typeface="Arial"/>
                <a:ea typeface="Arial"/>
                <a:cs typeface="Arial"/>
                <a:sym typeface="Arial"/>
              </a:rPr>
              <a:t>E’</a:t>
            </a:r>
            <a:r>
              <a:rPr lang="it-IT" sz="1800">
                <a:latin typeface="Arial"/>
                <a:ea typeface="Arial"/>
                <a:cs typeface="Arial"/>
                <a:sym typeface="Arial"/>
              </a:rPr>
              <a:t> un termine che si riferisce alla </a:t>
            </a:r>
            <a:r>
              <a:rPr b="1" lang="it-IT" sz="1800">
                <a:latin typeface="Arial"/>
                <a:ea typeface="Arial"/>
                <a:cs typeface="Arial"/>
                <a:sym typeface="Arial"/>
              </a:rPr>
              <a:t>differenza</a:t>
            </a:r>
            <a:r>
              <a:rPr lang="it-IT" sz="1800">
                <a:latin typeface="Arial"/>
                <a:ea typeface="Arial"/>
                <a:cs typeface="Arial"/>
                <a:sym typeface="Arial"/>
              </a:rPr>
              <a:t> tra uomini e donne in vari ambiti della società, come il </a:t>
            </a:r>
            <a:r>
              <a:rPr b="1" lang="it-IT" sz="1800">
                <a:latin typeface="Arial"/>
                <a:ea typeface="Arial"/>
                <a:cs typeface="Arial"/>
                <a:sym typeface="Arial"/>
              </a:rPr>
              <a:t>lavoro</a:t>
            </a:r>
            <a:r>
              <a:rPr lang="it-IT" sz="1800">
                <a:latin typeface="Arial"/>
                <a:ea typeface="Arial"/>
                <a:cs typeface="Arial"/>
                <a:sym typeface="Arial"/>
              </a:rPr>
              <a:t>, </a:t>
            </a:r>
            <a:r>
              <a:rPr b="1" lang="it-IT" sz="1800">
                <a:latin typeface="Arial"/>
                <a:ea typeface="Arial"/>
                <a:cs typeface="Arial"/>
                <a:sym typeface="Arial"/>
              </a:rPr>
              <a:t>l'istruzione</a:t>
            </a:r>
            <a:r>
              <a:rPr lang="it-IT" sz="1800">
                <a:latin typeface="Arial"/>
                <a:ea typeface="Arial"/>
                <a:cs typeface="Arial"/>
                <a:sym typeface="Arial"/>
              </a:rPr>
              <a:t>, la </a:t>
            </a:r>
            <a:r>
              <a:rPr b="1" lang="it-IT" sz="1800">
                <a:latin typeface="Arial"/>
                <a:ea typeface="Arial"/>
                <a:cs typeface="Arial"/>
                <a:sym typeface="Arial"/>
              </a:rPr>
              <a:t>salute</a:t>
            </a:r>
            <a:r>
              <a:rPr lang="it-IT" sz="1800">
                <a:latin typeface="Arial"/>
                <a:ea typeface="Arial"/>
                <a:cs typeface="Arial"/>
                <a:sym typeface="Arial"/>
              </a:rPr>
              <a:t> e </a:t>
            </a:r>
            <a:r>
              <a:rPr b="1" lang="it-IT" sz="1800">
                <a:latin typeface="Arial"/>
                <a:ea typeface="Arial"/>
                <a:cs typeface="Arial"/>
                <a:sym typeface="Arial"/>
              </a:rPr>
              <a:t>i diritti</a:t>
            </a:r>
            <a:r>
              <a:rPr lang="it-IT" sz="1800">
                <a:latin typeface="Arial"/>
                <a:ea typeface="Arial"/>
                <a:cs typeface="Arial"/>
                <a:sym typeface="Arial"/>
              </a:rPr>
              <a:t>. In particolare, il gender gap evidenzia le </a:t>
            </a:r>
            <a:r>
              <a:rPr b="1" lang="it-IT" sz="1800">
                <a:latin typeface="Arial"/>
                <a:ea typeface="Arial"/>
                <a:cs typeface="Arial"/>
                <a:sym typeface="Arial"/>
              </a:rPr>
              <a:t>disparità</a:t>
            </a:r>
            <a:r>
              <a:rPr lang="it-IT" sz="1800">
                <a:latin typeface="Arial"/>
                <a:ea typeface="Arial"/>
                <a:cs typeface="Arial"/>
                <a:sym typeface="Arial"/>
              </a:rPr>
              <a:t> che esistono tra i generi, soprattutto in termini di </a:t>
            </a:r>
            <a:r>
              <a:rPr b="1" lang="it-IT" sz="1800">
                <a:latin typeface="Arial"/>
                <a:ea typeface="Arial"/>
                <a:cs typeface="Arial"/>
                <a:sym typeface="Arial"/>
              </a:rPr>
              <a:t>opportunità</a:t>
            </a:r>
            <a:r>
              <a:rPr lang="it-IT" sz="1800">
                <a:latin typeface="Arial"/>
                <a:ea typeface="Arial"/>
                <a:cs typeface="Arial"/>
                <a:sym typeface="Arial"/>
              </a:rPr>
              <a:t>, </a:t>
            </a:r>
            <a:r>
              <a:rPr b="1" lang="it-IT" sz="1800">
                <a:latin typeface="Arial"/>
                <a:ea typeface="Arial"/>
                <a:cs typeface="Arial"/>
                <a:sym typeface="Arial"/>
              </a:rPr>
              <a:t>accesso</a:t>
            </a:r>
            <a:r>
              <a:rPr lang="it-IT" sz="1800">
                <a:latin typeface="Arial"/>
                <a:ea typeface="Arial"/>
                <a:cs typeface="Arial"/>
                <a:sym typeface="Arial"/>
              </a:rPr>
              <a:t> e </a:t>
            </a:r>
            <a:r>
              <a:rPr b="1" lang="it-IT" sz="1800">
                <a:latin typeface="Arial"/>
                <a:ea typeface="Arial"/>
                <a:cs typeface="Arial"/>
                <a:sym typeface="Arial"/>
              </a:rPr>
              <a:t>risultati</a:t>
            </a:r>
            <a:r>
              <a:rPr lang="it-IT" sz="1800">
                <a:latin typeface="Arial"/>
                <a:ea typeface="Arial"/>
                <a:cs typeface="Arial"/>
                <a:sym typeface="Arial"/>
              </a:rPr>
              <a:t>, a causa di fattori sociali, culturali ed economici </a:t>
            </a:r>
            <a:r>
              <a:rPr lang="it-IT" sz="1800" u="sng">
                <a:solidFill>
                  <a:schemeClr val="hlink"/>
                </a:solidFill>
                <a:latin typeface="Arial"/>
                <a:ea typeface="Arial"/>
                <a:cs typeface="Arial"/>
                <a:sym typeface="Arial"/>
                <a:hlinkClick r:id="rId3"/>
              </a:rPr>
              <a:t>https://www.youtube.com/watch?v=eDqlxz3CgMg</a:t>
            </a:r>
            <a:endParaRPr sz="1800">
              <a:latin typeface="Arial"/>
              <a:ea typeface="Arial"/>
              <a:cs typeface="Arial"/>
              <a:sym typeface="Arial"/>
            </a:endParaRPr>
          </a:p>
        </p:txBody>
      </p:sp>
      <p:sp>
        <p:nvSpPr>
          <p:cNvPr descr="Blocco in evidenza a sinistra" id="501" name="Google Shape;501;p31"/>
          <p:cNvSpPr/>
          <p:nvPr/>
        </p:nvSpPr>
        <p:spPr>
          <a:xfrm>
            <a:off x="420000" y="832834"/>
            <a:ext cx="3047478" cy="14726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502" name="Google Shape;502;p31"/>
          <p:cNvSpPr txBox="1"/>
          <p:nvPr>
            <p:ph idx="3" type="body"/>
          </p:nvPr>
        </p:nvSpPr>
        <p:spPr>
          <a:xfrm>
            <a:off x="420000" y="3290075"/>
            <a:ext cx="5472000" cy="219469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0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503" name="Google Shape;503;p31"/>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504" name="Google Shape;504;p31"/>
          <p:cNvSpPr/>
          <p:nvPr/>
        </p:nvSpPr>
        <p:spPr>
          <a:xfrm>
            <a:off x="431800" y="3000215"/>
            <a:ext cx="2954196" cy="8692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505" name="Google Shape;505;p31"/>
          <p:cNvSpPr txBox="1"/>
          <p:nvPr>
            <p:ph idx="4" type="body"/>
          </p:nvPr>
        </p:nvSpPr>
        <p:spPr>
          <a:xfrm>
            <a:off x="419999" y="2728360"/>
            <a:ext cx="5472000" cy="358775"/>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Perché esiste il Gender Gap?</a:t>
            </a:r>
            <a:endParaRPr sz="1800">
              <a:latin typeface="Arial"/>
              <a:ea typeface="Arial"/>
              <a:cs typeface="Arial"/>
              <a:sym typeface="Arial"/>
            </a:endParaRPr>
          </a:p>
        </p:txBody>
      </p:sp>
      <p:sp>
        <p:nvSpPr>
          <p:cNvPr id="506" name="Google Shape;506;p31"/>
          <p:cNvSpPr txBox="1"/>
          <p:nvPr>
            <p:ph idx="5" type="body"/>
          </p:nvPr>
        </p:nvSpPr>
        <p:spPr>
          <a:xfrm>
            <a:off x="216000" y="3115039"/>
            <a:ext cx="5472113" cy="2196041"/>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Il gender gap nasce da </a:t>
            </a:r>
            <a:r>
              <a:rPr b="1" lang="it-IT" sz="1800">
                <a:latin typeface="Arial"/>
                <a:ea typeface="Arial"/>
                <a:cs typeface="Arial"/>
                <a:sym typeface="Arial"/>
              </a:rPr>
              <a:t>stereotipi di genere</a:t>
            </a:r>
            <a:r>
              <a:rPr lang="it-IT" sz="1800">
                <a:latin typeface="Arial"/>
                <a:ea typeface="Arial"/>
                <a:cs typeface="Arial"/>
                <a:sym typeface="Arial"/>
              </a:rPr>
              <a:t> radicati nella cultura e nella società, che influenzano le aspettative e le opportunità per uomini e donne. Questi stereotipi determinano ruoli e comportamenti "appropriati" per ciascun genere, limitando le scelte e le possibilità di carriera, di educazione e di vita delle persone. Inoltre, la </a:t>
            </a:r>
            <a:r>
              <a:rPr b="1" lang="it-IT" sz="1800">
                <a:latin typeface="Arial"/>
                <a:ea typeface="Arial"/>
                <a:cs typeface="Arial"/>
                <a:sym typeface="Arial"/>
              </a:rPr>
              <a:t>discriminazione di genere</a:t>
            </a:r>
            <a:r>
              <a:rPr lang="it-IT" sz="1800">
                <a:latin typeface="Arial"/>
                <a:ea typeface="Arial"/>
                <a:cs typeface="Arial"/>
                <a:sym typeface="Arial"/>
              </a:rPr>
              <a:t> storica e strutturale continua a perpetuare il divario, con effetti che si riflettono in </a:t>
            </a:r>
            <a:r>
              <a:rPr b="1" lang="it-IT" sz="1800">
                <a:latin typeface="Arial"/>
                <a:ea typeface="Arial"/>
                <a:cs typeface="Arial"/>
                <a:sym typeface="Arial"/>
              </a:rPr>
              <a:t>politiche pubbliche</a:t>
            </a:r>
            <a:r>
              <a:rPr lang="it-IT" sz="1800">
                <a:latin typeface="Arial"/>
                <a:ea typeface="Arial"/>
                <a:cs typeface="Arial"/>
                <a:sym typeface="Arial"/>
              </a:rPr>
              <a:t> inadeguate e in pratiche sociali ingiuste.</a:t>
            </a:r>
            <a:endParaRPr sz="1800">
              <a:latin typeface="Arial"/>
              <a:ea typeface="Arial"/>
              <a:cs typeface="Arial"/>
              <a:sym typeface="Arial"/>
            </a:endParaRPr>
          </a:p>
        </p:txBody>
      </p:sp>
      <p:sp>
        <p:nvSpPr>
          <p:cNvPr id="507" name="Google Shape;507;p31"/>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id="508" name="Google Shape;508;p31"/>
          <p:cNvPicPr preferRelativeResize="0"/>
          <p:nvPr/>
        </p:nvPicPr>
        <p:blipFill rotWithShape="1">
          <a:blip r:embed="rId4">
            <a:alphaModFix/>
          </a:blip>
          <a:srcRect b="0" l="0" r="0" t="0"/>
          <a:stretch/>
        </p:blipFill>
        <p:spPr>
          <a:xfrm>
            <a:off x="6591952" y="3029715"/>
            <a:ext cx="5600048" cy="377363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2"/>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1800"/>
              <a:buFont typeface="Arial"/>
              <a:buNone/>
            </a:pPr>
            <a:r>
              <a:rPr b="1" lang="it-IT" sz="1800">
                <a:latin typeface="Arial"/>
                <a:ea typeface="Arial"/>
                <a:cs typeface="Arial"/>
                <a:sym typeface="Arial"/>
              </a:rPr>
              <a:t>Esempi di Gender Gap?</a:t>
            </a:r>
            <a:endParaRPr sz="1800">
              <a:latin typeface="Arial"/>
              <a:ea typeface="Arial"/>
              <a:cs typeface="Arial"/>
              <a:sym typeface="Arial"/>
            </a:endParaRPr>
          </a:p>
        </p:txBody>
      </p:sp>
      <p:sp>
        <p:nvSpPr>
          <p:cNvPr id="514" name="Google Shape;514;p32"/>
          <p:cNvSpPr txBox="1"/>
          <p:nvPr>
            <p:ph idx="1" type="body"/>
          </p:nvPr>
        </p:nvSpPr>
        <p:spPr>
          <a:xfrm>
            <a:off x="432000" y="1336546"/>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Gender gap nel lavoro</a:t>
            </a:r>
            <a:r>
              <a:rPr lang="it-IT" sz="1800">
                <a:latin typeface="Arial"/>
                <a:ea typeface="Arial"/>
                <a:cs typeface="Arial"/>
                <a:sym typeface="Arial"/>
              </a:rPr>
              <a:t>: Le donne, in molti paesi, guadagnano meno degli uomini per lo stesso lavoro. Questa disparità è nota come </a:t>
            </a:r>
            <a:r>
              <a:rPr b="1" lang="it-IT">
                <a:latin typeface="Arial"/>
                <a:ea typeface="Arial"/>
                <a:cs typeface="Arial"/>
                <a:sym typeface="Arial"/>
              </a:rPr>
              <a:t>G</a:t>
            </a:r>
            <a:r>
              <a:rPr b="1" lang="it-IT" sz="1800">
                <a:latin typeface="Arial"/>
                <a:ea typeface="Arial"/>
                <a:cs typeface="Arial"/>
                <a:sym typeface="Arial"/>
              </a:rPr>
              <a:t>ender Pay </a:t>
            </a:r>
            <a:r>
              <a:rPr b="1" lang="it-IT">
                <a:latin typeface="Arial"/>
                <a:ea typeface="Arial"/>
                <a:cs typeface="Arial"/>
                <a:sym typeface="Arial"/>
              </a:rPr>
              <a:t>G</a:t>
            </a:r>
            <a:r>
              <a:rPr b="1" lang="it-IT" sz="1800">
                <a:latin typeface="Arial"/>
                <a:ea typeface="Arial"/>
                <a:cs typeface="Arial"/>
                <a:sym typeface="Arial"/>
              </a:rPr>
              <a:t>ap</a:t>
            </a:r>
            <a:r>
              <a:rPr lang="it-IT" sz="1800">
                <a:latin typeface="Arial"/>
                <a:ea typeface="Arial"/>
                <a:cs typeface="Arial"/>
                <a:sym typeface="Arial"/>
              </a:rPr>
              <a:t> e può essere causata da vari fattori, come la </a:t>
            </a:r>
            <a:r>
              <a:rPr b="1" lang="it-IT" sz="1800">
                <a:latin typeface="Arial"/>
                <a:ea typeface="Arial"/>
                <a:cs typeface="Arial"/>
                <a:sym typeface="Arial"/>
              </a:rPr>
              <a:t>discriminazione salariale</a:t>
            </a:r>
            <a:r>
              <a:rPr lang="it-IT" sz="1800">
                <a:latin typeface="Arial"/>
                <a:ea typeface="Arial"/>
                <a:cs typeface="Arial"/>
                <a:sym typeface="Arial"/>
              </a:rPr>
              <a:t>, la </a:t>
            </a:r>
            <a:r>
              <a:rPr b="1" lang="it-IT" sz="1800">
                <a:latin typeface="Arial"/>
                <a:ea typeface="Arial"/>
                <a:cs typeface="Arial"/>
                <a:sym typeface="Arial"/>
              </a:rPr>
              <a:t>segregazione occupazionale</a:t>
            </a:r>
            <a:r>
              <a:rPr lang="it-IT" sz="1800">
                <a:latin typeface="Arial"/>
                <a:ea typeface="Arial"/>
                <a:cs typeface="Arial"/>
                <a:sym typeface="Arial"/>
              </a:rPr>
              <a:t> (dove le donne tendono a lavorare in settori meno retribuiti rispetto agli uomini) e la </a:t>
            </a:r>
            <a:r>
              <a:rPr b="1" lang="it-IT" sz="1800">
                <a:latin typeface="Arial"/>
                <a:ea typeface="Arial"/>
                <a:cs typeface="Arial"/>
                <a:sym typeface="Arial"/>
              </a:rPr>
              <a:t>mancanza di opportunità</a:t>
            </a:r>
            <a:r>
              <a:rPr lang="it-IT" sz="1800">
                <a:latin typeface="Arial"/>
                <a:ea typeface="Arial"/>
                <a:cs typeface="Arial"/>
                <a:sym typeface="Arial"/>
              </a:rPr>
              <a:t> per le donne di avanzare nelle carriere. Anche se negli ultimi anni c'è stato qualche progresso, il divario salariale tra i sessi rimane ancora significativo in molte parti del mondo.</a:t>
            </a:r>
            <a:endParaRPr sz="1800">
              <a:latin typeface="Arial"/>
              <a:ea typeface="Arial"/>
              <a:cs typeface="Arial"/>
              <a:sym typeface="Arial"/>
            </a:endParaRPr>
          </a:p>
        </p:txBody>
      </p:sp>
      <p:sp>
        <p:nvSpPr>
          <p:cNvPr descr="Blocco in evidenza a sinistra" id="515" name="Google Shape;515;p32"/>
          <p:cNvSpPr/>
          <p:nvPr/>
        </p:nvSpPr>
        <p:spPr>
          <a:xfrm>
            <a:off x="419999" y="832835"/>
            <a:ext cx="6145187" cy="1202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cxnSp>
        <p:nvCxnSpPr>
          <p:cNvPr descr="Divisore diapositiva" id="516" name="Google Shape;516;p32"/>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517" name="Google Shape;517;p32"/>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id="518" name="Google Shape;518;p32"/>
          <p:cNvPicPr preferRelativeResize="0"/>
          <p:nvPr/>
        </p:nvPicPr>
        <p:blipFill rotWithShape="1">
          <a:blip r:embed="rId3">
            <a:alphaModFix/>
          </a:blip>
          <a:srcRect b="0" l="0" r="0" t="0"/>
          <a:stretch/>
        </p:blipFill>
        <p:spPr>
          <a:xfrm>
            <a:off x="4678075" y="3160385"/>
            <a:ext cx="7513925" cy="364296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3"/>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1800"/>
              <a:buFont typeface="Arial"/>
              <a:buNone/>
            </a:pPr>
            <a:r>
              <a:rPr b="1" lang="it-IT" sz="1800">
                <a:latin typeface="Arial"/>
                <a:ea typeface="Arial"/>
                <a:cs typeface="Arial"/>
                <a:sym typeface="Arial"/>
              </a:rPr>
              <a:t>Esempi di Gender Gap?</a:t>
            </a:r>
            <a:endParaRPr sz="1800">
              <a:latin typeface="Arial"/>
              <a:ea typeface="Arial"/>
              <a:cs typeface="Arial"/>
              <a:sym typeface="Arial"/>
            </a:endParaRPr>
          </a:p>
        </p:txBody>
      </p:sp>
      <p:sp>
        <p:nvSpPr>
          <p:cNvPr id="524" name="Google Shape;524;p33"/>
          <p:cNvSpPr txBox="1"/>
          <p:nvPr>
            <p:ph idx="1" type="body"/>
          </p:nvPr>
        </p:nvSpPr>
        <p:spPr>
          <a:xfrm>
            <a:off x="432000" y="1336546"/>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Gender gap nell'istruzione</a:t>
            </a:r>
            <a:r>
              <a:rPr lang="it-IT" sz="1800">
                <a:latin typeface="Arial"/>
                <a:ea typeface="Arial"/>
                <a:cs typeface="Arial"/>
                <a:sym typeface="Arial"/>
              </a:rPr>
              <a:t>: in alcuni paesi, le ragazze hanno meno accesso all'istruzione rispetto ai ragazzi, a causa di </a:t>
            </a:r>
            <a:r>
              <a:rPr b="1" lang="it-IT" sz="1800">
                <a:latin typeface="Arial"/>
                <a:ea typeface="Arial"/>
                <a:cs typeface="Arial"/>
                <a:sym typeface="Arial"/>
              </a:rPr>
              <a:t>barriere culturali</a:t>
            </a:r>
            <a:r>
              <a:rPr lang="it-IT" sz="1800">
                <a:latin typeface="Arial"/>
                <a:ea typeface="Arial"/>
                <a:cs typeface="Arial"/>
                <a:sym typeface="Arial"/>
              </a:rPr>
              <a:t>, </a:t>
            </a:r>
            <a:r>
              <a:rPr b="1" lang="it-IT" sz="1800">
                <a:latin typeface="Arial"/>
                <a:ea typeface="Arial"/>
                <a:cs typeface="Arial"/>
                <a:sym typeface="Arial"/>
              </a:rPr>
              <a:t>economiche</a:t>
            </a:r>
            <a:r>
              <a:rPr lang="it-IT" sz="1800">
                <a:latin typeface="Arial"/>
                <a:ea typeface="Arial"/>
                <a:cs typeface="Arial"/>
                <a:sym typeface="Arial"/>
              </a:rPr>
              <a:t> o </a:t>
            </a:r>
            <a:r>
              <a:rPr b="1" lang="it-IT" sz="1800">
                <a:latin typeface="Arial"/>
                <a:ea typeface="Arial"/>
                <a:cs typeface="Arial"/>
                <a:sym typeface="Arial"/>
              </a:rPr>
              <a:t>sociali</a:t>
            </a:r>
            <a:r>
              <a:rPr lang="it-IT" sz="1800">
                <a:latin typeface="Arial"/>
                <a:ea typeface="Arial"/>
                <a:cs typeface="Arial"/>
                <a:sym typeface="Arial"/>
              </a:rPr>
              <a:t>. </a:t>
            </a:r>
            <a:endParaRPr/>
          </a:p>
          <a:p>
            <a:pPr indent="0" lvl="0" marL="0" rtl="0" algn="l">
              <a:lnSpc>
                <a:spcPct val="115000"/>
              </a:lnSpc>
              <a:spcBef>
                <a:spcPts val="1800"/>
              </a:spcBef>
              <a:spcAft>
                <a:spcPts val="0"/>
              </a:spcAft>
              <a:buClr>
                <a:srgbClr val="3F3F3F"/>
              </a:buClr>
              <a:buSzPts val="1800"/>
              <a:buNone/>
            </a:pPr>
            <a:r>
              <a:rPr lang="it-IT" sz="1800">
                <a:latin typeface="Arial"/>
                <a:ea typeface="Arial"/>
                <a:cs typeface="Arial"/>
                <a:sym typeface="Arial"/>
              </a:rPr>
              <a:t>In altri casi, le ragazze possono affrontare difficoltà maggiori nel completare la scuola o accedere all'università, soprattutto in regioni dove la </a:t>
            </a:r>
            <a:r>
              <a:rPr b="1" lang="it-IT" sz="1800">
                <a:latin typeface="Arial"/>
                <a:ea typeface="Arial"/>
                <a:cs typeface="Arial"/>
                <a:sym typeface="Arial"/>
              </a:rPr>
              <a:t>discriminazione di genere</a:t>
            </a:r>
            <a:r>
              <a:rPr lang="it-IT" sz="1800">
                <a:latin typeface="Arial"/>
                <a:ea typeface="Arial"/>
                <a:cs typeface="Arial"/>
                <a:sym typeface="Arial"/>
              </a:rPr>
              <a:t> è più forte. Tuttavia, in molte aree del mondo, le ragazze stanno raggiungendo o addirittura superando i ragazzi in termini di </a:t>
            </a:r>
            <a:r>
              <a:rPr b="1" lang="it-IT" sz="1800">
                <a:latin typeface="Arial"/>
                <a:ea typeface="Arial"/>
                <a:cs typeface="Arial"/>
                <a:sym typeface="Arial"/>
              </a:rPr>
              <a:t>successo scolastico</a:t>
            </a:r>
            <a:r>
              <a:rPr lang="it-IT" sz="1800">
                <a:latin typeface="Arial"/>
                <a:ea typeface="Arial"/>
                <a:cs typeface="Arial"/>
                <a:sym typeface="Arial"/>
              </a:rPr>
              <a:t>.</a:t>
            </a:r>
            <a:endParaRPr sz="1800">
              <a:latin typeface="Arial"/>
              <a:ea typeface="Arial"/>
              <a:cs typeface="Arial"/>
              <a:sym typeface="Arial"/>
            </a:endParaRPr>
          </a:p>
        </p:txBody>
      </p:sp>
      <p:sp>
        <p:nvSpPr>
          <p:cNvPr descr="Blocco in evidenza a sinistra" id="525" name="Google Shape;525;p33"/>
          <p:cNvSpPr/>
          <p:nvPr/>
        </p:nvSpPr>
        <p:spPr>
          <a:xfrm>
            <a:off x="419999" y="832835"/>
            <a:ext cx="6145187" cy="1202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526" name="Google Shape;526;p33"/>
          <p:cNvSpPr txBox="1"/>
          <p:nvPr>
            <p:ph idx="3" type="body"/>
          </p:nvPr>
        </p:nvSpPr>
        <p:spPr>
          <a:xfrm>
            <a:off x="432000" y="3146584"/>
            <a:ext cx="5472000" cy="219469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000"/>
              <a:buNone/>
            </a:pPr>
            <a:r>
              <a:t/>
            </a:r>
            <a:endParaRPr>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527" name="Google Shape;527;p33"/>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528" name="Google Shape;528;p33"/>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id="529" name="Google Shape;529;p33"/>
          <p:cNvPicPr preferRelativeResize="0"/>
          <p:nvPr/>
        </p:nvPicPr>
        <p:blipFill rotWithShape="1">
          <a:blip r:embed="rId3">
            <a:alphaModFix/>
          </a:blip>
          <a:srcRect b="0" l="0" r="0" t="0"/>
          <a:stretch/>
        </p:blipFill>
        <p:spPr>
          <a:xfrm>
            <a:off x="5702665" y="3146584"/>
            <a:ext cx="6489335" cy="365676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id="534" name="Google Shape;534;p34"/>
          <p:cNvPicPr preferRelativeResize="0"/>
          <p:nvPr/>
        </p:nvPicPr>
        <p:blipFill rotWithShape="1">
          <a:blip r:embed="rId3">
            <a:alphaModFix/>
          </a:blip>
          <a:srcRect b="0" l="0" r="0" t="0"/>
          <a:stretch/>
        </p:blipFill>
        <p:spPr>
          <a:xfrm>
            <a:off x="4218917" y="2424464"/>
            <a:ext cx="7155717" cy="4378887"/>
          </a:xfrm>
          <a:prstGeom prst="rect">
            <a:avLst/>
          </a:prstGeom>
          <a:noFill/>
          <a:ln>
            <a:noFill/>
          </a:ln>
        </p:spPr>
      </p:pic>
      <p:sp>
        <p:nvSpPr>
          <p:cNvPr id="535" name="Google Shape;535;p34"/>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1800"/>
              <a:buFont typeface="Arial"/>
              <a:buNone/>
            </a:pPr>
            <a:r>
              <a:rPr b="1" lang="it-IT" sz="1800">
                <a:latin typeface="Arial"/>
                <a:ea typeface="Arial"/>
                <a:cs typeface="Arial"/>
                <a:sym typeface="Arial"/>
              </a:rPr>
              <a:t>Esempi di Gender Gap?</a:t>
            </a:r>
            <a:endParaRPr sz="1800">
              <a:latin typeface="Arial"/>
              <a:ea typeface="Arial"/>
              <a:cs typeface="Arial"/>
              <a:sym typeface="Arial"/>
            </a:endParaRPr>
          </a:p>
        </p:txBody>
      </p:sp>
      <p:sp>
        <p:nvSpPr>
          <p:cNvPr id="536" name="Google Shape;536;p34"/>
          <p:cNvSpPr txBox="1"/>
          <p:nvPr>
            <p:ph idx="1" type="body"/>
          </p:nvPr>
        </p:nvSpPr>
        <p:spPr>
          <a:xfrm>
            <a:off x="432000" y="1336546"/>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a:latin typeface="Arial"/>
                <a:ea typeface="Arial"/>
                <a:cs typeface="Arial"/>
                <a:sym typeface="Arial"/>
              </a:rPr>
              <a:t>Gender gap nella politica e nei diritti</a:t>
            </a:r>
            <a:r>
              <a:rPr lang="it-IT" sz="1800">
                <a:latin typeface="Arial"/>
                <a:ea typeface="Arial"/>
                <a:cs typeface="Arial"/>
                <a:sym typeface="Arial"/>
              </a:rPr>
              <a:t>: In molte nazioni, le donne sono </a:t>
            </a:r>
            <a:r>
              <a:rPr b="1" lang="it-IT" sz="1800">
                <a:latin typeface="Arial"/>
                <a:ea typeface="Arial"/>
                <a:cs typeface="Arial"/>
                <a:sym typeface="Arial"/>
              </a:rPr>
              <a:t>sottorappresentate</a:t>
            </a:r>
            <a:r>
              <a:rPr lang="it-IT" sz="1800">
                <a:latin typeface="Arial"/>
                <a:ea typeface="Arial"/>
                <a:cs typeface="Arial"/>
                <a:sym typeface="Arial"/>
              </a:rPr>
              <a:t> nei </a:t>
            </a:r>
            <a:r>
              <a:rPr b="1" lang="it-IT" sz="1800">
                <a:latin typeface="Arial"/>
                <a:ea typeface="Arial"/>
                <a:cs typeface="Arial"/>
                <a:sym typeface="Arial"/>
              </a:rPr>
              <a:t>ruoli politici</a:t>
            </a:r>
            <a:r>
              <a:rPr lang="it-IT" sz="1800">
                <a:latin typeface="Arial"/>
                <a:ea typeface="Arial"/>
                <a:cs typeface="Arial"/>
                <a:sym typeface="Arial"/>
              </a:rPr>
              <a:t> e nelle </a:t>
            </a:r>
            <a:r>
              <a:rPr b="1" lang="it-IT" sz="1800">
                <a:latin typeface="Arial"/>
                <a:ea typeface="Arial"/>
                <a:cs typeface="Arial"/>
                <a:sym typeface="Arial"/>
              </a:rPr>
              <a:t>posizioni di potere</a:t>
            </a:r>
            <a:r>
              <a:rPr lang="it-IT" sz="1800">
                <a:latin typeface="Arial"/>
                <a:ea typeface="Arial"/>
                <a:cs typeface="Arial"/>
                <a:sym typeface="Arial"/>
              </a:rPr>
              <a:t>. Nonostante i progressi in alcuni paesi, le donne continuano a trovarsi in una posizione di svantaggio rispetto agli uomini quando si tratta di </a:t>
            </a:r>
            <a:r>
              <a:rPr b="1" lang="it-IT" sz="1800">
                <a:latin typeface="Arial"/>
                <a:ea typeface="Arial"/>
                <a:cs typeface="Arial"/>
                <a:sym typeface="Arial"/>
              </a:rPr>
              <a:t>parità di accesso</a:t>
            </a:r>
            <a:r>
              <a:rPr lang="it-IT" sz="1800">
                <a:latin typeface="Arial"/>
                <a:ea typeface="Arial"/>
                <a:cs typeface="Arial"/>
                <a:sym typeface="Arial"/>
              </a:rPr>
              <a:t> a ruoli di leadership. Inoltre, le donne spesso devono affrontare </a:t>
            </a:r>
            <a:r>
              <a:rPr b="1" lang="it-IT" sz="1800">
                <a:latin typeface="Arial"/>
                <a:ea typeface="Arial"/>
                <a:cs typeface="Arial"/>
                <a:sym typeface="Arial"/>
              </a:rPr>
              <a:t>stereotipi di genere</a:t>
            </a:r>
            <a:r>
              <a:rPr lang="it-IT" sz="1800">
                <a:latin typeface="Arial"/>
                <a:ea typeface="Arial"/>
                <a:cs typeface="Arial"/>
                <a:sym typeface="Arial"/>
              </a:rPr>
              <a:t> che le limitano nelle opportunità di crescita.</a:t>
            </a:r>
            <a:endParaRPr sz="1800">
              <a:latin typeface="Arial"/>
              <a:ea typeface="Arial"/>
              <a:cs typeface="Arial"/>
              <a:sym typeface="Arial"/>
            </a:endParaRPr>
          </a:p>
        </p:txBody>
      </p:sp>
      <p:sp>
        <p:nvSpPr>
          <p:cNvPr descr="Blocco in evidenza a sinistra" id="537" name="Google Shape;537;p34"/>
          <p:cNvSpPr/>
          <p:nvPr/>
        </p:nvSpPr>
        <p:spPr>
          <a:xfrm>
            <a:off x="419999" y="832835"/>
            <a:ext cx="2486163" cy="996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cxnSp>
        <p:nvCxnSpPr>
          <p:cNvPr descr="Divisore diapositiva" id="538" name="Google Shape;538;p34"/>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539" name="Google Shape;539;p34"/>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5"/>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1800"/>
              <a:buFont typeface="Arial"/>
              <a:buNone/>
            </a:pPr>
            <a:r>
              <a:rPr b="1" lang="it-IT" sz="1800">
                <a:latin typeface="Arial"/>
                <a:ea typeface="Arial"/>
                <a:cs typeface="Arial"/>
                <a:sym typeface="Arial"/>
              </a:rPr>
              <a:t>Esempi di Gender Gap?</a:t>
            </a:r>
            <a:endParaRPr sz="1800">
              <a:latin typeface="Arial"/>
              <a:ea typeface="Arial"/>
              <a:cs typeface="Arial"/>
              <a:sym typeface="Arial"/>
            </a:endParaRPr>
          </a:p>
        </p:txBody>
      </p:sp>
      <p:sp>
        <p:nvSpPr>
          <p:cNvPr id="545" name="Google Shape;545;p35"/>
          <p:cNvSpPr txBox="1"/>
          <p:nvPr>
            <p:ph idx="1" type="body"/>
          </p:nvPr>
        </p:nvSpPr>
        <p:spPr>
          <a:xfrm>
            <a:off x="432000" y="1336546"/>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b="1" lang="it-IT" sz="1800" u="sng">
                <a:latin typeface="Arial"/>
                <a:ea typeface="Arial"/>
                <a:cs typeface="Arial"/>
                <a:sym typeface="Arial"/>
              </a:rPr>
              <a:t>Gender gap nella salute</a:t>
            </a:r>
            <a:r>
              <a:rPr lang="it-IT" sz="1800">
                <a:latin typeface="Arial"/>
                <a:ea typeface="Arial"/>
                <a:cs typeface="Arial"/>
                <a:sym typeface="Arial"/>
              </a:rPr>
              <a:t>: Le donne e gli uomini possono affrontare diverse sfide legate alla </a:t>
            </a:r>
            <a:r>
              <a:rPr b="1" lang="it-IT" sz="1800">
                <a:latin typeface="Arial"/>
                <a:ea typeface="Arial"/>
                <a:cs typeface="Arial"/>
                <a:sym typeface="Arial"/>
              </a:rPr>
              <a:t>salute</a:t>
            </a:r>
            <a:r>
              <a:rPr lang="it-IT" sz="1800">
                <a:latin typeface="Arial"/>
                <a:ea typeface="Arial"/>
                <a:cs typeface="Arial"/>
                <a:sym typeface="Arial"/>
              </a:rPr>
              <a:t>, sia in termini di </a:t>
            </a:r>
            <a:r>
              <a:rPr b="1" lang="it-IT" sz="1800">
                <a:latin typeface="Arial"/>
                <a:ea typeface="Arial"/>
                <a:cs typeface="Arial"/>
                <a:sym typeface="Arial"/>
              </a:rPr>
              <a:t>mortalità</a:t>
            </a:r>
            <a:r>
              <a:rPr lang="it-IT" sz="1800">
                <a:latin typeface="Arial"/>
                <a:ea typeface="Arial"/>
                <a:cs typeface="Arial"/>
                <a:sym typeface="Arial"/>
              </a:rPr>
              <a:t> che di </a:t>
            </a:r>
            <a:r>
              <a:rPr b="1" lang="it-IT" sz="1800">
                <a:latin typeface="Arial"/>
                <a:ea typeface="Arial"/>
                <a:cs typeface="Arial"/>
                <a:sym typeface="Arial"/>
              </a:rPr>
              <a:t>accesso ai servizi sanitari</a:t>
            </a:r>
            <a:r>
              <a:rPr lang="it-IT" sz="1800">
                <a:latin typeface="Arial"/>
                <a:ea typeface="Arial"/>
                <a:cs typeface="Arial"/>
                <a:sym typeface="Arial"/>
              </a:rPr>
              <a:t>. Le donne, ad esempio, sono più a rischio di malattie come il </a:t>
            </a:r>
            <a:r>
              <a:rPr b="1" lang="it-IT" sz="1800">
                <a:latin typeface="Arial"/>
                <a:ea typeface="Arial"/>
                <a:cs typeface="Arial"/>
                <a:sym typeface="Arial"/>
              </a:rPr>
              <a:t>cancro al seno</a:t>
            </a:r>
            <a:r>
              <a:rPr lang="it-IT" sz="1800">
                <a:latin typeface="Arial"/>
                <a:ea typeface="Arial"/>
                <a:cs typeface="Arial"/>
                <a:sym typeface="Arial"/>
              </a:rPr>
              <a:t> o il </a:t>
            </a:r>
            <a:r>
              <a:rPr b="1" lang="it-IT" sz="1800">
                <a:latin typeface="Arial"/>
                <a:ea typeface="Arial"/>
                <a:cs typeface="Arial"/>
                <a:sym typeface="Arial"/>
              </a:rPr>
              <a:t>parto</a:t>
            </a:r>
            <a:r>
              <a:rPr lang="it-IT" sz="1800">
                <a:latin typeface="Arial"/>
                <a:ea typeface="Arial"/>
                <a:cs typeface="Arial"/>
                <a:sym typeface="Arial"/>
              </a:rPr>
              <a:t>, ma a volte hanno accesso limitato ai </a:t>
            </a:r>
            <a:r>
              <a:rPr b="1" lang="it-IT" sz="1800">
                <a:latin typeface="Arial"/>
                <a:ea typeface="Arial"/>
                <a:cs typeface="Arial"/>
                <a:sym typeface="Arial"/>
              </a:rPr>
              <a:t>trattamenti sanitari</a:t>
            </a:r>
            <a:r>
              <a:rPr lang="it-IT" sz="1800">
                <a:latin typeface="Arial"/>
                <a:ea typeface="Arial"/>
                <a:cs typeface="Arial"/>
                <a:sym typeface="Arial"/>
              </a:rPr>
              <a:t> in alcune parti del mondo, anche a causa di fattori socioeconomici o culturali.</a:t>
            </a:r>
            <a:endParaRPr sz="1800">
              <a:latin typeface="Arial"/>
              <a:ea typeface="Arial"/>
              <a:cs typeface="Arial"/>
              <a:sym typeface="Arial"/>
            </a:endParaRPr>
          </a:p>
        </p:txBody>
      </p:sp>
      <p:sp>
        <p:nvSpPr>
          <p:cNvPr descr="Blocco in evidenza a sinistra" id="546" name="Google Shape;546;p35"/>
          <p:cNvSpPr/>
          <p:nvPr/>
        </p:nvSpPr>
        <p:spPr>
          <a:xfrm>
            <a:off x="419999" y="832835"/>
            <a:ext cx="2730607" cy="13588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cxnSp>
        <p:nvCxnSpPr>
          <p:cNvPr descr="Divisore diapositiva" id="547" name="Google Shape;547;p35"/>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id="548" name="Google Shape;548;p35"/>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id="549" name="Google Shape;549;p35"/>
          <p:cNvPicPr preferRelativeResize="0"/>
          <p:nvPr/>
        </p:nvPicPr>
        <p:blipFill rotWithShape="1">
          <a:blip r:embed="rId3">
            <a:alphaModFix/>
          </a:blip>
          <a:srcRect b="0" l="0" r="0" t="0"/>
          <a:stretch/>
        </p:blipFill>
        <p:spPr>
          <a:xfrm>
            <a:off x="4976840" y="2283045"/>
            <a:ext cx="7215160" cy="452030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6"/>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2400"/>
              <a:buFont typeface="Arial"/>
              <a:buNone/>
            </a:pPr>
            <a:r>
              <a:rPr b="1" lang="it-IT" sz="2400">
                <a:latin typeface="Arial"/>
                <a:ea typeface="Arial"/>
                <a:cs typeface="Arial"/>
                <a:sym typeface="Arial"/>
              </a:rPr>
              <a:t>Cosa si sta facendo per ridurre il Gender Gap?</a:t>
            </a:r>
            <a:endParaRPr sz="2400">
              <a:latin typeface="Arial"/>
              <a:ea typeface="Arial"/>
              <a:cs typeface="Arial"/>
              <a:sym typeface="Arial"/>
            </a:endParaRPr>
          </a:p>
        </p:txBody>
      </p:sp>
      <p:sp>
        <p:nvSpPr>
          <p:cNvPr id="555" name="Google Shape;555;p36"/>
          <p:cNvSpPr txBox="1"/>
          <p:nvPr>
            <p:ph idx="1" type="body"/>
          </p:nvPr>
        </p:nvSpPr>
        <p:spPr>
          <a:xfrm>
            <a:off x="432000" y="1336546"/>
            <a:ext cx="11339513" cy="36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3F3F3F"/>
              </a:buClr>
              <a:buSzPts val="1800"/>
              <a:buNone/>
            </a:pPr>
            <a:r>
              <a:rPr lang="it-IT" sz="1800">
                <a:latin typeface="Arial"/>
                <a:ea typeface="Arial"/>
                <a:cs typeface="Arial"/>
                <a:sym typeface="Arial"/>
              </a:rPr>
              <a:t>Negli ultimi decenni, molti paesi e organizzazioni internazionali, come le </a:t>
            </a:r>
            <a:r>
              <a:rPr b="1" lang="it-IT" sz="1800">
                <a:latin typeface="Arial"/>
                <a:ea typeface="Arial"/>
                <a:cs typeface="Arial"/>
                <a:sym typeface="Arial"/>
              </a:rPr>
              <a:t>Nazioni Unite</a:t>
            </a:r>
            <a:r>
              <a:rPr lang="it-IT" sz="1800">
                <a:latin typeface="Arial"/>
                <a:ea typeface="Arial"/>
                <a:cs typeface="Arial"/>
                <a:sym typeface="Arial"/>
              </a:rPr>
              <a:t>, hanno promosso politiche per ridurre il gender gap e promuovere la </a:t>
            </a:r>
            <a:r>
              <a:rPr b="1" lang="it-IT" sz="1800">
                <a:latin typeface="Arial"/>
                <a:ea typeface="Arial"/>
                <a:cs typeface="Arial"/>
                <a:sym typeface="Arial"/>
              </a:rPr>
              <a:t>parità di genere</a:t>
            </a:r>
            <a:r>
              <a:rPr lang="it-IT" sz="1800">
                <a:latin typeface="Arial"/>
                <a:ea typeface="Arial"/>
                <a:cs typeface="Arial"/>
                <a:sym typeface="Arial"/>
              </a:rPr>
              <a:t>. </a:t>
            </a:r>
            <a:endParaRPr b="1" sz="1800">
              <a:latin typeface="Arial"/>
              <a:ea typeface="Arial"/>
              <a:cs typeface="Arial"/>
              <a:sym typeface="Arial"/>
            </a:endParaRPr>
          </a:p>
        </p:txBody>
      </p:sp>
      <p:sp>
        <p:nvSpPr>
          <p:cNvPr descr="Blocco in evidenza a sinistra" id="556" name="Google Shape;556;p36"/>
          <p:cNvSpPr/>
          <p:nvPr/>
        </p:nvSpPr>
        <p:spPr>
          <a:xfrm>
            <a:off x="419999" y="832835"/>
            <a:ext cx="6145187" cy="1202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557" name="Google Shape;557;p36"/>
          <p:cNvSpPr txBox="1"/>
          <p:nvPr>
            <p:ph idx="3" type="body"/>
          </p:nvPr>
        </p:nvSpPr>
        <p:spPr>
          <a:xfrm>
            <a:off x="419999" y="2148004"/>
            <a:ext cx="5472000" cy="2194694"/>
          </a:xfrm>
          <a:prstGeom prst="rect">
            <a:avLst/>
          </a:prstGeom>
          <a:noFill/>
          <a:ln>
            <a:noFill/>
          </a:ln>
        </p:spPr>
        <p:txBody>
          <a:bodyPr anchorCtr="0" anchor="t" bIns="0" lIns="0" spcFirstLastPara="1" rIns="0" wrap="square" tIns="0">
            <a:noAutofit/>
          </a:bodyPr>
          <a:lstStyle/>
          <a:p>
            <a:pPr indent="-342900" lvl="0" marL="342900" rtl="0" algn="l">
              <a:lnSpc>
                <a:spcPct val="115000"/>
              </a:lnSpc>
              <a:spcBef>
                <a:spcPts val="0"/>
              </a:spcBef>
              <a:spcAft>
                <a:spcPts val="0"/>
              </a:spcAft>
              <a:buClr>
                <a:srgbClr val="3F3F3F"/>
              </a:buClr>
              <a:buSzPts val="1000"/>
              <a:buFont typeface="Noto Sans Symbols"/>
              <a:buChar char="∙"/>
            </a:pPr>
            <a:r>
              <a:rPr b="1" lang="it-IT" sz="1800">
                <a:latin typeface="Arial"/>
                <a:ea typeface="Arial"/>
                <a:cs typeface="Arial"/>
                <a:sym typeface="Arial"/>
              </a:rPr>
              <a:t>Leggi per la parità salariale</a:t>
            </a:r>
            <a:r>
              <a:rPr lang="it-IT" sz="1800">
                <a:latin typeface="Arial"/>
                <a:ea typeface="Arial"/>
                <a:cs typeface="Arial"/>
                <a:sym typeface="Arial"/>
              </a:rPr>
              <a:t> e la </a:t>
            </a:r>
            <a:r>
              <a:rPr b="1" lang="it-IT" sz="1800">
                <a:latin typeface="Arial"/>
                <a:ea typeface="Arial"/>
                <a:cs typeface="Arial"/>
                <a:sym typeface="Arial"/>
              </a:rPr>
              <a:t>protezione contro la discriminazione</a:t>
            </a:r>
            <a:r>
              <a:rPr lang="it-IT" sz="1800">
                <a:latin typeface="Arial"/>
                <a:ea typeface="Arial"/>
                <a:cs typeface="Arial"/>
                <a:sym typeface="Arial"/>
              </a:rPr>
              <a:t> sul posto di lavoro.</a:t>
            </a:r>
            <a:endParaRPr sz="1800">
              <a:latin typeface="Arial"/>
              <a:ea typeface="Arial"/>
              <a:cs typeface="Arial"/>
              <a:sym typeface="Arial"/>
            </a:endParaRPr>
          </a:p>
          <a:p>
            <a:pPr indent="-342900" lvl="0" marL="342900" rtl="0" algn="l">
              <a:lnSpc>
                <a:spcPct val="115000"/>
              </a:lnSpc>
              <a:spcBef>
                <a:spcPts val="1800"/>
              </a:spcBef>
              <a:spcAft>
                <a:spcPts val="0"/>
              </a:spcAft>
              <a:buClr>
                <a:srgbClr val="3F3F3F"/>
              </a:buClr>
              <a:buSzPts val="1000"/>
              <a:buFont typeface="Noto Sans Symbols"/>
              <a:buChar char="∙"/>
            </a:pPr>
            <a:r>
              <a:rPr b="1" lang="it-IT" sz="1800">
                <a:latin typeface="Arial"/>
                <a:ea typeface="Arial"/>
                <a:cs typeface="Arial"/>
                <a:sym typeface="Arial"/>
              </a:rPr>
              <a:t>Iniziative educative</a:t>
            </a:r>
            <a:r>
              <a:rPr lang="it-IT" sz="1800">
                <a:latin typeface="Arial"/>
                <a:ea typeface="Arial"/>
                <a:cs typeface="Arial"/>
                <a:sym typeface="Arial"/>
              </a:rPr>
              <a:t> per aumentare l'accesso delle ragazze all'istruzione in tutto il mondo.</a:t>
            </a:r>
            <a:endParaRPr sz="1800">
              <a:latin typeface="Arial"/>
              <a:ea typeface="Arial"/>
              <a:cs typeface="Arial"/>
              <a:sym typeface="Arial"/>
            </a:endParaRPr>
          </a:p>
          <a:p>
            <a:pPr indent="-266700" lvl="0" marL="266700" rtl="0" algn="l">
              <a:lnSpc>
                <a:spcPct val="115000"/>
              </a:lnSpc>
              <a:spcBef>
                <a:spcPts val="1800"/>
              </a:spcBef>
              <a:spcAft>
                <a:spcPts val="0"/>
              </a:spcAft>
              <a:buClr>
                <a:srgbClr val="3F3F3F"/>
              </a:buClr>
              <a:buSzPts val="1800"/>
              <a:buChar char="•"/>
            </a:pPr>
            <a:r>
              <a:rPr b="1" lang="it-IT" sz="1800">
                <a:latin typeface="Arial"/>
                <a:ea typeface="Arial"/>
                <a:cs typeface="Arial"/>
                <a:sym typeface="Arial"/>
              </a:rPr>
              <a:t>Politiche di parità di rappresentanza politica</a:t>
            </a:r>
            <a:endParaRPr/>
          </a:p>
          <a:p>
            <a:pPr indent="-266700" lvl="0" marL="266700" rtl="0" algn="l">
              <a:lnSpc>
                <a:spcPct val="115000"/>
              </a:lnSpc>
              <a:spcBef>
                <a:spcPts val="1800"/>
              </a:spcBef>
              <a:spcAft>
                <a:spcPts val="0"/>
              </a:spcAft>
              <a:buClr>
                <a:srgbClr val="3F3F3F"/>
              </a:buClr>
              <a:buSzPts val="1800"/>
              <a:buChar char="•"/>
            </a:pPr>
            <a:r>
              <a:rPr b="1" lang="it-IT" sz="1800">
                <a:latin typeface="Arial"/>
                <a:ea typeface="Arial"/>
                <a:cs typeface="Arial"/>
                <a:sym typeface="Arial"/>
              </a:rPr>
              <a:t>Programmi di empowerment femminile</a:t>
            </a:r>
            <a:r>
              <a:rPr lang="it-IT" sz="1800">
                <a:latin typeface="Arial"/>
                <a:ea typeface="Arial"/>
                <a:cs typeface="Arial"/>
                <a:sym typeface="Arial"/>
              </a:rPr>
              <a:t> </a:t>
            </a:r>
            <a:endParaRPr b="1" sz="1800">
              <a:latin typeface="Arial"/>
              <a:ea typeface="Arial"/>
              <a:cs typeface="Arial"/>
              <a:sym typeface="Arial"/>
            </a:endParaRPr>
          </a:p>
        </p:txBody>
      </p:sp>
      <p:cxnSp>
        <p:nvCxnSpPr>
          <p:cNvPr descr="Divisore diapositiva" id="558" name="Google Shape;558;p36"/>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559" name="Google Shape;559;p36"/>
          <p:cNvSpPr/>
          <p:nvPr/>
        </p:nvSpPr>
        <p:spPr>
          <a:xfrm>
            <a:off x="6916012" y="2090592"/>
            <a:ext cx="4077013" cy="11482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560" name="Google Shape;560;p36"/>
          <p:cNvSpPr txBox="1"/>
          <p:nvPr>
            <p:ph idx="4" type="body"/>
          </p:nvPr>
        </p:nvSpPr>
        <p:spPr>
          <a:xfrm>
            <a:off x="6218519" y="1853737"/>
            <a:ext cx="5472000" cy="358775"/>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3F3F3F"/>
              </a:buClr>
              <a:buSzPts val="1800"/>
              <a:buNone/>
            </a:pPr>
            <a:r>
              <a:rPr lang="it-IT" sz="1800">
                <a:latin typeface="Arial"/>
                <a:ea typeface="Arial"/>
                <a:cs typeface="Arial"/>
                <a:sym typeface="Arial"/>
              </a:rPr>
              <a:t>Perché  ridurre il Gender Gap?</a:t>
            </a:r>
            <a:endParaRPr/>
          </a:p>
        </p:txBody>
      </p:sp>
      <p:sp>
        <p:nvSpPr>
          <p:cNvPr id="561" name="Google Shape;561;p36"/>
          <p:cNvSpPr txBox="1"/>
          <p:nvPr>
            <p:ph idx="5" type="body"/>
          </p:nvPr>
        </p:nvSpPr>
        <p:spPr>
          <a:xfrm>
            <a:off x="6300002" y="2369703"/>
            <a:ext cx="5472113" cy="2196041"/>
          </a:xfrm>
          <a:prstGeom prst="rect">
            <a:avLst/>
          </a:prstGeom>
          <a:noFill/>
          <a:ln>
            <a:noFill/>
          </a:ln>
        </p:spPr>
        <p:txBody>
          <a:bodyPr anchorCtr="0" anchor="t" bIns="0" lIns="0" spcFirstLastPara="1" rIns="0" wrap="square" tIns="0">
            <a:noAutofit/>
          </a:bodyPr>
          <a:lstStyle/>
          <a:p>
            <a:pPr indent="-266700" lvl="0" marL="266700" rtl="0" algn="l">
              <a:lnSpc>
                <a:spcPct val="115000"/>
              </a:lnSpc>
              <a:spcBef>
                <a:spcPts val="0"/>
              </a:spcBef>
              <a:spcAft>
                <a:spcPts val="0"/>
              </a:spcAft>
              <a:buClr>
                <a:srgbClr val="3F3F3F"/>
              </a:buClr>
              <a:buSzPts val="1800"/>
              <a:buChar char="•"/>
            </a:pPr>
            <a:r>
              <a:rPr lang="it-IT" sz="1800">
                <a:latin typeface="Arial"/>
                <a:ea typeface="Arial"/>
                <a:cs typeface="Arial"/>
                <a:sym typeface="Arial"/>
              </a:rPr>
              <a:t>Il </a:t>
            </a:r>
            <a:r>
              <a:rPr b="1" lang="it-IT" sz="1800">
                <a:latin typeface="Arial"/>
                <a:ea typeface="Arial"/>
                <a:cs typeface="Arial"/>
                <a:sym typeface="Arial"/>
              </a:rPr>
              <a:t>gender gap</a:t>
            </a:r>
            <a:r>
              <a:rPr lang="it-IT" sz="1800">
                <a:latin typeface="Arial"/>
                <a:ea typeface="Arial"/>
                <a:cs typeface="Arial"/>
                <a:sym typeface="Arial"/>
              </a:rPr>
              <a:t> è una questione importante perché non riguarda solo la </a:t>
            </a:r>
            <a:r>
              <a:rPr b="1" lang="it-IT" sz="1800">
                <a:latin typeface="Arial"/>
                <a:ea typeface="Arial"/>
                <a:cs typeface="Arial"/>
                <a:sym typeface="Arial"/>
              </a:rPr>
              <a:t>parità di opportunità</a:t>
            </a:r>
            <a:r>
              <a:rPr lang="it-IT" sz="1800">
                <a:latin typeface="Arial"/>
                <a:ea typeface="Arial"/>
                <a:cs typeface="Arial"/>
                <a:sym typeface="Arial"/>
              </a:rPr>
              <a:t> tra uomini e donne, ma anche la possibilità di </a:t>
            </a:r>
            <a:r>
              <a:rPr b="1" lang="it-IT" sz="1800">
                <a:latin typeface="Arial"/>
                <a:ea typeface="Arial"/>
                <a:cs typeface="Arial"/>
                <a:sym typeface="Arial"/>
              </a:rPr>
              <a:t>costruire una società più giusta e inclusiva</a:t>
            </a:r>
            <a:r>
              <a:rPr lang="it-IT" sz="1800">
                <a:latin typeface="Arial"/>
                <a:ea typeface="Arial"/>
                <a:cs typeface="Arial"/>
                <a:sym typeface="Arial"/>
              </a:rPr>
              <a:t>. Ridurre il gender gap significa consentire a ogni individuo, indipendentemente dal suo genere, di avere accesso alle stesse opportunità di realizzarsi e contribuire al benessere della società.</a:t>
            </a:r>
            <a:endParaRPr sz="1800">
              <a:latin typeface="Arial"/>
              <a:ea typeface="Arial"/>
              <a:cs typeface="Arial"/>
              <a:sym typeface="Arial"/>
            </a:endParaRPr>
          </a:p>
        </p:txBody>
      </p:sp>
      <p:sp>
        <p:nvSpPr>
          <p:cNvPr id="562" name="Google Shape;562;p36"/>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id="563" name="Google Shape;563;p36"/>
          <p:cNvPicPr preferRelativeResize="0"/>
          <p:nvPr/>
        </p:nvPicPr>
        <p:blipFill rotWithShape="1">
          <a:blip r:embed="rId3">
            <a:alphaModFix/>
          </a:blip>
          <a:srcRect b="0" l="0" r="0" t="0"/>
          <a:stretch/>
        </p:blipFill>
        <p:spPr>
          <a:xfrm>
            <a:off x="6565186" y="4932334"/>
            <a:ext cx="5626814" cy="187101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37"/>
          <p:cNvSpPr txBox="1"/>
          <p:nvPr>
            <p:ph type="title"/>
          </p:nvPr>
        </p:nvSpPr>
        <p:spPr>
          <a:xfrm>
            <a:off x="432000" y="432000"/>
            <a:ext cx="11340000" cy="432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Clr>
                <a:srgbClr val="3F3F3F"/>
              </a:buClr>
              <a:buSzPts val="2400"/>
              <a:buFont typeface="Arial"/>
              <a:buNone/>
            </a:pPr>
            <a:r>
              <a:rPr b="1" lang="it-IT" sz="2400">
                <a:latin typeface="Arial"/>
                <a:ea typeface="Arial"/>
                <a:cs typeface="Arial"/>
                <a:sym typeface="Arial"/>
              </a:rPr>
              <a:t>Cosa possiamo fare concretamente?</a:t>
            </a:r>
            <a:endParaRPr sz="2400">
              <a:latin typeface="Arial"/>
              <a:ea typeface="Arial"/>
              <a:cs typeface="Arial"/>
              <a:sym typeface="Arial"/>
            </a:endParaRPr>
          </a:p>
        </p:txBody>
      </p:sp>
      <p:sp>
        <p:nvSpPr>
          <p:cNvPr id="569" name="Google Shape;569;p37"/>
          <p:cNvSpPr txBox="1"/>
          <p:nvPr>
            <p:ph idx="1" type="body"/>
          </p:nvPr>
        </p:nvSpPr>
        <p:spPr>
          <a:xfrm>
            <a:off x="432000" y="1336546"/>
            <a:ext cx="11339513" cy="360000"/>
          </a:xfrm>
          <a:prstGeom prst="rect">
            <a:avLst/>
          </a:prstGeom>
          <a:noFill/>
          <a:ln>
            <a:noFill/>
          </a:ln>
        </p:spPr>
        <p:txBody>
          <a:bodyPr anchorCtr="0" anchor="t" bIns="0" lIns="0" spcFirstLastPara="1" rIns="0" wrap="square" tIns="0">
            <a:noAutofit/>
          </a:bodyPr>
          <a:lstStyle/>
          <a:p>
            <a:pPr indent="-342900" lvl="0" marL="342900" rtl="0" algn="l">
              <a:lnSpc>
                <a:spcPct val="115000"/>
              </a:lnSpc>
              <a:spcBef>
                <a:spcPts val="0"/>
              </a:spcBef>
              <a:spcAft>
                <a:spcPts val="0"/>
              </a:spcAft>
              <a:buClr>
                <a:srgbClr val="3F3F3F"/>
              </a:buClr>
              <a:buSzPts val="1000"/>
              <a:buFont typeface="Noto Sans Symbols"/>
              <a:buChar char="∙"/>
            </a:pPr>
            <a:r>
              <a:rPr lang="it-IT" sz="1800">
                <a:latin typeface="Arial"/>
                <a:ea typeface="Arial"/>
                <a:cs typeface="Arial"/>
                <a:sym typeface="Arial"/>
              </a:rPr>
              <a:t>Partecipare attivamente alle discussioni sul gender gap nelle nostre scuole, per sensibilizzare i compagni e gli insegnanti su come abbattere le barriere di genere.</a:t>
            </a:r>
            <a:endParaRPr sz="1800">
              <a:latin typeface="Arial"/>
              <a:ea typeface="Arial"/>
              <a:cs typeface="Arial"/>
              <a:sym typeface="Arial"/>
            </a:endParaRPr>
          </a:p>
        </p:txBody>
      </p:sp>
      <p:sp>
        <p:nvSpPr>
          <p:cNvPr descr="Blocco in evidenza a sinistra" id="570" name="Google Shape;570;p37"/>
          <p:cNvSpPr/>
          <p:nvPr/>
        </p:nvSpPr>
        <p:spPr>
          <a:xfrm>
            <a:off x="419999" y="832835"/>
            <a:ext cx="4496033" cy="12683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571" name="Google Shape;571;p37"/>
          <p:cNvSpPr txBox="1"/>
          <p:nvPr>
            <p:ph idx="3" type="body"/>
          </p:nvPr>
        </p:nvSpPr>
        <p:spPr>
          <a:xfrm>
            <a:off x="432000" y="2802234"/>
            <a:ext cx="5472000" cy="2194694"/>
          </a:xfrm>
          <a:prstGeom prst="rect">
            <a:avLst/>
          </a:prstGeom>
          <a:noFill/>
          <a:ln>
            <a:noFill/>
          </a:ln>
        </p:spPr>
        <p:txBody>
          <a:bodyPr anchorCtr="0" anchor="t" bIns="0" lIns="0" spcFirstLastPara="1" rIns="0" wrap="square" tIns="0">
            <a:noAutofit/>
          </a:bodyPr>
          <a:lstStyle/>
          <a:p>
            <a:pPr indent="-342900" lvl="0" marL="342900" rtl="0" algn="l">
              <a:lnSpc>
                <a:spcPct val="115000"/>
              </a:lnSpc>
              <a:spcBef>
                <a:spcPts val="0"/>
              </a:spcBef>
              <a:spcAft>
                <a:spcPts val="0"/>
              </a:spcAft>
              <a:buClr>
                <a:srgbClr val="3F3F3F"/>
              </a:buClr>
              <a:buSzPts val="1000"/>
              <a:buFont typeface="Noto Sans Symbols"/>
              <a:buChar char="∙"/>
            </a:pPr>
            <a:r>
              <a:rPr lang="it-IT" sz="1800">
                <a:latin typeface="Arial"/>
                <a:ea typeface="Arial"/>
                <a:cs typeface="Arial"/>
                <a:sym typeface="Arial"/>
              </a:rPr>
              <a:t>Supportare l'idea che ognuno, a prescindere dal proprio genere, possa scegliere e intraprendere il percorso scolastico che desidera senza limitazioni o giudizi.</a:t>
            </a:r>
            <a:endParaRPr sz="1800">
              <a:latin typeface="Arial"/>
              <a:ea typeface="Arial"/>
              <a:cs typeface="Arial"/>
              <a:sym typeface="Arial"/>
            </a:endParaRPr>
          </a:p>
          <a:p>
            <a:pPr indent="0" lvl="0" marL="0" rtl="0" algn="l">
              <a:lnSpc>
                <a:spcPct val="115000"/>
              </a:lnSpc>
              <a:spcBef>
                <a:spcPts val="1800"/>
              </a:spcBef>
              <a:spcAft>
                <a:spcPts val="0"/>
              </a:spcAft>
              <a:buClr>
                <a:srgbClr val="3F3F3F"/>
              </a:buClr>
              <a:buSzPts val="1000"/>
              <a:buNone/>
            </a:pPr>
            <a:r>
              <a:t/>
            </a:r>
            <a:endParaRPr sz="1800">
              <a:latin typeface="Arial"/>
              <a:ea typeface="Arial"/>
              <a:cs typeface="Arial"/>
              <a:sym typeface="Arial"/>
            </a:endParaRPr>
          </a:p>
        </p:txBody>
      </p:sp>
      <p:cxnSp>
        <p:nvCxnSpPr>
          <p:cNvPr descr="Divisore diapositiva" id="572" name="Google Shape;572;p37"/>
          <p:cNvCxnSpPr/>
          <p:nvPr/>
        </p:nvCxnSpPr>
        <p:spPr>
          <a:xfrm>
            <a:off x="6096000" y="2363035"/>
            <a:ext cx="0" cy="2411330"/>
          </a:xfrm>
          <a:prstGeom prst="straightConnector1">
            <a:avLst/>
          </a:prstGeom>
          <a:noFill/>
          <a:ln cap="flat" cmpd="sng" w="9525">
            <a:solidFill>
              <a:srgbClr val="F2F2F2"/>
            </a:solidFill>
            <a:prstDash val="solid"/>
            <a:miter lim="800000"/>
            <a:headEnd len="sm" w="sm" type="none"/>
            <a:tailEnd len="sm" w="sm" type="none"/>
          </a:ln>
        </p:spPr>
      </p:cxnSp>
      <p:sp>
        <p:nvSpPr>
          <p:cNvPr descr="Blocco in evidenza a destra&#10;" id="573" name="Google Shape;573;p37"/>
          <p:cNvSpPr/>
          <p:nvPr/>
        </p:nvSpPr>
        <p:spPr>
          <a:xfrm>
            <a:off x="6793493" y="2077154"/>
            <a:ext cx="4077013" cy="114824"/>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ndara"/>
              <a:ea typeface="Candara"/>
              <a:cs typeface="Candara"/>
              <a:sym typeface="Candara"/>
            </a:endParaRPr>
          </a:p>
        </p:txBody>
      </p:sp>
      <p:sp>
        <p:nvSpPr>
          <p:cNvPr id="574" name="Google Shape;574;p37"/>
          <p:cNvSpPr txBox="1"/>
          <p:nvPr>
            <p:ph idx="4" type="body"/>
          </p:nvPr>
        </p:nvSpPr>
        <p:spPr>
          <a:xfrm>
            <a:off x="6096000" y="1810317"/>
            <a:ext cx="5472000" cy="358775"/>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Clr>
                <a:srgbClr val="3F3F3F"/>
              </a:buClr>
              <a:buSzPts val="1800"/>
              <a:buNone/>
            </a:pPr>
            <a:r>
              <a:rPr lang="it-IT" sz="1800">
                <a:latin typeface="Arial"/>
                <a:ea typeface="Arial"/>
                <a:cs typeface="Arial"/>
                <a:sym typeface="Arial"/>
              </a:rPr>
              <a:t>Perché  ridurre il Gender Gap?</a:t>
            </a:r>
            <a:endParaRPr/>
          </a:p>
        </p:txBody>
      </p:sp>
      <p:sp>
        <p:nvSpPr>
          <p:cNvPr id="575" name="Google Shape;575;p37"/>
          <p:cNvSpPr txBox="1"/>
          <p:nvPr>
            <p:ph idx="5" type="body"/>
          </p:nvPr>
        </p:nvSpPr>
        <p:spPr>
          <a:xfrm>
            <a:off x="6288001" y="2282863"/>
            <a:ext cx="5472113" cy="2196041"/>
          </a:xfrm>
          <a:prstGeom prst="rect">
            <a:avLst/>
          </a:prstGeom>
          <a:noFill/>
          <a:ln>
            <a:noFill/>
          </a:ln>
        </p:spPr>
        <p:txBody>
          <a:bodyPr anchorCtr="0" anchor="t" bIns="0" lIns="0" spcFirstLastPara="1" rIns="0" wrap="square" tIns="0">
            <a:noAutofit/>
          </a:bodyPr>
          <a:lstStyle/>
          <a:p>
            <a:pPr indent="0" lvl="0" marL="190500" rtl="0" algn="l">
              <a:lnSpc>
                <a:spcPct val="90000"/>
              </a:lnSpc>
              <a:spcBef>
                <a:spcPts val="0"/>
              </a:spcBef>
              <a:spcAft>
                <a:spcPts val="0"/>
              </a:spcAft>
              <a:buClr>
                <a:srgbClr val="3F3F3F"/>
              </a:buClr>
              <a:buSzPts val="1800"/>
              <a:buNone/>
            </a:pPr>
            <a:r>
              <a:rPr lang="it-IT">
                <a:latin typeface="Arial"/>
                <a:ea typeface="Arial"/>
                <a:cs typeface="Arial"/>
                <a:sym typeface="Arial"/>
              </a:rPr>
              <a:t>L</a:t>
            </a:r>
            <a:r>
              <a:rPr lang="it-IT" sz="1800">
                <a:latin typeface="Arial"/>
                <a:ea typeface="Arial"/>
                <a:cs typeface="Arial"/>
                <a:sym typeface="Arial"/>
              </a:rPr>
              <a:t>e pari opportunità non sono solo un diritto, ma una responsabilità collettiva. Ogni passo verso l'uguaglianza, anche il più piccolo, contribuisce a costruire una società più giusta e inclusiva. È fondamentale che ciascuno di noi, sia come individuo che come parte di una comunità, prenda coscienza delle disuguaglianze e faccia la sua parte per superarle.</a:t>
            </a:r>
            <a:endParaRPr sz="1800">
              <a:latin typeface="Times New Roman"/>
              <a:ea typeface="Times New Roman"/>
              <a:cs typeface="Times New Roman"/>
              <a:sym typeface="Times New Roman"/>
            </a:endParaRPr>
          </a:p>
        </p:txBody>
      </p:sp>
      <p:sp>
        <p:nvSpPr>
          <p:cNvPr id="576" name="Google Shape;576;p37"/>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pic>
        <p:nvPicPr>
          <p:cNvPr id="577" name="Google Shape;577;p37"/>
          <p:cNvPicPr preferRelativeResize="0"/>
          <p:nvPr/>
        </p:nvPicPr>
        <p:blipFill rotWithShape="1">
          <a:blip r:embed="rId3">
            <a:alphaModFix/>
          </a:blip>
          <a:srcRect b="0" l="0" r="0" t="0"/>
          <a:stretch/>
        </p:blipFill>
        <p:spPr>
          <a:xfrm>
            <a:off x="6446067" y="4240422"/>
            <a:ext cx="5745933" cy="256292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3F3F"/>
        </a:solidFill>
      </p:bgPr>
    </p:bg>
    <p:spTree>
      <p:nvGrpSpPr>
        <p:cNvPr id="581" name="Shape 581"/>
        <p:cNvGrpSpPr/>
        <p:nvPr/>
      </p:nvGrpSpPr>
      <p:grpSpPr>
        <a:xfrm>
          <a:off x="0" y="0"/>
          <a:ext cx="0" cy="0"/>
          <a:chOff x="0" y="0"/>
          <a:chExt cx="0" cy="0"/>
        </a:xfrm>
      </p:grpSpPr>
      <p:pic>
        <p:nvPicPr>
          <p:cNvPr descr="Gruppo di studio al tavolo di una caffetteria" id="582" name="Google Shape;582;p38"/>
          <p:cNvPicPr preferRelativeResize="0"/>
          <p:nvPr>
            <p:ph idx="2" type="pic"/>
          </p:nvPr>
        </p:nvPicPr>
        <p:blipFill rotWithShape="1">
          <a:blip r:embed="rId3">
            <a:alphaModFix/>
          </a:blip>
          <a:srcRect b="0" l="0" r="0" t="0"/>
          <a:stretch/>
        </p:blipFill>
        <p:spPr>
          <a:xfrm>
            <a:off x="2305337" y="-1"/>
            <a:ext cx="9780588" cy="6803352"/>
          </a:xfrm>
          <a:prstGeom prst="rect">
            <a:avLst/>
          </a:prstGeom>
          <a:solidFill>
            <a:srgbClr val="D8D8D8"/>
          </a:solidFill>
          <a:ln>
            <a:noFill/>
          </a:ln>
        </p:spPr>
      </p:pic>
      <p:sp>
        <p:nvSpPr>
          <p:cNvPr id="583" name="Google Shape;583;p38"/>
          <p:cNvSpPr txBox="1"/>
          <p:nvPr>
            <p:ph type="title"/>
          </p:nvPr>
        </p:nvSpPr>
        <p:spPr>
          <a:xfrm>
            <a:off x="-1700" y="2156226"/>
            <a:ext cx="4903599" cy="1958400"/>
          </a:xfrm>
          <a:prstGeom prst="rect">
            <a:avLst/>
          </a:prstGeom>
          <a:solidFill>
            <a:schemeClr val="lt1"/>
          </a:solidFill>
          <a:ln>
            <a:noFill/>
          </a:ln>
        </p:spPr>
        <p:txBody>
          <a:bodyPr anchorCtr="0" anchor="ctr" bIns="180000" lIns="252000" spcFirstLastPara="1" rIns="180000" wrap="square" tIns="180000">
            <a:noAutofit/>
          </a:bodyPr>
          <a:lstStyle/>
          <a:p>
            <a:pPr indent="0" lvl="0" marL="0" rtl="0" algn="l">
              <a:lnSpc>
                <a:spcPct val="90000"/>
              </a:lnSpc>
              <a:spcBef>
                <a:spcPts val="0"/>
              </a:spcBef>
              <a:spcAft>
                <a:spcPts val="0"/>
              </a:spcAft>
              <a:buClr>
                <a:srgbClr val="3F3F3F"/>
              </a:buClr>
              <a:buSzPts val="5400"/>
              <a:buFont typeface="Corbel"/>
              <a:buNone/>
            </a:pPr>
            <a:r>
              <a:rPr lang="it-IT" sz="5400"/>
              <a:t>Rimuoviamo gli ostacoli</a:t>
            </a:r>
            <a:endParaRPr/>
          </a:p>
        </p:txBody>
      </p:sp>
      <p:sp>
        <p:nvSpPr>
          <p:cNvPr id="584" name="Google Shape;584;p38"/>
          <p:cNvSpPr txBox="1"/>
          <p:nvPr>
            <p:ph idx="1" type="body"/>
          </p:nvPr>
        </p:nvSpPr>
        <p:spPr>
          <a:xfrm>
            <a:off x="0" y="4114626"/>
            <a:ext cx="4901899" cy="1576872"/>
          </a:xfrm>
          <a:prstGeom prst="rect">
            <a:avLst/>
          </a:prstGeom>
          <a:solidFill>
            <a:schemeClr val="dk1">
              <a:alpha val="80000"/>
            </a:schemeClr>
          </a:solidFill>
          <a:ln>
            <a:noFill/>
          </a:ln>
        </p:spPr>
        <p:txBody>
          <a:bodyPr anchorCtr="0" anchor="t" bIns="180000" lIns="252000" spcFirstLastPara="1" rIns="180000" wrap="square" tIns="180000">
            <a:noAutofit/>
          </a:bodyPr>
          <a:lstStyle/>
          <a:p>
            <a:pPr indent="0" lvl="0" marL="0" rtl="0" algn="l">
              <a:lnSpc>
                <a:spcPct val="115000"/>
              </a:lnSpc>
              <a:spcBef>
                <a:spcPts val="0"/>
              </a:spcBef>
              <a:spcAft>
                <a:spcPts val="0"/>
              </a:spcAft>
              <a:buClr>
                <a:schemeClr val="dk1"/>
              </a:buClr>
              <a:buSzPts val="1400"/>
              <a:buNone/>
            </a:pPr>
            <a:r>
              <a:rPr b="1" lang="it-IT" sz="1400">
                <a:solidFill>
                  <a:schemeClr val="dk1"/>
                </a:solidFill>
                <a:highlight>
                  <a:srgbClr val="FFFF00"/>
                </a:highlight>
                <a:latin typeface="Arial"/>
                <a:ea typeface="Arial"/>
                <a:cs typeface="Arial"/>
                <a:sym typeface="Arial"/>
              </a:rPr>
              <a:t>Ogni gruppo dovrà ideare una campagna di sensibilizzazione che promuova il concetto di pari opportunità e l'importanza di rimuovere gli ostacoli alla libertà e all'uguaglianza.  I gruppi possono: creare manifesti, video o slogan. Pensare a come sensibilizzare la comunità su temi legati alla parità di genere, alla discriminazione razziale o sociale, ecc</a:t>
            </a:r>
            <a:r>
              <a:rPr lang="it-IT" sz="1200">
                <a:solidFill>
                  <a:schemeClr val="dk1"/>
                </a:solidFill>
                <a:highlight>
                  <a:srgbClr val="FFFF00"/>
                </a:highlight>
                <a:latin typeface="Arial"/>
                <a:ea typeface="Arial"/>
                <a:cs typeface="Arial"/>
                <a:sym typeface="Arial"/>
              </a:rPr>
              <a:t>.</a:t>
            </a:r>
            <a:endParaRPr sz="1200">
              <a:solidFill>
                <a:schemeClr val="dk1"/>
              </a:solidFill>
              <a:highlight>
                <a:srgbClr val="FFFF00"/>
              </a:highlight>
              <a:latin typeface="Arial"/>
              <a:ea typeface="Arial"/>
              <a:cs typeface="Arial"/>
              <a:sym typeface="Arial"/>
            </a:endParaRPr>
          </a:p>
          <a:p>
            <a:pPr indent="0" lvl="0" marL="0" rtl="0" algn="l">
              <a:lnSpc>
                <a:spcPct val="90000"/>
              </a:lnSpc>
              <a:spcBef>
                <a:spcPts val="1800"/>
              </a:spcBef>
              <a:spcAft>
                <a:spcPts val="0"/>
              </a:spcAft>
              <a:buClr>
                <a:schemeClr val="lt1"/>
              </a:buClr>
              <a:buSzPts val="1800"/>
              <a:buNone/>
            </a:pPr>
            <a:r>
              <a:t/>
            </a:r>
            <a:endParaRPr>
              <a:solidFill>
                <a:schemeClr val="dk1"/>
              </a:solidFill>
            </a:endParaRPr>
          </a:p>
        </p:txBody>
      </p:sp>
      <p:sp>
        <p:nvSpPr>
          <p:cNvPr id="585" name="Google Shape;585;p38"/>
          <p:cNvSpPr txBox="1"/>
          <p:nvPr>
            <p:ph idx="12" type="sldNum"/>
          </p:nvPr>
        </p:nvSpPr>
        <p:spPr>
          <a:xfrm>
            <a:off x="11760000" y="6371351"/>
            <a:ext cx="432000" cy="432000"/>
          </a:xfrm>
          <a:prstGeom prst="rect">
            <a:avLst/>
          </a:prstGeom>
          <a:solidFill>
            <a:srgbClr val="3F3F3F"/>
          </a:solid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ersonalizzata">
  <a:themeElements>
    <a:clrScheme name="Custom 129">
      <a:dk1>
        <a:srgbClr val="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2024-12-06T11:39:16Z</dcterms:created>
  <dc:creator>Miriam Simonetti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2024-12-06T12:00:16Z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d02caafd-d7d6-4ef9-970b-9350c6790fba</vt:lpwstr>
  </property>
  <property fmtid="{D5CDD505-2E9C-101B-9397-08002B2CF9AE}" pid="7" name="MSIP_Label_defa4170-0d19-0005-0004-bc88714345d2_ActionId">
    <vt:lpwstr>9cce33e3-b63a-4fbb-9796-ad019c8a19f8</vt:lpwstr>
  </property>
  <property fmtid="{D5CDD505-2E9C-101B-9397-08002B2CF9AE}" pid="8" name="MSIP_Label_defa4170-0d19-0005-0004-bc88714345d2_ContentBits">
    <vt:lpwstr>0</vt:lpwstr>
  </property>
</Properties>
</file>