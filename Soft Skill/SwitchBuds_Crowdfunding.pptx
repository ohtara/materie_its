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0" r:id="rId18"/>
    <p:sldId id="26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5D8CF-95EF-406A-9BCD-95C2D846D823}" v="3" dt="2026-04-16T10:05:56.140"/>
    <p1510:client id="{261DD85E-BE08-4D6D-AF4B-433FB6AE74AA}" v="2240" dt="2026-04-16T09:35:31.608"/>
    <p1510:client id="{B9137761-F983-43EF-9B85-6BB09DE70A51}" v="130" dt="2026-04-16T09:33:03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301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COVER — Speech tip: Open with your ONE-SENTENCE pitch. 'SwitchBuds is the only TWS earbud with a physical kill switch that gives you gaming-grade 2.4GHz or everyday Bluetooth — in a single device.' Pause. Let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 — Tip: Make the audience FEEL the pain before presenting the solution. Ask: 'How many of you own one pair for gaming and another for daily use? That's exactly the problem we're solving.' Cite sources if available for the stats — or frame as community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SOLUTION — Tip: This is your hero moment. Describe the 'aha' — open the case, show the switch, explain the kill-switch concept in 30 seconds. 'When you flip to 2.4G, the Bluetooth radio is physically disconnected. Your phone cannot reach you. Zero lag. Total focus.'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FEATURES — Tip: Don't read every feature. Pick the two that surprise people most (kill switch + universal dongle) and let the slide speak for the rest. 'The spec sheet is there — but what I want you to focus on is what makes this different from anything you can buy today.'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DESIGN — Tip: Let visuals breathe. Pause here. 'This is the product. This is what arrives at your door.' If presenting live, have a prototype or printed mockup to pass around. Touch builds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TEAM — Tip: Investors and backers fund people first, products second. Spend real time here. Be human — share a personal story. 'I was in ranked Apex, my phone call broke my connection mid-fight. I lost the match and built this product the next morning.'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AUDIENCE — Tip: Know your audience numbers cold. Be ready for 'how do you reach them?' Answer: 'We've already built an email waitlist of X people. We have relationships with 5 tech YouTubers. We're running pre-launch Reddit AMAs. Here's our 30-day sprint plan.'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MARKETING — Tip: Backers invest in campaigns they believe can reach more backers. Show momentum potential. 'Our video is already cut. Creators have committed to post on launch day. We're not guessing — we're executing a plan.'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LEGAL — Tip: Backers are increasingly savvy about risk. Proactively address 'what if you don't deliver?' Answer: all-or-nothing model means you only charge if funded. Prototype exists. Factory is contracted. Be specific — vague answers erode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BUDGET — Tip: Investors and backers WILL ask 'what does it actually cost to make?' Be ready to defend every line. Key message: 'At 5,000 units our margin is 55% at Early Bird pricing — enough to fund re-orders and customer support without cutting quality.' Present stretch goals as aspiration, not desperation.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TIMELINE — Tip: Backers are scared of delays. Anticipate the objection. 'Supply chain can be unpredictable — that's why we built a 10% contingency buffer in budget and 6 weeks float in the schedule. If something slips, we'll communicate proactively — weekly updates every Friday, no exceptions.'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REWARDS — Tip: Early Bird scarcity (200 units only) creates genuine urgency. Emphasise exclusivity of Founder Edition — personal touch at scale. Remind audience: 'Every tier ships the same hardware. You're paying for timing and extras, not a different product.'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CTA — Tip: End with conviction, not uncertainty. Don't say 'we hope...' or 'if all goes well...'. Say: 'The prototype works. The factory is ready. The campaign opens [DATE]. We need you to make it happen.' Then stop talking. Let silence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magine 20" descr="Immagine che contiene scatola&#10;&#10;Il contenuto generato dall'IA potrebbe non essere corretto.">
            <a:extLst>
              <a:ext uri="{FF2B5EF4-FFF2-40B4-BE49-F238E27FC236}">
                <a16:creationId xmlns:a16="http://schemas.microsoft.com/office/drawing/2014/main" id="{A013C408-A592-540F-784D-AD430E39BF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1" t="-748" r="-841" b="748"/>
          <a:stretch>
            <a:fillRect/>
          </a:stretch>
        </p:blipFill>
        <p:spPr>
          <a:xfrm>
            <a:off x="-15427" y="-88985"/>
            <a:ext cx="12327171" cy="70359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91440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7200"/>
              </a:lnSpc>
              <a:buNone/>
            </a:pPr>
            <a:r>
              <a:rPr lang="en-US" sz="6200" b="1"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SWITCH</a:t>
            </a:r>
            <a:endParaRPr lang="en-US" sz="6200">
              <a:latin typeface="Georgia" panose="02040502050405020303" pitchFamily="18" charset="0"/>
            </a:endParaRPr>
          </a:p>
          <a:p>
            <a:pPr marL="0" indent="0">
              <a:lnSpc>
                <a:spcPts val="7200"/>
              </a:lnSpc>
              <a:buNone/>
            </a:pPr>
            <a:r>
              <a:rPr lang="en-US" sz="6200" b="1"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BUDS</a:t>
            </a:r>
            <a:endParaRPr lang="en-US" sz="6200">
              <a:latin typeface="Georgia" panose="020405020504050203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latin typeface="Calibri" pitchFamily="34" charset="0"/>
                <a:ea typeface="Calibri" pitchFamily="34" charset="-122"/>
                <a:cs typeface="Calibri" pitchFamily="34" charset="-120"/>
              </a:rPr>
              <a:t>Uno switch. Zero Lag. Focus </a:t>
            </a:r>
            <a:r>
              <a:rPr lang="en-US" sz="1500" i="1" err="1">
                <a:latin typeface="Calibri" pitchFamily="34" charset="0"/>
                <a:ea typeface="Calibri" pitchFamily="34" charset="-122"/>
                <a:cs typeface="Calibri" pitchFamily="34" charset="-120"/>
              </a:rPr>
              <a:t>totale</a:t>
            </a:r>
            <a:r>
              <a:rPr lang="en-US" sz="1500" i="1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/>
          </a:p>
        </p:txBody>
      </p:sp>
      <p:sp>
        <p:nvSpPr>
          <p:cNvPr id="6" name="Shape 3"/>
          <p:cNvSpPr/>
          <p:nvPr/>
        </p:nvSpPr>
        <p:spPr>
          <a:xfrm>
            <a:off x="502920" y="3200400"/>
            <a:ext cx="2286000" cy="22860"/>
          </a:xfrm>
          <a:prstGeom prst="rect">
            <a:avLst/>
          </a:prstGeom>
          <a:solidFill>
            <a:schemeClr val="tx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0292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latin typeface="Calibri" pitchFamily="34" charset="0"/>
                <a:ea typeface="Calibri" pitchFamily="34" charset="-122"/>
                <a:cs typeface="Calibri" pitchFamily="34" charset="-120"/>
              </a:rPr>
              <a:t>Hybrid TWS Earbuds  ·  Gaming &amp; Everyday  ·  Kickstarter 2026</a:t>
            </a:r>
            <a:endParaRPr lang="en-US" sz="1000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60EF40D7-DDB7-5FDE-0D4B-25570F77A601}"/>
              </a:ext>
            </a:extLst>
          </p:cNvPr>
          <p:cNvSpPr/>
          <p:nvPr/>
        </p:nvSpPr>
        <p:spPr>
          <a:xfrm>
            <a:off x="-102636" y="6441106"/>
            <a:ext cx="1241438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5758A9C6-93D5-54EC-54BD-341645AB76F7}"/>
              </a:ext>
            </a:extLst>
          </p:cNvPr>
          <p:cNvSpPr/>
          <p:nvPr/>
        </p:nvSpPr>
        <p:spPr>
          <a:xfrm>
            <a:off x="469018" y="6527132"/>
            <a:ext cx="10962165" cy="330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kern="0" spc="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switchbuds.com  ·  hello@switchbuds.com  ·  @switchbuds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4572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58368" y="4023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4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 il gaming</a:t>
            </a:r>
            <a:endParaRPr lang="en-US" sz="4400"/>
          </a:p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r>
              <a:rPr lang="en-US" sz="44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4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vivi</a:t>
            </a:r>
            <a:r>
              <a:rPr lang="en-US" sz="44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4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anche</a:t>
            </a:r>
            <a:r>
              <a:rPr lang="en-US" sz="44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4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fuori</a:t>
            </a:r>
            <a:r>
              <a:rPr lang="en-US" sz="44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dal </a:t>
            </a:r>
            <a:r>
              <a:rPr lang="en-US" sz="44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gioco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hybrid users are forced to choose between audio gear that works for gaming and audio gear that works for everything else.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2743200" cy="23317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27706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150ms</a:t>
            </a:r>
            <a:endParaRPr lang="en-US" sz="4400"/>
          </a:p>
        </p:txBody>
      </p:sp>
      <p:sp>
        <p:nvSpPr>
          <p:cNvPr id="8" name="Text 6"/>
          <p:cNvSpPr/>
          <p:nvPr/>
        </p:nvSpPr>
        <p:spPr>
          <a:xfrm>
            <a:off x="640080" y="3593592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Latenza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Bluetooth</a:t>
            </a:r>
            <a:endParaRPr lang="en-US" sz="1100"/>
          </a:p>
          <a:p>
            <a:pPr marL="0" indent="0">
              <a:lnSpc>
                <a:spcPts val="1700"/>
              </a:lnSpc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—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Inutilizzabile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gaming e in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applicazioni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429000" y="2697480"/>
            <a:ext cx="2743200" cy="23317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566160" y="27706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4400"/>
          </a:p>
        </p:txBody>
      </p:sp>
      <p:sp>
        <p:nvSpPr>
          <p:cNvPr id="11" name="Text 9"/>
          <p:cNvSpPr/>
          <p:nvPr/>
        </p:nvSpPr>
        <p:spPr>
          <a:xfrm>
            <a:off x="3566160" y="3593592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Acquisti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</a:t>
            </a:r>
            <a:r>
              <a:rPr lang="en-US" sz="1100"/>
              <a:t> d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hybrid gamers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6355080" y="2697480"/>
            <a:ext cx="2743200" cy="23317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92240" y="27706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4400"/>
          </a:p>
        </p:txBody>
      </p:sp>
      <p:sp>
        <p:nvSpPr>
          <p:cNvPr id="14" name="Text 12"/>
          <p:cNvSpPr/>
          <p:nvPr/>
        </p:nvSpPr>
        <p:spPr>
          <a:xfrm>
            <a:off x="6492240" y="3593592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gamers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utilizza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degli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auricolari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oltre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alle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cuffie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gioco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quotidianità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11480"/>
            <a:ext cx="4572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658368" y="4023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/>
          </a:p>
        </p:txBody>
      </p:sp>
      <p:sp>
        <p:nvSpPr>
          <p:cNvPr id="5" name="Shape 2"/>
          <p:cNvSpPr/>
          <p:nvPr/>
        </p:nvSpPr>
        <p:spPr>
          <a:xfrm>
            <a:off x="502920" y="411480"/>
            <a:ext cx="45720" cy="256032"/>
          </a:xfrm>
          <a:prstGeom prst="rect">
            <a:avLst/>
          </a:prstGeom>
          <a:solidFill>
            <a:srgbClr val="BBBBB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658368" y="4023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502919" y="539496"/>
            <a:ext cx="5185279" cy="2252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device.</a:t>
            </a:r>
            <a:endParaRPr lang="en-US" sz="3800"/>
          </a:p>
          <a:p>
            <a:pPr marL="0" indent="0">
              <a:lnSpc>
                <a:spcPts val="46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 </a:t>
            </a:r>
            <a:r>
              <a:rPr lang="en-US" sz="3800" b="1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modalità</a:t>
            </a:r>
            <a:r>
              <a:rPr lang="en-US" sz="3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800"/>
          </a:p>
          <a:p>
            <a:pPr marL="0" indent="0">
              <a:lnSpc>
                <a:spcPts val="46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</a:t>
            </a:r>
            <a:r>
              <a:rPr lang="en-US" sz="3800" b="1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compromessi</a:t>
            </a:r>
            <a:r>
              <a:rPr lang="en-US" sz="3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800"/>
          </a:p>
        </p:txBody>
      </p:sp>
      <p:sp>
        <p:nvSpPr>
          <p:cNvPr id="8" name="Text 5"/>
          <p:cNvSpPr/>
          <p:nvPr/>
        </p:nvSpPr>
        <p:spPr>
          <a:xfrm>
            <a:off x="502920" y="2839212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t">
              <a:lnSpc>
                <a:spcPts val="1500"/>
              </a:lnSpc>
              <a:buNone/>
            </a:pPr>
            <a:r>
              <a:rPr lang="it-IT" sz="1300" err="1">
                <a:solidFill>
                  <a:schemeClr val="accent3"/>
                </a:solidFill>
              </a:rPr>
              <a:t>SwitchBuds</a:t>
            </a:r>
            <a:r>
              <a:rPr lang="it-IT" sz="1300">
                <a:solidFill>
                  <a:schemeClr val="accent3"/>
                </a:solidFill>
              </a:rPr>
              <a:t> è il primo auricolare TWS al mondo dotato di uno switch fisico </a:t>
            </a:r>
            <a:r>
              <a:rPr lang="it-IT" sz="1300" dirty="0">
                <a:solidFill>
                  <a:schemeClr val="accent3"/>
                </a:solidFill>
              </a:rPr>
              <a:t>(</a:t>
            </a:r>
            <a:r>
              <a:rPr lang="it-IT" sz="1300" dirty="0" err="1">
                <a:solidFill>
                  <a:schemeClr val="accent3"/>
                </a:solidFill>
              </a:rPr>
              <a:t>kill</a:t>
            </a:r>
            <a:r>
              <a:rPr lang="it-IT" sz="1300" dirty="0">
                <a:solidFill>
                  <a:schemeClr val="accent3"/>
                </a:solidFill>
              </a:rPr>
              <a:t>-switch) </a:t>
            </a:r>
            <a:r>
              <a:rPr lang="it-IT" sz="1300">
                <a:solidFill>
                  <a:schemeClr val="accent3"/>
                </a:solidFill>
              </a:rPr>
              <a:t>hardware</a:t>
            </a:r>
            <a:br>
              <a:rPr lang="it-IT" sz="1300">
                <a:solidFill>
                  <a:schemeClr val="accent3"/>
                </a:solidFill>
              </a:rPr>
            </a:br>
            <a:r>
              <a:rPr lang="it-IT" sz="1300">
                <a:solidFill>
                  <a:schemeClr val="accent3"/>
                </a:solidFill>
              </a:rPr>
              <a:t>che consente di passare istantaneamente tra Bluetooth </a:t>
            </a:r>
            <a:r>
              <a:rPr lang="it-IT" sz="1300" dirty="0">
                <a:solidFill>
                  <a:schemeClr val="accent3"/>
                </a:solidFill>
              </a:rPr>
              <a:t>5.4</a:t>
            </a:r>
            <a:r>
              <a:rPr lang="it-IT" sz="1300">
                <a:solidFill>
                  <a:schemeClr val="accent3"/>
                </a:solidFill>
              </a:rPr>
              <a:t> e wireless 2.4 GHz a bassa latenza,</a:t>
            </a:r>
            <a:br>
              <a:rPr lang="it-IT" sz="1300">
                <a:solidFill>
                  <a:schemeClr val="accent3"/>
                </a:solidFill>
              </a:rPr>
            </a:br>
            <a:r>
              <a:rPr lang="it-IT" sz="1300">
                <a:solidFill>
                  <a:schemeClr val="accent3"/>
                </a:solidFill>
              </a:rPr>
              <a:t>eliminando in modo definitivo interferenze e lag.</a:t>
            </a:r>
          </a:p>
        </p:txBody>
      </p:sp>
      <p:sp>
        <p:nvSpPr>
          <p:cNvPr id="9" name="Shape 6"/>
          <p:cNvSpPr/>
          <p:nvPr/>
        </p:nvSpPr>
        <p:spPr>
          <a:xfrm>
            <a:off x="502920" y="4005072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02920" y="40050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MODE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1828800" y="404164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5.4 Multipoint — Smartphone, Laptop, Daily life</a:t>
            </a:r>
            <a:endParaRPr lang="en-US" sz="1100"/>
          </a:p>
        </p:txBody>
      </p:sp>
      <p:sp>
        <p:nvSpPr>
          <p:cNvPr id="12" name="Shape 9"/>
          <p:cNvSpPr/>
          <p:nvPr/>
        </p:nvSpPr>
        <p:spPr>
          <a:xfrm>
            <a:off x="502920" y="4416552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02920" y="44165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2.4G MODE</a:t>
            </a:r>
            <a:endParaRPr lang="en-US" sz="900"/>
          </a:p>
        </p:txBody>
      </p:sp>
      <p:sp>
        <p:nvSpPr>
          <p:cNvPr id="14" name="Text 11"/>
          <p:cNvSpPr/>
          <p:nvPr/>
        </p:nvSpPr>
        <p:spPr>
          <a:xfrm>
            <a:off x="1828800" y="44531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&lt;20ms — Gaming, Studio, </a:t>
            </a:r>
            <a:r>
              <a:rPr lang="en-US" sz="110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</a:t>
            </a:r>
            <a:r>
              <a:rPr lang="en-US" sz="11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zero BT interference.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58368" y="3749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981403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Tutto </a:t>
            </a:r>
            <a:r>
              <a:rPr lang="en-US" sz="32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quello</a:t>
            </a:r>
            <a:r>
              <a:rPr lang="en-US" sz="3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</a:t>
            </a:r>
            <a:r>
              <a:rPr lang="en-US" sz="3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</a:t>
            </a:r>
            <a:r>
              <a:rPr lang="en-US" sz="3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aspetti</a:t>
            </a:r>
            <a:r>
              <a:rPr lang="en-US" sz="3200"/>
              <a:t>,</a:t>
            </a:r>
          </a:p>
          <a:p>
            <a:pPr marL="0" indent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</a:t>
            </a:r>
            <a:r>
              <a:rPr lang="en-US" sz="3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più</a:t>
            </a:r>
            <a:r>
              <a:rPr lang="en-US" sz="3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</a:t>
            </a:r>
            <a:r>
              <a:rPr lang="en-US" sz="3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feature </a:t>
            </a:r>
            <a:r>
              <a:rPr lang="en-US" sz="32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</a:t>
            </a:r>
            <a:r>
              <a:rPr lang="en-US" sz="3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non </a:t>
            </a:r>
            <a:r>
              <a:rPr lang="en-US" sz="32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</a:t>
            </a:r>
            <a:r>
              <a:rPr lang="en-US" sz="3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</a:t>
            </a:r>
            <a:r>
              <a:rPr lang="en-US" sz="32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visto.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4023360" cy="9601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⚡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1161288" y="17693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Kill Switch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161288" y="20756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fisico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senza workaround software per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passare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Bluetooth multipoint a 2.4ghz low latency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846320" y="1737360"/>
            <a:ext cx="4023360" cy="9601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📡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5504688" y="18013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Wireless Protocols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5504688" y="20756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5.4 Multipoint (2 device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simultaneamente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5 in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connessione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+ 2.4GHz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proprietario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&lt;20ms latency.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4023360" cy="9601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🎧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1161288" y="28575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Ergonomico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161288" y="31683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Buds con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stelo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ridotto,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touch e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gommini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intercambiabili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BPA free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IPX7, </a:t>
            </a:r>
            <a:r>
              <a:rPr lang="en-US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impermeabili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schizzi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d’acqua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846320" y="2834640"/>
            <a:ext cx="4023360" cy="9601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02920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🎮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5504688" y="2898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Dongle</a:t>
            </a: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universale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5504688" y="31501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Dongle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compatto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USB-C per Windows, Mac, PS5, Nintendo Switch, Android — Nessun Driver, plug and play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con slot </a:t>
            </a:r>
            <a:r>
              <a:rPr lang="en-US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dedicato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502920" y="3931920"/>
            <a:ext cx="4023360" cy="9601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8580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🔋</a:t>
            </a:r>
            <a:endParaRPr lang="en-US" sz="2200"/>
          </a:p>
        </p:txBody>
      </p:sp>
      <p:sp>
        <p:nvSpPr>
          <p:cNvPr id="23" name="Text 21"/>
          <p:cNvSpPr/>
          <p:nvPr/>
        </p:nvSpPr>
        <p:spPr>
          <a:xfrm>
            <a:off x="1161288" y="39547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Batteria</a:t>
            </a: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All-Day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1161288" y="4251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(BT) / 6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(2.4G) per carica. Il case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ore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totali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Ricarica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USB-C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25w (full charge circa 25 </a:t>
            </a:r>
            <a:r>
              <a:rPr lang="en-US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minuti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Si/Ca technology.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4846320" y="3931920"/>
            <a:ext cx="4023360" cy="9601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02920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🔇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5554980" y="39547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LED Indicator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5554980" y="4251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led per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indicare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Niente app, niente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confusione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Connessione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</a:t>
            </a: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ultimo device.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magine 2" descr="Immagine che contiene automobile&#10;&#10;Il contenuto generato dall'IA potrebbe non essere corretto.">
            <a:extLst>
              <a:ext uri="{FF2B5EF4-FFF2-40B4-BE49-F238E27FC236}">
                <a16:creationId xmlns:a16="http://schemas.microsoft.com/office/drawing/2014/main" id="{0C4BD263-3D83-12F2-EF87-41F614133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 t="3427" b="1953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820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1"/>
          <p:cNvSpPr/>
          <p:nvPr/>
        </p:nvSpPr>
        <p:spPr>
          <a:xfrm>
            <a:off x="1981200" y="6582187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000" kern="0" spc="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Nero opaco </a:t>
            </a:r>
            <a:r>
              <a:rPr lang="it-IT" sz="1000" kern="0" spc="1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opaco</a:t>
            </a:r>
            <a:r>
              <a:rPr lang="it-IT" sz="1000" kern="0" spc="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Stelo open‑</a:t>
            </a:r>
            <a:r>
              <a:rPr lang="it-IT" sz="1000" kern="0" spc="1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</a:t>
            </a:r>
            <a:r>
              <a:rPr lang="it-IT" sz="1000" kern="0" spc="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Custodia compatta “</a:t>
            </a:r>
            <a:r>
              <a:rPr lang="it-IT" sz="1000" kern="0" spc="1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</a:t>
            </a:r>
            <a:r>
              <a:rPr lang="it-IT" sz="1000" kern="0" spc="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· Slot per dongle e porta USB‑C integrata</a:t>
            </a:r>
            <a:endParaRPr lang="en-US" sz="100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6F786E7-CD4D-B501-DB31-DBABE13D6C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15" r="976"/>
          <a:stretch>
            <a:fillRect/>
          </a:stretch>
        </p:blipFill>
        <p:spPr>
          <a:xfrm>
            <a:off x="747282" y="75674"/>
            <a:ext cx="5300369" cy="3772603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1" name="Immagine 10" descr="Immagine che contiene pouf, design&#10;&#10;Il contenuto generato dall'IA potrebbe non essere corretto.">
            <a:extLst>
              <a:ext uri="{FF2B5EF4-FFF2-40B4-BE49-F238E27FC236}">
                <a16:creationId xmlns:a16="http://schemas.microsoft.com/office/drawing/2014/main" id="{F5384058-6311-2970-2FE5-9E4B1286D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013" y="3927317"/>
            <a:ext cx="3527796" cy="2574338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3" name="Immagine 12" descr="Immagine che contiene Mouse del computer, topo&#10;&#10;Il contenuto generato dall'IA potrebbe non essere corretto.">
            <a:extLst>
              <a:ext uri="{FF2B5EF4-FFF2-40B4-BE49-F238E27FC236}">
                <a16:creationId xmlns:a16="http://schemas.microsoft.com/office/drawing/2014/main" id="{DD232FD9-611C-C545-0A62-A82151C99B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0" t="3417"/>
          <a:stretch>
            <a:fillRect/>
          </a:stretch>
        </p:blipFill>
        <p:spPr>
          <a:xfrm>
            <a:off x="6144170" y="75674"/>
            <a:ext cx="5300370" cy="3769618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5" name="Immagine 14" descr="Immagine che contiene Dispositivo elettronico, gadget, design&#10;&#10;Il contenuto generato dall'IA potrebbe non essere corretto.">
            <a:extLst>
              <a:ext uri="{FF2B5EF4-FFF2-40B4-BE49-F238E27FC236}">
                <a16:creationId xmlns:a16="http://schemas.microsoft.com/office/drawing/2014/main" id="{14826C8C-AFE6-316E-B95E-060D32A1A4E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916744" y="3927317"/>
            <a:ext cx="3527796" cy="2574338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7" name="Immagine 16" descr="Immagine che contiene gadget, Mouse del computer, Dispositivo elettronico, periferico&#10;&#10;Il contenuto generato dall'IA potrebbe non essere corretto.">
            <a:extLst>
              <a:ext uri="{FF2B5EF4-FFF2-40B4-BE49-F238E27FC236}">
                <a16:creationId xmlns:a16="http://schemas.microsoft.com/office/drawing/2014/main" id="{655C5FAF-4878-45F3-8C5E-9F9D1E440D7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67" r="1588" b="1"/>
          <a:stretch>
            <a:fillRect/>
          </a:stretch>
        </p:blipFill>
        <p:spPr>
          <a:xfrm>
            <a:off x="747282" y="3927317"/>
            <a:ext cx="3527795" cy="2574338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58368" y="3749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27715" y="1027301"/>
            <a:ext cx="8229600" cy="662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Progettato</a:t>
            </a:r>
            <a:r>
              <a:rPr lang="en-US" sz="36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 chi </a:t>
            </a:r>
            <a:r>
              <a:rPr lang="en-US" sz="36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conosce</a:t>
            </a:r>
            <a:r>
              <a:rPr lang="en-US" sz="36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davvero</a:t>
            </a:r>
            <a:r>
              <a:rPr lang="en-US" sz="36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questo</a:t>
            </a:r>
            <a:r>
              <a:rPr lang="en-US" sz="36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398230" y="3258994"/>
            <a:ext cx="9996445" cy="1307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it-IT" sz="1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Siamo un team che vive il tech.</a:t>
            </a:r>
            <a:r>
              <a:rPr lang="it-IT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sz="1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computer sono il nostro lavoro, la musica la nostra passione, il gaming parte della nostra quotidianità.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427715" y="4184779"/>
            <a:ext cx="265176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27715" y="42389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Product Lead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27715" y="4583745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700"/>
              </a:lnSpc>
            </a:pPr>
            <a:r>
              <a:rPr lang="en-US" sz="1200">
                <a:ea typeface="Calibri" pitchFamily="34" charset="-122"/>
                <a:cs typeface="Calibri" pitchFamily="34" charset="-120"/>
              </a:rPr>
              <a:t>Luciano </a:t>
            </a:r>
            <a:r>
              <a:rPr lang="en-US" sz="1200" err="1">
                <a:ea typeface="Calibri" pitchFamily="34" charset="-122"/>
                <a:cs typeface="Calibri" pitchFamily="34" charset="-120"/>
              </a:rPr>
              <a:t>Stanziani</a:t>
            </a:r>
            <a:r>
              <a:rPr lang="en-US" sz="1200">
                <a:ea typeface="Calibri" pitchFamily="34" charset="-122"/>
                <a:cs typeface="Calibri" pitchFamily="34" charset="-120"/>
              </a:rPr>
              <a:t> - </a:t>
            </a:r>
            <a:r>
              <a:rPr lang="it-IT" sz="1200"/>
              <a:t>Product-</a:t>
            </a:r>
            <a:r>
              <a:rPr lang="it-IT" sz="1200" err="1"/>
              <a:t>oriented</a:t>
            </a:r>
            <a:r>
              <a:rPr lang="it-IT" sz="1200"/>
              <a:t> tech </a:t>
            </a:r>
            <a:r>
              <a:rPr lang="it-IT" sz="1200" err="1"/>
              <a:t>enthusiast</a:t>
            </a:r>
            <a:r>
              <a:rPr lang="it-IT" sz="1200"/>
              <a:t> con background nell’utilizzo professionale di computer, audio digitale e gaming. Diplomato in TLC</a:t>
            </a:r>
            <a:r>
              <a:rPr lang="it-IT" sz="1050"/>
              <a:t>.</a:t>
            </a:r>
            <a:r>
              <a:rPr lang="en-US" sz="1050">
                <a:ea typeface="Calibri" pitchFamily="34" charset="-122"/>
                <a:cs typeface="Calibri" pitchFamily="34" charset="-120"/>
              </a:rPr>
              <a:t> 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3308075" y="4184779"/>
            <a:ext cx="265176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308075" y="42389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/ Engineering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3316359" y="465503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700"/>
              </a:lnSpc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Sassi - RF &amp; wireless specialist. </a:t>
            </a:r>
            <a:r>
              <a:rPr lang="en-US" sz="12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Esperto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protocolli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2.4GHz. Gamer </a:t>
            </a:r>
            <a:r>
              <a:rPr lang="en-US" sz="12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abituale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tech enthusiast. </a:t>
            </a:r>
            <a:r>
              <a:rPr lang="en-US" sz="12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Diplomato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TLC</a:t>
            </a:r>
            <a:endParaRPr lang="en-US" sz="1200"/>
          </a:p>
          <a:p>
            <a:pPr marL="0" indent="0">
              <a:lnSpc>
                <a:spcPts val="1700"/>
              </a:lnSpc>
              <a:buNone/>
            </a:pP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6188435" y="4184779"/>
            <a:ext cx="265176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210301" y="42389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/ Design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6188435" y="4468755"/>
            <a:ext cx="269549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Salvatore </a:t>
            </a:r>
            <a:r>
              <a:rPr lang="en-US" sz="12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Scaringella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Designer industrial e appassionato di musica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27715" y="5739259"/>
            <a:ext cx="8229600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56315" y="5830699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Perchè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Siamo un team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giovane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appassionato al tech con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mercati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attuali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esperienze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settori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completa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Buchi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attuale</a:t>
            </a:r>
            <a:r>
              <a:rPr lang="en-US" sz="12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8DF5D441-72D5-D8E7-04EE-B42AF305E2C2}"/>
              </a:ext>
            </a:extLst>
          </p:cNvPr>
          <p:cNvSpPr/>
          <p:nvPr/>
        </p:nvSpPr>
        <p:spPr>
          <a:xfrm>
            <a:off x="9068795" y="4184779"/>
            <a:ext cx="265176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72080DA-FA53-3C65-A6E6-CBC75810F297}"/>
              </a:ext>
            </a:extLst>
          </p:cNvPr>
          <p:cNvSpPr/>
          <p:nvPr/>
        </p:nvSpPr>
        <p:spPr>
          <a:xfrm>
            <a:off x="8558312" y="4238980"/>
            <a:ext cx="26954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/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3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Umane</a:t>
            </a:r>
            <a:endParaRPr lang="en-US" sz="130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A4C41527-47FD-C06F-FA45-04C585D62664}"/>
              </a:ext>
            </a:extLst>
          </p:cNvPr>
          <p:cNvSpPr/>
          <p:nvPr/>
        </p:nvSpPr>
        <p:spPr>
          <a:xfrm>
            <a:off x="9004787" y="4604740"/>
            <a:ext cx="265176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700"/>
              </a:lnSpc>
            </a:pPr>
            <a:r>
              <a:rPr lang="it-IT" sz="1200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Professionista HR, lavora in mobilità e da </a:t>
            </a:r>
            <a:r>
              <a:rPr lang="it-IT" sz="1200" dirty="0" err="1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remoto.Utilizza</a:t>
            </a:r>
            <a:r>
              <a:rPr lang="it-IT" sz="1200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 auricolari ogni giorno per call, musica e </a:t>
            </a:r>
            <a:r>
              <a:rPr lang="it-IT" sz="1200" dirty="0" err="1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gaming.Conosce</a:t>
            </a:r>
            <a:r>
              <a:rPr lang="it-IT" sz="1200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 in prima persona i limiti delle soluzioni audio attuali.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58368" y="3749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AUDIENCE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 audience. Un </a:t>
            </a:r>
            <a:r>
              <a:rPr lang="en-US" sz="36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prodotto</a:t>
            </a:r>
            <a:r>
              <a:rPr lang="en-US" sz="36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023360" cy="3383280"/>
          </a:xfrm>
          <a:prstGeom prst="rect">
            <a:avLst/>
          </a:prstGeom>
          <a:solidFill>
            <a:srgbClr val="11111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gamers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18–34 · </a:t>
            </a:r>
            <a:r>
              <a:rPr lang="en-US" sz="1000" i="1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</a:t>
            </a:r>
            <a:r>
              <a:rPr lang="en-US" sz="1000" i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000" i="1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Professionisti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it-IT" sz="11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 in modo competitivo la sera. Di giorno si sposta per lavoro o lavora da remoto. Utilizza gli auricolari per Spotify, call su Teams e partite classificate. Oggi possiede due paia di auricolari per coprire esigenze diverse.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</a:t>
            </a:r>
            <a:r>
              <a:rPr lang="en-US" sz="1000" i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via: Reddit (r/gaming, r/battlestations), Discord, Twitch, YouTube tech reviews, TikTok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Stimati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380M di competitive gamers </a:t>
            </a:r>
            <a:r>
              <a:rPr lang="en-US" sz="1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Il 65% </a:t>
            </a:r>
            <a:r>
              <a:rPr lang="en-US" sz="1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tws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ogni </a:t>
            </a:r>
            <a:r>
              <a:rPr lang="en-US" sz="10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giorno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846320" y="1417320"/>
            <a:ext cx="4023360" cy="3383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074920" y="15727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5074920" y="1828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Professionisti</a:t>
            </a:r>
            <a:r>
              <a:rPr lang="en-US" sz="20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5074920" y="2286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22–45 · </a:t>
            </a:r>
            <a:r>
              <a:rPr lang="en-US" sz="10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Produttori</a:t>
            </a:r>
            <a:r>
              <a:rPr lang="en-US" sz="10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Sound Designer e Podcaster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5074920" y="2606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it-IT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Sub‑20 </a:t>
            </a:r>
            <a:r>
              <a:rPr lang="it-IT" sz="110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it-IT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wireless. Libertà totale dalla scrivania. Qualità e affidabilità non </a:t>
            </a:r>
            <a:r>
              <a:rPr lang="it-IT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negoziabili</a:t>
            </a:r>
            <a:r>
              <a:rPr lang="it-IT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Disponibili a pagare premium per il tool corretto.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5074920" y="3566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</a:t>
            </a:r>
            <a:r>
              <a:rPr lang="en-US" sz="10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via: Gearslutz/Gearspace, YouTube creator communities, LinkedIn, specialist press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5074920" y="4160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Stimati</a:t>
            </a: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40M di </a:t>
            </a:r>
            <a:r>
              <a:rPr lang="en-US" sz="1000" b="1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professionisti</a:t>
            </a: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content creators.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45720" cy="256032"/>
          </a:xfrm>
          <a:prstGeom prst="rect">
            <a:avLst/>
          </a:prstGeom>
          <a:solidFill>
            <a:srgbClr val="BBBBB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58368" y="4023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PRESS STRATEGY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02920" y="467743"/>
            <a:ext cx="10974199" cy="1783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Come </a:t>
            </a:r>
            <a:r>
              <a:rPr lang="en-US" sz="44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ci </a:t>
            </a:r>
            <a:r>
              <a:rPr lang="en-US" sz="4400" b="1" dirty="0" err="1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faremo</a:t>
            </a:r>
            <a:endParaRPr lang="en-US" sz="4400">
              <a:latin typeface="Georgia" panose="02040502050405020303" pitchFamily="18" charset="0"/>
            </a:endParaRPr>
          </a:p>
          <a:p>
            <a:pPr marL="0" indent="0">
              <a:lnSpc>
                <a:spcPts val="5200"/>
              </a:lnSpc>
              <a:buNone/>
            </a:pPr>
            <a:r>
              <a:rPr lang="en-US" sz="4400" b="1" dirty="0" err="1">
                <a:solidFill>
                  <a:srgbClr val="FFFFFF"/>
                </a:solidFill>
                <a:latin typeface="Georgia" panose="02040502050405020303" pitchFamily="18" charset="0"/>
              </a:rPr>
              <a:t>Conoscere</a:t>
            </a:r>
            <a:endParaRPr lang="en-US" sz="440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295143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1051560" y="2295143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Video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1051560" y="2587751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 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reels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 →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solutione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cinematici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voiceover.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4892040" y="2295143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394960" y="2295143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394960" y="2587751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YouTube / TikTok tech creators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riceveranno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unità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lancio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Target: Linus Tech Tips, Dave2D, MKBHD tier 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48640" y="3255263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051560" y="3255263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Community-First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1051560" y="3547871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on r/audiophile, r/gaming. 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sui social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settimanali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sui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nuovi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sviluppi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4892040" y="3255263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394960" y="3255263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5394960" y="3547871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Verge, Engadget, Tom's Guide,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riceveranno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unità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settimane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prima del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lancio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48640" y="4215383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1051560" y="4215383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Waitlist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1051560" y="4507991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lancio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possibilità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registrare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mail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Target: 5,000.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4892040" y="4215383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394960" y="4215383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Amplification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5394960" y="4507991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€10K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Riservati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pubblicità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Meta/Reddit 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lancio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audience di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professionisti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settore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audio e gamer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58368" y="3749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CROWDFUNDING STRUCTURE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Reward-Based Crowdfunding.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it-IT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Abbiamo scelto Kickstarter per costruire </a:t>
            </a:r>
            <a:r>
              <a:rPr lang="it-IT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SwitchBuds</a:t>
            </a:r>
            <a:r>
              <a:rPr lang="it-IT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insieme alla </a:t>
            </a:r>
            <a:r>
              <a:rPr lang="it-IT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community.I</a:t>
            </a:r>
            <a:r>
              <a:rPr lang="it-IT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backer</a:t>
            </a:r>
            <a:r>
              <a:rPr lang="it-IT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vengono ricompensati con il prodotto e benefit </a:t>
            </a:r>
            <a:r>
              <a:rPr lang="it-IT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esclusivi,senza</a:t>
            </a:r>
            <a:r>
              <a:rPr lang="it-IT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diluire l’equity e senza generare debito.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Perchè</a:t>
            </a: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reward-based</a:t>
            </a:r>
            <a:r>
              <a:rPr lang="en-US" sz="16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502920" y="2578608"/>
            <a:ext cx="109728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251460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it-IT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 allineati: i </a:t>
            </a:r>
            <a:r>
              <a:rPr lang="it-IT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backer</a:t>
            </a:r>
            <a:r>
              <a:rPr lang="it-IT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vogliono il prodotto, non un ritorno finanziario.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02920" y="2944368"/>
            <a:ext cx="109728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13232" y="2880360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it-IT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Pieno controllo al team: manteniamo la proprietà completa e possiamo consegnare più velocemente, senza passare da approvazioni del board.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498821" y="3538728"/>
            <a:ext cx="109728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09133" y="34747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it-IT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“</a:t>
            </a:r>
            <a:r>
              <a:rPr lang="it-IT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r>
              <a:rPr lang="it-IT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‑or‑</a:t>
            </a:r>
            <a:r>
              <a:rPr lang="it-IT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</a:t>
            </a:r>
            <a:r>
              <a:rPr lang="it-IT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di Kickstarter: raccogliamo fondi solo se possiamo realmente consegnare.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498821" y="3904488"/>
            <a:ext cx="109728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09133" y="38404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it-IT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Campagna pubblica e trasparente: rafforza la credibilità del brand e genera interesse mediatico.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98821" y="4270248"/>
            <a:ext cx="109728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09133" y="42062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it-IT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già validato per l’hardware: </a:t>
            </a:r>
            <a:r>
              <a:rPr lang="it-IT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</a:t>
            </a:r>
            <a:r>
              <a:rPr lang="it-IT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Oculus e migliaia di altri dispositivi consumer.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3931920" cy="265176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98348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Protezioni</a:t>
            </a: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legali</a:t>
            </a: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I backer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983480" y="2715768"/>
            <a:ext cx="91440" cy="914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166360" y="2651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Azienda registrata in UE/UK con assicurazione di responsabilità sul prodotto.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983480" y="3054096"/>
            <a:ext cx="91440" cy="914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166360" y="305409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funzionante già esistente: i </a:t>
            </a:r>
            <a:r>
              <a:rPr lang="it-IT" sz="11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backer</a:t>
            </a:r>
            <a:r>
              <a:rPr lang="it-IT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finanziano la produzione, non un’idea astratta.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983480" y="3392424"/>
            <a:ext cx="91440" cy="914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166360" y="339242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fondi sono trattenuti da Kickstarter fino alla fine della campagna e al raggiungimento dell’obiettivo.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4983480" y="3730752"/>
            <a:ext cx="91440" cy="914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166360" y="366674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Certificazioni CE e FCC: processo già avviato.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4983480" y="4069080"/>
            <a:ext cx="91440" cy="914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166360" y="40050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Contratti di produzione firmati con partner industriale sottoposto ad audit.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4983480" y="4407408"/>
            <a:ext cx="91440" cy="914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5166360" y="4325112"/>
            <a:ext cx="3429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dei dati conforme al GDPR.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4572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58368" y="3383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UNIT ECONOMICS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Trasparenza</a:t>
            </a: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</a:t>
            </a: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ogni</a:t>
            </a:r>
            <a:r>
              <a:rPr lang="en-US" sz="30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euro.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UNIT  (MOQ 5,000)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754880" cy="224028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TWS drivers + acoustic housing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4206240" y="148132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€9.00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594360" y="170535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chipset (dual-mode)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4206240" y="170535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€7.50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502920" y="1892808"/>
            <a:ext cx="4754880" cy="224028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94360" y="192938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2.4GHz proprietary RF module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4206240" y="19293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€5.00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594360" y="215341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Earbud batteries (×2)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4206240" y="2153412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€3.50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502920" y="2340864"/>
            <a:ext cx="4754880" cy="224028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94360" y="237744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Earbud housing + matte finish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4206240" y="2377440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€4.00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594360" y="260146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body (rounded, matte)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4206240" y="260146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€5.00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502920" y="2788920"/>
            <a:ext cx="4754880" cy="224028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94360" y="282549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battery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4206240" y="282549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€3.00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594360" y="304952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switch mechanism + LED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4206240" y="304952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€2.50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502920" y="3236976"/>
            <a:ext cx="4754880" cy="224028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94360" y="3273552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dongle</a:t>
            </a:r>
            <a:endParaRPr lang="en-US" sz="950"/>
          </a:p>
        </p:txBody>
      </p:sp>
      <p:sp>
        <p:nvSpPr>
          <p:cNvPr id="28" name="Text 26"/>
          <p:cNvSpPr/>
          <p:nvPr/>
        </p:nvSpPr>
        <p:spPr>
          <a:xfrm>
            <a:off x="4206240" y="3273552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€4.00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594360" y="349758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&amp; labour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4206240" y="3497580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€5.00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502920" y="3685032"/>
            <a:ext cx="4754880" cy="224028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94360" y="372160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&amp; testing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4206240" y="372160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€2.00</a:t>
            </a:r>
            <a:endParaRPr lang="en-US" sz="950"/>
          </a:p>
        </p:txBody>
      </p:sp>
      <p:sp>
        <p:nvSpPr>
          <p:cNvPr id="34" name="Text 32"/>
          <p:cNvSpPr/>
          <p:nvPr/>
        </p:nvSpPr>
        <p:spPr>
          <a:xfrm>
            <a:off x="594360" y="394563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packaging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4206240" y="394563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€3.50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502920" y="4133088"/>
            <a:ext cx="4754880" cy="224028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594360" y="416966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/ FCC / RoHS (amortised)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4206240" y="416966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€2.00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502920" y="4357116"/>
            <a:ext cx="475488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594360" y="440283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COGS / UNIT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4206240" y="4402836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€58.00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5532120" y="11704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GOAL  (5,000 UNITS)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5532120" y="1444752"/>
            <a:ext cx="3200400" cy="256032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5623560" y="1490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950"/>
          </a:p>
        </p:txBody>
      </p:sp>
      <p:sp>
        <p:nvSpPr>
          <p:cNvPr id="45" name="Text 43"/>
          <p:cNvSpPr/>
          <p:nvPr/>
        </p:nvSpPr>
        <p:spPr>
          <a:xfrm>
            <a:off x="7589520" y="14904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€290,000</a:t>
            </a:r>
            <a:endParaRPr lang="en-US" sz="950"/>
          </a:p>
        </p:txBody>
      </p:sp>
      <p:sp>
        <p:nvSpPr>
          <p:cNvPr id="46" name="Text 44"/>
          <p:cNvSpPr/>
          <p:nvPr/>
        </p:nvSpPr>
        <p:spPr>
          <a:xfrm>
            <a:off x="5623560" y="174650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moulds (one-time)</a:t>
            </a:r>
            <a:endParaRPr lang="en-US" sz="950"/>
          </a:p>
        </p:txBody>
      </p:sp>
      <p:sp>
        <p:nvSpPr>
          <p:cNvPr id="47" name="Text 45"/>
          <p:cNvSpPr/>
          <p:nvPr/>
        </p:nvSpPr>
        <p:spPr>
          <a:xfrm>
            <a:off x="7589520" y="17465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€35,000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5532120" y="1956816"/>
            <a:ext cx="3200400" cy="256032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5623560" y="200253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/ FCC certifications</a:t>
            </a:r>
            <a:endParaRPr lang="en-US" sz="950"/>
          </a:p>
        </p:txBody>
      </p:sp>
      <p:sp>
        <p:nvSpPr>
          <p:cNvPr id="50" name="Text 48"/>
          <p:cNvSpPr/>
          <p:nvPr/>
        </p:nvSpPr>
        <p:spPr>
          <a:xfrm>
            <a:off x="7589520" y="20025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€18,000</a:t>
            </a:r>
            <a:endParaRPr lang="en-US" sz="950"/>
          </a:p>
        </p:txBody>
      </p:sp>
      <p:sp>
        <p:nvSpPr>
          <p:cNvPr id="51" name="Text 49"/>
          <p:cNvSpPr/>
          <p:nvPr/>
        </p:nvSpPr>
        <p:spPr>
          <a:xfrm>
            <a:off x="5623560" y="225856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Kickstarter + payment fees</a:t>
            </a:r>
            <a:endParaRPr lang="en-US" sz="950"/>
          </a:p>
        </p:txBody>
      </p:sp>
      <p:sp>
        <p:nvSpPr>
          <p:cNvPr id="52" name="Text 50"/>
          <p:cNvSpPr/>
          <p:nvPr/>
        </p:nvSpPr>
        <p:spPr>
          <a:xfrm>
            <a:off x="7589520" y="22585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€39,000</a:t>
            </a:r>
            <a:endParaRPr lang="en-US" sz="950"/>
          </a:p>
        </p:txBody>
      </p:sp>
      <p:sp>
        <p:nvSpPr>
          <p:cNvPr id="53" name="Shape 51"/>
          <p:cNvSpPr/>
          <p:nvPr/>
        </p:nvSpPr>
        <p:spPr>
          <a:xfrm>
            <a:off x="5532120" y="2468880"/>
            <a:ext cx="3200400" cy="256032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5623560" y="25146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&amp; fulfilment</a:t>
            </a:r>
            <a:endParaRPr lang="en-US" sz="950"/>
          </a:p>
        </p:txBody>
      </p:sp>
      <p:sp>
        <p:nvSpPr>
          <p:cNvPr id="55" name="Text 53"/>
          <p:cNvSpPr/>
          <p:nvPr/>
        </p:nvSpPr>
        <p:spPr>
          <a:xfrm>
            <a:off x="7589520" y="25146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€70,000</a:t>
            </a:r>
            <a:endParaRPr lang="en-US" sz="950"/>
          </a:p>
        </p:txBody>
      </p:sp>
      <p:sp>
        <p:nvSpPr>
          <p:cNvPr id="56" name="Text 54"/>
          <p:cNvSpPr/>
          <p:nvPr/>
        </p:nvSpPr>
        <p:spPr>
          <a:xfrm>
            <a:off x="5623560" y="277063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creator seeding</a:t>
            </a:r>
            <a:endParaRPr lang="en-US" sz="950"/>
          </a:p>
        </p:txBody>
      </p:sp>
      <p:sp>
        <p:nvSpPr>
          <p:cNvPr id="57" name="Text 55"/>
          <p:cNvSpPr/>
          <p:nvPr/>
        </p:nvSpPr>
        <p:spPr>
          <a:xfrm>
            <a:off x="7589520" y="27706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€28,000</a:t>
            </a:r>
            <a:endParaRPr lang="en-US" sz="950"/>
          </a:p>
        </p:txBody>
      </p:sp>
      <p:sp>
        <p:nvSpPr>
          <p:cNvPr id="58" name="Shape 56"/>
          <p:cNvSpPr/>
          <p:nvPr/>
        </p:nvSpPr>
        <p:spPr>
          <a:xfrm>
            <a:off x="5532120" y="2980944"/>
            <a:ext cx="3200400" cy="256032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5623560" y="302666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buffer (10%)</a:t>
            </a:r>
            <a:endParaRPr lang="en-US" sz="950"/>
          </a:p>
        </p:txBody>
      </p:sp>
      <p:sp>
        <p:nvSpPr>
          <p:cNvPr id="60" name="Text 58"/>
          <p:cNvSpPr/>
          <p:nvPr/>
        </p:nvSpPr>
        <p:spPr>
          <a:xfrm>
            <a:off x="7589520" y="30266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€49,000</a:t>
            </a:r>
            <a:endParaRPr lang="en-US" sz="950"/>
          </a:p>
        </p:txBody>
      </p:sp>
      <p:sp>
        <p:nvSpPr>
          <p:cNvPr id="61" name="Shape 59"/>
          <p:cNvSpPr/>
          <p:nvPr/>
        </p:nvSpPr>
        <p:spPr>
          <a:xfrm>
            <a:off x="5532120" y="3236976"/>
            <a:ext cx="32004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5623560" y="32826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GOAL</a:t>
            </a:r>
            <a:endParaRPr lang="en-US" sz="1000"/>
          </a:p>
        </p:txBody>
      </p:sp>
      <p:sp>
        <p:nvSpPr>
          <p:cNvPr id="63" name="Text 61"/>
          <p:cNvSpPr/>
          <p:nvPr/>
        </p:nvSpPr>
        <p:spPr>
          <a:xfrm>
            <a:off x="7589520" y="328269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€529,000</a:t>
            </a:r>
            <a:endParaRPr lang="en-US" sz="1000"/>
          </a:p>
        </p:txBody>
      </p:sp>
      <p:sp>
        <p:nvSpPr>
          <p:cNvPr id="64" name="Shape 62"/>
          <p:cNvSpPr/>
          <p:nvPr/>
        </p:nvSpPr>
        <p:spPr>
          <a:xfrm>
            <a:off x="502920" y="4736592"/>
            <a:ext cx="1627632" cy="54864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576072" y="4764024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Mfg Cost</a:t>
            </a:r>
            <a:endParaRPr lang="en-US" sz="850"/>
          </a:p>
        </p:txBody>
      </p:sp>
      <p:sp>
        <p:nvSpPr>
          <p:cNvPr id="66" name="Text 64"/>
          <p:cNvSpPr/>
          <p:nvPr/>
        </p:nvSpPr>
        <p:spPr>
          <a:xfrm>
            <a:off x="576072" y="493776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€58</a:t>
            </a:r>
            <a:endParaRPr lang="en-US" sz="2000"/>
          </a:p>
        </p:txBody>
      </p:sp>
      <p:sp>
        <p:nvSpPr>
          <p:cNvPr id="67" name="Shape 65"/>
          <p:cNvSpPr/>
          <p:nvPr/>
        </p:nvSpPr>
        <p:spPr>
          <a:xfrm>
            <a:off x="2240280" y="4736592"/>
            <a:ext cx="1627632" cy="54864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2313432" y="4764024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Bird</a:t>
            </a:r>
            <a:endParaRPr lang="en-US" sz="850"/>
          </a:p>
        </p:txBody>
      </p:sp>
      <p:sp>
        <p:nvSpPr>
          <p:cNvPr id="69" name="Text 67"/>
          <p:cNvSpPr/>
          <p:nvPr/>
        </p:nvSpPr>
        <p:spPr>
          <a:xfrm>
            <a:off x="2313432" y="493776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€129</a:t>
            </a:r>
            <a:endParaRPr lang="en-US" sz="2000"/>
          </a:p>
        </p:txBody>
      </p:sp>
      <p:sp>
        <p:nvSpPr>
          <p:cNvPr id="70" name="Shape 68"/>
          <p:cNvSpPr/>
          <p:nvPr/>
        </p:nvSpPr>
        <p:spPr>
          <a:xfrm>
            <a:off x="3977640" y="4736592"/>
            <a:ext cx="1627632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69"/>
          <p:cNvSpPr/>
          <p:nvPr/>
        </p:nvSpPr>
        <p:spPr>
          <a:xfrm>
            <a:off x="4050792" y="4764024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50"/>
          </a:p>
        </p:txBody>
      </p:sp>
      <p:sp>
        <p:nvSpPr>
          <p:cNvPr id="72" name="Text 70"/>
          <p:cNvSpPr/>
          <p:nvPr/>
        </p:nvSpPr>
        <p:spPr>
          <a:xfrm>
            <a:off x="4050792" y="493776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€149</a:t>
            </a:r>
            <a:endParaRPr lang="en-US" sz="2000"/>
          </a:p>
        </p:txBody>
      </p:sp>
      <p:sp>
        <p:nvSpPr>
          <p:cNvPr id="73" name="Shape 71"/>
          <p:cNvSpPr/>
          <p:nvPr/>
        </p:nvSpPr>
        <p:spPr>
          <a:xfrm>
            <a:off x="5715000" y="4736592"/>
            <a:ext cx="1627632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72"/>
          <p:cNvSpPr/>
          <p:nvPr/>
        </p:nvSpPr>
        <p:spPr>
          <a:xfrm>
            <a:off x="5788152" y="4764024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MSRP</a:t>
            </a:r>
            <a:endParaRPr lang="en-US" sz="850"/>
          </a:p>
        </p:txBody>
      </p:sp>
      <p:sp>
        <p:nvSpPr>
          <p:cNvPr id="75" name="Text 73"/>
          <p:cNvSpPr/>
          <p:nvPr/>
        </p:nvSpPr>
        <p:spPr>
          <a:xfrm>
            <a:off x="5788152" y="493776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€199</a:t>
            </a:r>
            <a:endParaRPr lang="en-US" sz="2000"/>
          </a:p>
        </p:txBody>
      </p:sp>
      <p:sp>
        <p:nvSpPr>
          <p:cNvPr id="76" name="Shape 74"/>
          <p:cNvSpPr/>
          <p:nvPr/>
        </p:nvSpPr>
        <p:spPr>
          <a:xfrm>
            <a:off x="7452360" y="4736592"/>
            <a:ext cx="128016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Text 75"/>
          <p:cNvSpPr/>
          <p:nvPr/>
        </p:nvSpPr>
        <p:spPr>
          <a:xfrm>
            <a:off x="7525512" y="4764024"/>
            <a:ext cx="1161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(EB)</a:t>
            </a:r>
            <a:endParaRPr lang="en-US" sz="850"/>
          </a:p>
        </p:txBody>
      </p:sp>
      <p:sp>
        <p:nvSpPr>
          <p:cNvPr id="78" name="Text 76"/>
          <p:cNvSpPr/>
          <p:nvPr/>
        </p:nvSpPr>
        <p:spPr>
          <a:xfrm>
            <a:off x="7525512" y="4937760"/>
            <a:ext cx="11013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~55%</a:t>
            </a:r>
            <a:endParaRPr lang="en-US" sz="2000"/>
          </a:p>
        </p:txBody>
      </p:sp>
      <p:sp>
        <p:nvSpPr>
          <p:cNvPr id="79" name="Text 77"/>
          <p:cNvSpPr/>
          <p:nvPr/>
        </p:nvSpPr>
        <p:spPr>
          <a:xfrm>
            <a:off x="502920" y="533095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goals: €700K → ANC in BT mode  ·  €1M → Wireless charging case  ·  €1.5M → Slate White colorway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45720" cy="256032"/>
          </a:xfrm>
          <a:prstGeom prst="rect">
            <a:avLst/>
          </a:prstGeom>
          <a:solidFill>
            <a:srgbClr val="BBBBB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58368" y="4023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DELIVERY TIMELINE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percorso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realistico</a:t>
            </a:r>
            <a:endParaRPr lang="en-US" sz="4000" b="1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da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</a:rPr>
              <a:t>oggi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</a:rPr>
              <a:t>fino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 alla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</a:rPr>
              <a:t>tua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</a:rPr>
              <a:t> porta</a:t>
            </a:r>
            <a:endParaRPr lang="en-US" sz="400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8229600" cy="27432"/>
          </a:xfrm>
          <a:prstGeom prst="rect">
            <a:avLst/>
          </a:prstGeom>
          <a:solidFill>
            <a:srgbClr val="77777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05840" y="236829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263347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94360" y="3200400"/>
            <a:ext cx="1417320" cy="164592"/>
          </a:xfrm>
          <a:prstGeom prst="rect">
            <a:avLst/>
          </a:prstGeom>
          <a:solidFill>
            <a:srgbClr val="4CAF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COMPLETATO</a:t>
            </a:r>
            <a:endParaRPr lang="en-US" sz="750"/>
          </a:p>
        </p:txBody>
      </p:sp>
      <p:sp>
        <p:nvSpPr>
          <p:cNvPr id="11" name="Text 9"/>
          <p:cNvSpPr/>
          <p:nvPr/>
        </p:nvSpPr>
        <p:spPr>
          <a:xfrm>
            <a:off x="548640" y="3447288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funzionante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Meccanismo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switch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definitivo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produttivo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selezionato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contrattualizzato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2715768" y="236829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212848" y="263347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212848" y="29260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2304288" y="3200400"/>
            <a:ext cx="1417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304288" y="320040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LANCIO</a:t>
            </a:r>
            <a:endParaRPr lang="en-US" sz="750"/>
          </a:p>
        </p:txBody>
      </p:sp>
      <p:sp>
        <p:nvSpPr>
          <p:cNvPr id="17" name="Text 15"/>
          <p:cNvSpPr/>
          <p:nvPr/>
        </p:nvSpPr>
        <p:spPr>
          <a:xfrm>
            <a:off x="2258568" y="3447288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Lancio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kickstarter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Unità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early bird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riservate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creator 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425696" y="2368296"/>
            <a:ext cx="201168" cy="201168"/>
          </a:xfrm>
          <a:prstGeom prst="ellipse">
            <a:avLst/>
          </a:prstGeom>
          <a:solidFill>
            <a:srgbClr val="77777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3922776" y="2688336"/>
            <a:ext cx="1709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INDUSTRIALIZZAZIONE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3922776" y="29260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014216" y="3200400"/>
            <a:ext cx="1417320" cy="16459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014216" y="320040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PIANIFICATO</a:t>
            </a:r>
            <a:endParaRPr lang="en-US" sz="750"/>
          </a:p>
        </p:txBody>
      </p:sp>
      <p:sp>
        <p:nvSpPr>
          <p:cNvPr id="23" name="Text 21"/>
          <p:cNvSpPr/>
          <p:nvPr/>
        </p:nvSpPr>
        <p:spPr>
          <a:xfrm>
            <a:off x="3968496" y="3447288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Approvazione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finale degli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stampi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colori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finiture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prima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produzione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>
              <a:solidFill>
                <a:srgbClr val="BBBBB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35624" y="2368296"/>
            <a:ext cx="201168" cy="201168"/>
          </a:xfrm>
          <a:prstGeom prst="ellipse">
            <a:avLst/>
          </a:prstGeom>
          <a:solidFill>
            <a:srgbClr val="77777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632704" y="263347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632704" y="29260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724144" y="3200400"/>
            <a:ext cx="1417320" cy="16459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724144" y="320040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PIANIFICATO</a:t>
            </a:r>
            <a:endParaRPr lang="en-US" sz="750"/>
          </a:p>
        </p:txBody>
      </p:sp>
      <p:sp>
        <p:nvSpPr>
          <p:cNvPr id="29" name="Text 27"/>
          <p:cNvSpPr/>
          <p:nvPr/>
        </p:nvSpPr>
        <p:spPr>
          <a:xfrm>
            <a:off x="5678424" y="3447288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Certificazioni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/ FCC / RoHS. 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100 backer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Firmware v1.0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bloccato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7845552" y="2368296"/>
            <a:ext cx="201168" cy="201168"/>
          </a:xfrm>
          <a:prstGeom prst="ellipse">
            <a:avLst/>
          </a:prstGeom>
          <a:solidFill>
            <a:srgbClr val="77777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7342632" y="263347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7342632" y="29260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7434072" y="3200400"/>
            <a:ext cx="1417320" cy="16459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7434072" y="320040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PIANIFICATO</a:t>
            </a:r>
            <a:endParaRPr lang="en-US" sz="750"/>
          </a:p>
        </p:txBody>
      </p:sp>
      <p:sp>
        <p:nvSpPr>
          <p:cNvPr id="35" name="Text 33"/>
          <p:cNvSpPr/>
          <p:nvPr/>
        </p:nvSpPr>
        <p:spPr>
          <a:xfrm>
            <a:off x="7388352" y="3447288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logistica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Bird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ricevono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00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retail segue dopo 60gg</a:t>
            </a:r>
            <a:r>
              <a:rPr lang="en-US" sz="10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58368" y="3749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PERKS FOR OUR BACKERS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Sostieni</a:t>
            </a:r>
            <a:r>
              <a:rPr lang="en-US" sz="3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prima</a:t>
            </a:r>
            <a:r>
              <a:rPr lang="en-US" sz="36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r>
              <a:rPr lang="en-US" sz="3600" b="1" dirty="0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Ottieni</a:t>
            </a:r>
            <a:r>
              <a:rPr lang="en-US" sz="3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 </a:t>
            </a:r>
            <a:r>
              <a:rPr lang="en-US" sz="3600" b="1" dirty="0" err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più</a:t>
            </a:r>
            <a:r>
              <a:rPr lang="en-US" sz="36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011680" cy="3703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12648" y="1481328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612648" y="175564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€129</a:t>
            </a:r>
            <a:endParaRPr lang="en-US" sz="4400"/>
          </a:p>
        </p:txBody>
      </p:sp>
      <p:sp>
        <p:nvSpPr>
          <p:cNvPr id="8" name="Shape 6"/>
          <p:cNvSpPr/>
          <p:nvPr/>
        </p:nvSpPr>
        <p:spPr>
          <a:xfrm>
            <a:off x="612648" y="2423160"/>
            <a:ext cx="914400" cy="219456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12648" y="24231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OFF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612648" y="2743200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</a:t>
            </a:r>
            <a:r>
              <a:rPr lang="en-US" sz="95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200 </a:t>
            </a:r>
            <a:r>
              <a:rPr lang="en-US" sz="95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acquirenti</a:t>
            </a:r>
            <a:r>
              <a:rPr lang="en-US" sz="95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612648" y="3017520"/>
            <a:ext cx="1792224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612648" y="3200400"/>
            <a:ext cx="91440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68096" y="3127248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SwitchBuds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612648" y="3502152"/>
            <a:ext cx="91440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68096" y="3429000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USB-C Dongle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612648" y="3803904"/>
            <a:ext cx="91440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68096" y="3730752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Spedizione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prioritaria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2679192" y="1371600"/>
            <a:ext cx="2011680" cy="3703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788920" y="1481328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SUPPORTER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2788920" y="175564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€149</a:t>
            </a:r>
            <a:endParaRPr lang="en-US" sz="4400"/>
          </a:p>
        </p:txBody>
      </p:sp>
      <p:sp>
        <p:nvSpPr>
          <p:cNvPr id="23" name="Shape 21"/>
          <p:cNvSpPr/>
          <p:nvPr/>
        </p:nvSpPr>
        <p:spPr>
          <a:xfrm>
            <a:off x="2788920" y="2423160"/>
            <a:ext cx="914400" cy="219456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2788920" y="24231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OFF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2788920" y="2743200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Successivi</a:t>
            </a:r>
            <a:r>
              <a:rPr lang="en-US" sz="95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500 </a:t>
            </a:r>
            <a:r>
              <a:rPr lang="en-US" sz="950" i="1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acquirenti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2788920" y="3017520"/>
            <a:ext cx="1792224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2788920" y="3200400"/>
            <a:ext cx="91440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2944368" y="3127248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SwitchBuds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2788920" y="3502152"/>
            <a:ext cx="91440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2944368" y="3429000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USB-C Dongle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2788920" y="3803904"/>
            <a:ext cx="91440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2944368" y="3730752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 premium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2788920" y="4105656"/>
            <a:ext cx="91440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2944368" y="4032504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crediti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4855464" y="1371600"/>
            <a:ext cx="2011680" cy="3703320"/>
          </a:xfrm>
          <a:prstGeom prst="rect">
            <a:avLst/>
          </a:prstGeom>
          <a:solidFill>
            <a:srgbClr val="11111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965192" y="1481328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50"/>
          </a:p>
        </p:txBody>
      </p:sp>
      <p:sp>
        <p:nvSpPr>
          <p:cNvPr id="37" name="Text 35"/>
          <p:cNvSpPr/>
          <p:nvPr/>
        </p:nvSpPr>
        <p:spPr>
          <a:xfrm>
            <a:off x="4965192" y="175564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€199</a:t>
            </a:r>
            <a:endParaRPr lang="en-US" sz="4400"/>
          </a:p>
        </p:txBody>
      </p:sp>
      <p:sp>
        <p:nvSpPr>
          <p:cNvPr id="38" name="Shape 36"/>
          <p:cNvSpPr/>
          <p:nvPr/>
        </p:nvSpPr>
        <p:spPr>
          <a:xfrm>
            <a:off x="4965192" y="2423160"/>
            <a:ext cx="91440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4965192" y="24231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RET. PRICE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4965192" y="2743200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err="1">
                <a:solidFill>
                  <a:schemeClr val="bg1"/>
                </a:solidFill>
              </a:rPr>
              <a:t>Aperto</a:t>
            </a:r>
            <a:r>
              <a:rPr lang="en-US" sz="950">
                <a:solidFill>
                  <a:schemeClr val="bg1"/>
                </a:solidFill>
              </a:rPr>
              <a:t> a tutti</a:t>
            </a:r>
          </a:p>
        </p:txBody>
      </p:sp>
      <p:sp>
        <p:nvSpPr>
          <p:cNvPr id="41" name="Shape 39"/>
          <p:cNvSpPr/>
          <p:nvPr/>
        </p:nvSpPr>
        <p:spPr>
          <a:xfrm>
            <a:off x="4965192" y="3017520"/>
            <a:ext cx="1792224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4965192" y="3200400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5120640" y="3127248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SwitchBuds</a:t>
            </a:r>
            <a:endParaRPr lang="en-US" sz="1050"/>
          </a:p>
        </p:txBody>
      </p:sp>
      <p:sp>
        <p:nvSpPr>
          <p:cNvPr id="44" name="Shape 42"/>
          <p:cNvSpPr/>
          <p:nvPr/>
        </p:nvSpPr>
        <p:spPr>
          <a:xfrm>
            <a:off x="4965192" y="3502152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5120640" y="3429000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USB-C Dongle</a:t>
            </a:r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4965192" y="3803904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5120640" y="3730752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 premium</a:t>
            </a:r>
            <a:endParaRPr lang="en-US" sz="1050"/>
          </a:p>
        </p:txBody>
      </p:sp>
      <p:sp>
        <p:nvSpPr>
          <p:cNvPr id="48" name="Shape 46"/>
          <p:cNvSpPr/>
          <p:nvPr/>
        </p:nvSpPr>
        <p:spPr>
          <a:xfrm>
            <a:off x="4965192" y="4105656"/>
            <a:ext cx="9144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5120640" y="4032504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Spedizione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gratuita</a:t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UE</a:t>
            </a:r>
            <a:r>
              <a:rPr lang="en-US" sz="105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/UK</a:t>
            </a:r>
            <a:endParaRPr lang="en-US" sz="1050"/>
          </a:p>
        </p:txBody>
      </p:sp>
      <p:sp>
        <p:nvSpPr>
          <p:cNvPr id="50" name="Shape 48"/>
          <p:cNvSpPr/>
          <p:nvPr/>
        </p:nvSpPr>
        <p:spPr>
          <a:xfrm>
            <a:off x="7031736" y="1371600"/>
            <a:ext cx="2011680" cy="3703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7141464" y="1481328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PACK</a:t>
            </a:r>
            <a:endParaRPr lang="en-US" sz="850"/>
          </a:p>
        </p:txBody>
      </p:sp>
      <p:sp>
        <p:nvSpPr>
          <p:cNvPr id="52" name="Text 50"/>
          <p:cNvSpPr/>
          <p:nvPr/>
        </p:nvSpPr>
        <p:spPr>
          <a:xfrm>
            <a:off x="7141464" y="175564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€349</a:t>
            </a:r>
            <a:endParaRPr lang="en-US" sz="4400"/>
          </a:p>
        </p:txBody>
      </p:sp>
      <p:sp>
        <p:nvSpPr>
          <p:cNvPr id="53" name="Shape 51"/>
          <p:cNvSpPr/>
          <p:nvPr/>
        </p:nvSpPr>
        <p:spPr>
          <a:xfrm>
            <a:off x="7141464" y="2423160"/>
            <a:ext cx="914400" cy="219456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7141464" y="24231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UNITS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7141464" y="2743200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err="1"/>
              <a:t>Limitato</a:t>
            </a:r>
            <a:r>
              <a:rPr lang="en-US" sz="950"/>
              <a:t> – Solo 100 acquirenti</a:t>
            </a:r>
          </a:p>
        </p:txBody>
      </p:sp>
      <p:sp>
        <p:nvSpPr>
          <p:cNvPr id="56" name="Shape 54"/>
          <p:cNvSpPr/>
          <p:nvPr/>
        </p:nvSpPr>
        <p:spPr>
          <a:xfrm>
            <a:off x="7141464" y="3017520"/>
            <a:ext cx="1792224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Shape 55"/>
          <p:cNvSpPr/>
          <p:nvPr/>
        </p:nvSpPr>
        <p:spPr>
          <a:xfrm>
            <a:off x="7141464" y="3200400"/>
            <a:ext cx="91440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7296912" y="3127248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SwitchBuds</a:t>
            </a:r>
            <a:endParaRPr lang="en-US" sz="1050"/>
          </a:p>
        </p:txBody>
      </p:sp>
      <p:sp>
        <p:nvSpPr>
          <p:cNvPr id="59" name="Shape 57"/>
          <p:cNvSpPr/>
          <p:nvPr/>
        </p:nvSpPr>
        <p:spPr>
          <a:xfrm>
            <a:off x="7141464" y="3502152"/>
            <a:ext cx="91440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7296912" y="3429000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USB-C Dongles</a:t>
            </a:r>
            <a:endParaRPr lang="en-US" sz="1050"/>
          </a:p>
        </p:txBody>
      </p:sp>
      <p:sp>
        <p:nvSpPr>
          <p:cNvPr id="61" name="Shape 59"/>
          <p:cNvSpPr/>
          <p:nvPr/>
        </p:nvSpPr>
        <p:spPr>
          <a:xfrm>
            <a:off x="7141464" y="3803904"/>
            <a:ext cx="91440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7296912" y="3730752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 rigida da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viaggio</a:t>
            </a:r>
            <a:endParaRPr lang="en-US" sz="1050"/>
          </a:p>
        </p:txBody>
      </p:sp>
      <p:sp>
        <p:nvSpPr>
          <p:cNvPr id="63" name="Shape 61"/>
          <p:cNvSpPr/>
          <p:nvPr/>
        </p:nvSpPr>
        <p:spPr>
          <a:xfrm>
            <a:off x="7141464" y="4105656"/>
            <a:ext cx="91440" cy="914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7296912" y="4032504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al </a:t>
            </a:r>
            <a:r>
              <a:rPr lang="it-IT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r>
              <a:rPr lang="it-IT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dei founder</a:t>
            </a:r>
            <a:endParaRPr lang="en-US" sz="1050"/>
          </a:p>
        </p:txBody>
      </p:sp>
      <p:sp>
        <p:nvSpPr>
          <p:cNvPr id="65" name="Shape 63"/>
          <p:cNvSpPr/>
          <p:nvPr/>
        </p:nvSpPr>
        <p:spPr>
          <a:xfrm>
            <a:off x="502920" y="5166360"/>
            <a:ext cx="8229600" cy="36576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640080" y="5212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EDITION — €499 (solo 25 disponibili)Nome inciso al laser sulla custodia · 2 </a:t>
            </a:r>
            <a:r>
              <a:rPr lang="it-IT" sz="1000" i="1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unitàSupporto</a:t>
            </a:r>
            <a:r>
              <a:rPr lang="it-IT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prioritario a </a:t>
            </a:r>
            <a:r>
              <a:rPr lang="it-IT" sz="1000" i="1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vitaAccesso</a:t>
            </a:r>
            <a:r>
              <a:rPr lang="it-IT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alla beta chiusa di tutti i prodotti futuri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B7531D1-B6CD-5EDD-1CBB-FED0B038C0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4" r="12195"/>
          <a:stretch>
            <a:fillRect/>
          </a:stretch>
        </p:blipFill>
        <p:spPr>
          <a:xfrm>
            <a:off x="1525" y="0"/>
            <a:ext cx="121904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623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scatola&#10;&#10;Il contenuto generato dall'IA potrebbe non essere corretto.">
            <a:extLst>
              <a:ext uri="{FF2B5EF4-FFF2-40B4-BE49-F238E27FC236}">
                <a16:creationId xmlns:a16="http://schemas.microsoft.com/office/drawing/2014/main" id="{D46F11A6-560A-D37F-160A-DC2489A489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1" t="-748" r="-841" b="2013"/>
          <a:stretch>
            <a:fillRect/>
          </a:stretch>
        </p:blipFill>
        <p:spPr>
          <a:xfrm>
            <a:off x="-15427" y="-88985"/>
            <a:ext cx="12327171" cy="69469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058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6600"/>
              </a:lnSpc>
              <a:buNone/>
            </a:pPr>
            <a:r>
              <a:rPr lang="en-US" sz="5800" b="1"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Join the</a:t>
            </a:r>
            <a:endParaRPr lang="en-US" sz="5800">
              <a:latin typeface="Georgia" panose="02040502050405020303" pitchFamily="18" charset="0"/>
            </a:endParaRPr>
          </a:p>
          <a:p>
            <a:pPr marL="0" indent="0">
              <a:lnSpc>
                <a:spcPts val="6600"/>
              </a:lnSpc>
              <a:buNone/>
            </a:pPr>
            <a:r>
              <a:rPr lang="en-US" sz="5800" b="1"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revolution.</a:t>
            </a:r>
            <a:endParaRPr lang="en-US" sz="5800">
              <a:latin typeface="Georgia" panose="0204050205040502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271025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Uno </a:t>
            </a:r>
            <a:r>
              <a:rPr lang="en-US" sz="1600" i="1">
                <a:latin typeface="Calibri" pitchFamily="34" charset="0"/>
                <a:ea typeface="Calibri" pitchFamily="34" charset="-122"/>
                <a:cs typeface="Calibri" pitchFamily="34" charset="-120"/>
              </a:rPr>
              <a:t>Switch. Zero Lag. Focus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Totale</a:t>
            </a:r>
            <a:r>
              <a:rPr lang="en-US" sz="1600" i="1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/>
          </a:p>
        </p:txBody>
      </p:sp>
      <p:sp>
        <p:nvSpPr>
          <p:cNvPr id="5" name="Shape 2"/>
          <p:cNvSpPr/>
          <p:nvPr/>
        </p:nvSpPr>
        <p:spPr>
          <a:xfrm>
            <a:off x="502920" y="3383280"/>
            <a:ext cx="1828800" cy="50292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3383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PARTECIPA ORA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08327" y="384421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kickstarter.com/switchbuds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-102636" y="6355080"/>
            <a:ext cx="1241438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469018" y="6441106"/>
            <a:ext cx="10962165" cy="330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switchbuds.com  ·  hello@switchbuds.com  ·  @switchbuds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F42B7FA0AE554B8F5DF1BAB81BD92E" ma:contentTypeVersion="9" ma:contentTypeDescription="Create a new document." ma:contentTypeScope="" ma:versionID="d604ad57a981c1f2404d33e9f84f0b1c">
  <xsd:schema xmlns:xsd="http://www.w3.org/2001/XMLSchema" xmlns:xs="http://www.w3.org/2001/XMLSchema" xmlns:p="http://schemas.microsoft.com/office/2006/metadata/properties" xmlns:ns3="4647d149-9a61-4e8c-9de8-ad7a79556417" targetNamespace="http://schemas.microsoft.com/office/2006/metadata/properties" ma:root="true" ma:fieldsID="3037f9f8658ddafe508ea7f908958627" ns3:_="">
    <xsd:import namespace="4647d149-9a61-4e8c-9de8-ad7a7955641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47d149-9a61-4e8c-9de8-ad7a7955641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47d149-9a61-4e8c-9de8-ad7a7955641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B67698-E57A-444D-AB19-21DC935A8902}">
  <ds:schemaRefs>
    <ds:schemaRef ds:uri="4647d149-9a61-4e8c-9de8-ad7a795564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929E456-95E7-436E-B85C-47E3752D188D}">
  <ds:schemaRefs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4647d149-9a61-4e8c-9de8-ad7a79556417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1BB7038F-115E-4D72-B47F-F74D1F5A2EB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2214</Words>
  <Application>Microsoft Office PowerPoint</Application>
  <PresentationFormat>Widescreen</PresentationFormat>
  <Paragraphs>260</Paragraphs>
  <Slides>15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Luca Tarallo</cp:lastModifiedBy>
  <cp:revision>1</cp:revision>
  <dcterms:created xsi:type="dcterms:W3CDTF">2026-02-17T07:59:20Z</dcterms:created>
  <dcterms:modified xsi:type="dcterms:W3CDTF">2026-04-16T10:05:56Z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2026-02-17T09:46:10Z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d02caafd-d7d6-4ef9-970b-9350c6790fba</vt:lpwstr>
  </property>
  <property fmtid="{D5CDD505-2E9C-101B-9397-08002B2CF9AE}" pid="7" name="MSIP_Label_defa4170-0d19-0005-0004-bc88714345d2_ActionId">
    <vt:lpwstr>f5757150-398e-442d-9f72-4c732ed67a53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  <property fmtid="{D5CDD505-2E9C-101B-9397-08002B2CF9AE}" pid="10" name="ContentTypeId">
    <vt:lpwstr>0x010100CDF42B7FA0AE554B8F5DF1BAB81BD92E</vt:lpwstr>
  </property>
</Properties>
</file>