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magine 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51836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51836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302128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302128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52420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52420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Introduzione (4 ore)</a:t>
            </a:r>
          </a:p>
        </p:txBody>
      </p:sp>
      <p:pic>
        <p:nvPicPr>
          <p:cNvPr id="9" name="Picture 8" descr="Logo ITS 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642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Microsoft Azure — Introduzione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99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Corso Cloud Specialist · ITS ICT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1A3C6E"/>
                </a:solidFill>
                <a:latin typeface="Segoe UI"/>
              </a:rPr>
              <a:t>Cosa faremo in 100 ore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Sostenibilità e IT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smart working, smart grid, sensori, RAEE, economia circolare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Fondamenti di Azure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regioni, responsabilità condivisa, ARM, strumenti di accesso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Identity &amp; Governance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Entra ID, MFA, RBAC, PIM, Azure Policy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Reti su Azure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VNet, NSG, VPN, ExpressRoute, Load Balancer, Firewall, Bastion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Compute &amp; Container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VM, App Service, AKS, Functions, ottimizzazione costi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Storage, Data &amp; Integration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Blob, File, database gestiti, Cosmos DB, Data Factory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Security &amp; Business Continuity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Defender for Cloud, Key Vault, backup, DR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DevOps, IaC &amp; Monitoraggio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ARM/Bicep, Terraform, CI/CD, Monitor, Cost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Oggi: introduzione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Perché questo corso esiste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IT e sostenibilità: il contesto normativo e tecnologico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Smart working, smart grid, sensori ambientali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Economia circolare e gestione RAEE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Dal data center al cloud: il collegamento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Cos'è il cloud, come funziona, chi lo offre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Primo sguardo ad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un corso su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è l'infrastruttura standard per aziende di ogni dimensione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competenze cloud sono tra le più richieste nel mercato IT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è la piattaforma cloud di Microsoft — la seconda per quota di mercato globale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Cloud Specialist deve saper progettare, distribuire e gestire servizi su Azure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100 ore: dall'architettura di base fino a DevOps e gestione dei costi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IT e sostenibilità: il quadro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L'Unione Europea ha fissato obiettivi di riduzione delle emissioni al 2030 e 2050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settore IT è responsabile di circa il 2-4% delle emissioni globali di CO₂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Allo stesso tempo, l'IT è uno strumento per ridurre consumi ed emissioni in altri settori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normativa europea (Green Deal, CSRD, tassonomia) impone obblighi di rendicontazione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un tecnico IT, capire questo contesto non è opzionale: è parte del lavoro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Smart working: tecnologie e impatto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Lavorare da remoto richiede infrastruttura IT: VPN, strumenti di collaborazione, sicurezza degli endpoint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Riduce spostamenti, quindi emissioni da trasporto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Richiede connettività affidabile e gestione centralizzata dei dispositivi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Strumenti tipici: Microsoft 365, Teams, VDI (Virtual Desktop Infrastructure)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Lato IT: il perimetro di sicurezza si sposta dall'ufficio al singolo dispositivo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abilita lo smart working perché i servizi sono raggiungibili ovunque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Smart grid: la gestione IT delle reti energetiche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smart grid è una rete elettrica che usa sensori, comunicazione e software per gestire la distribuzione dell'energia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L'IT serve a raccogliere dati dai contatori, prevedere i consumi, bilanciare domanda e offerta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Tecnologie coinvolte: protocolli di comunicazione (MQTT, AMQP), piattaforme IoT, database time-series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fornisce la capacità di calcolo e archiviazione necessaria per elaborare grandi volumi di dati in tempo reale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Italia: il contatore elettronico di seconda generazione (2G) è un esempio concreto di smart metering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Sensori in rete per il monitoraggio ambientale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Sensori distribuiti misurano qualità dell'aria, temperatura, umidità, livello delle acque, rumore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dati vengono trasmessi via rete (LoRaWAN, NB-IoT, 4G/5G) a piattaforme centrali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ruolo dell'IT: raccolta, validazione, archiviazione, visualizzazione e alerting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Volumi di dati potenzialmente molto alti → servono soluzioni scalabili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è la scelta naturale: si paga in base all'uso, si scala con la domanda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Servizi Azure coinvolti: IoT Hub, Stream Analytics, Azure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Economia circolare: principi fondamentali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23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lineare: estrai → produci → usa → butta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circolare: progetta per durare, ripara, riusa, ricicla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normativa UE spinge verso la circolarità (Regolamento Ecodesign, Direttiva Right to Repair)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 l'IT questo significa: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Progettare software che giri su hardware meno recente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Prolungare la vita utile dei dispositivi con aggiornamenti e manutenzione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Scegliere fornitori cloud che usino energia rinnovabile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Monitorare e ridurre il consumo delle risorse computazionali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Estendere la vita utile di prodotti e componenti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server fisico ha una vita utile media di 4-5 anni; spesso viene dismesso prima del necessario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ricondizionamento (refurbishing) è una pratica consolidata per PC, monitor, smartphone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Lato software: supporto a lungo termine (LTS), compatibilità con hardware datato, aggiornamenti di sicurezza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virtualizzazione ha già allungato la vita dei server: più carichi su meno macchine fisiche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porta questo concetto oltre: il fornitore gestisce il ciclo di vita dell'hardware, il cliente usa solo il servizio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Microsoft ha programmi di riuso e riciclo per l'hardware dei propri data center (Circular Centers)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RAEE: gestione dei rifiuti elettronici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RAEE = Rifiuti di Apparecchiature Elettriche ed Elettroniche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 Italia la normativa di riferimento è il D.Lgs. 49/2014, che recepisce la Direttiva 2012/19/UE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produttori hanno l'obbligo di finanziare raccolta e smaltimento (responsabilità estesa del produttore)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rifiuti IT contengono materiali preziosi (oro, rame, terre rare) ma anche sostanze pericolose (piombo, mercurio)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 smaltimento corretto richiede centri autorizzati e tracciabilità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 chi lavora nell'IT: ogni dismissione di hardware deve seguire queste regole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passaggio al cloud riduce la quantità di hardware da gestire localmente, ma non elimina il problema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 data center al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Tradizionalmente ogni azienda gestiva i propri server in un locale tecnico o in un data center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Questo significa: acquisto hardware, alimentazione, raffreddamento, manutenzione, personale dedicato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Problemi: costi fissi alti, capacità spesso sovradimensionata, tempi lunghi per scalare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cloud computing sposta tutto questo presso un fornitore esterno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cliente usa i servizi via rete e paga in base al consumo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fornitore gestisce hardware, alimentazione, rete, sicurezza fisica, aggiornamenti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Non è una novità: il modello esiste dagli anni 2000, ma è diventato dominante nell'ultimo decennio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Cos'è il cloud in pratica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99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Un insieme di data center distribuiti nel mondo, gestiti da un fornitore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cliente accede a risorse (server, storage, database, reti) tramite Internet o connessioni dedicate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 risorse si creano e si eliminano in minuti, non in settimane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paga a consumo (pay-as-you-go) oppure con impegni a 1-3 anni per risparmiare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Cinque caratteristiche essenziali (definizione NIST):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Self-service on demand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Accesso via rete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Pool di risorse condivise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Elasticità rapida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Servizio misurabile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tre modelli di servizio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09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IaaS — Infrastructure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offre macchine virtuali, rete, storage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gestisce sistema operativo, applicazioni, dati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Massima flessibilità, massima responsabilità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PaaS — Platform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gestisce anche il sistema operativo e il runtime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distribuisce il proprio codice o le proprie configurazioni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Meno controllo, meno lavoro di gestione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SaaS — Software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offre l'applicazione pronta all'uso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la usa e basta (es. Microsoft 365, Gmail)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Cloud pubblico, privato, ibrido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45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pubblico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Risorse condivise tra più clienti, gestite dal fornitore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Nessun investimento iniziale in hardware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Adatto alla maggior parte dei carichi di lavoro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privato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Infrastruttura dedicata a un singolo cliente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Può essere on-premises o ospitata presso un fornitore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Richiesto quando ci sono vincoli normativi o di sicurezza stringenti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ibrido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Combinazione di cloud pubblico e privato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 carichi si spostano tra i due ambienti in base alle esigenze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È il modello più diffuso nelle grandi organizzazioni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Responsabilità condivisa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147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cloud la sicurezza e la gestione sono divise tra fornitore e cliente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fornitore si occupa di: hardware, rete fisica, data center, hypervisor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cliente si occupa di: dati, identità, configurazione dei servizi, accessi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4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32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e accessi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4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2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Applicazione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4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32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Sistema operativo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4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0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Rete e infrastruttura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84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10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Data center fisico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384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2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13120"/>
            <a:ext cx="996696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Regola pratica: più il servizio è gestito, meno responsabilità ha il cliente — ma meno controllo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Seconda piattaforma cloud per quota di mercato globale (dopo AWS)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Integrazione nativa con l'ecosistema Microsoft: Active Directory, Windows Server, SQL Server, Microsoft 365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Presente in oltre 60 regioni nel mondo, con data center anche in Italia (Milano, dal 2020)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Offre oltre 200 servizi: compute, storage, database, AI, IoT, DevOps, sicurezza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di licenza flessibile: pay-as-you-go, Reserved Instances, Savings Plans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Certificazioni di conformità: ISO 27001, SOC 1/2/3, GDPR, AgID (per la PA italiana)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Strumenti di gestione: portale web, CLI, PowerShell, SDK in tutti i linguaggi principali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L'ecosistema Azure: una mappa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Infrastruttura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Regioni, Availability Zones, resource group, subscription, tenant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Identità e sicurezza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Microsoft Entra ID, RBAC, Conditional Access, Key Vault, Defender for Cloud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Rete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Virtual Network, NSG, VPN Gateway, ExpressRoute, Load Balancer, Firewall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L'ecosistema Azure: una mappa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Compute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Virtual Machines, App Service, Azure Functions, Container Instances, AKS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Dati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Storage Account (Blob, File, Queue, Table), Azure SQL, PostgreSQL, Cosmos DB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Gestione e automazione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Monitor, Log Analytics, ARM/Bicep, Terraform, Azure DevOps, Cost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L'IT ha un ruolo attivo nella sostenibilità: smart working, smart grid, monitoraggio ambientale, gestione RAEE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L'economia circolare si applica anche ai prodotti IT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cloud computing sostituisce l'infrastruttura locale con servizi on-demand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Tre modelli di servizio: IaaS, PaaS, SaaS — ognuno con un diverso livello di responsabilità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Cloud pubblico, privato o ibrido in base alle esigenze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Azure è la piattaforma su cui lavoreremo per le restanti 96 ore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Nelle prossime lezioni: architettura Azure, identity, reti, compute, storage, sicurezza,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1858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 Tarallo</cp:lastModifiedBy>
  <cp:revision>1</cp:revision>
  <dcterms:created xsi:type="dcterms:W3CDTF">2013-01-27T09:14:16Z</dcterms:created>
  <dcterms:modified xsi:type="dcterms:W3CDTF">2026-03-20T13:20:18Z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2026-03-20T13:20:18Z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086a6092-9233-4c58-bf22-f49bf2b0ee4e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