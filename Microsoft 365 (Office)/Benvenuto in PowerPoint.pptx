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vtt" ContentType="text/vt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338" r:id="rId2"/>
    <p:sldId id="256" r:id="rId3"/>
    <p:sldId id="271" r:id="rId4"/>
    <p:sldId id="279" r:id="rId5"/>
    <p:sldId id="281" r:id="rId6"/>
    <p:sldId id="280" r:id="rId7"/>
    <p:sldId id="257" r:id="rId8"/>
    <p:sldId id="275" r:id="rId9"/>
    <p:sldId id="276" r:id="rId10"/>
    <p:sldId id="282" r:id="rId11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nvenuto" id="{E75E278A-FF0E-49A4-B170-79828D63BBAD}">
          <p14:sldIdLst>
            <p14:sldId id="338"/>
            <p14:sldId id="256"/>
          </p14:sldIdLst>
        </p14:section>
        <p14:section name="Progettazione, morphing, annotazione, collaborazione, Aiutami" id="{B9B51309-D148-4332-87C2-07BE32FBCA3B}">
          <p14:sldIdLst>
            <p14:sldId id="271"/>
            <p14:sldId id="279"/>
            <p14:sldId id="281"/>
            <p14:sldId id="280"/>
            <p14:sldId id="257"/>
            <p14:sldId id="275"/>
            <p14:sldId id="276"/>
          </p14:sldIdLst>
        </p14:section>
        <p14:section name="Altre informazioni" id="{2CC34DB2-6590-42C0-AD4B-A04C6060184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1CC5A7-5847-4951-9F61-C5B1E5595316}" v="1" dt="2026-02-12T15:09:09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1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7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vembre Matteo" userId="437dbab0-cd7d-4665-9647-10d1fd490981" providerId="ADAL" clId="{91B3E30A-C5F4-46D0-B01E-FB65EC075246}"/>
    <pc:docChg chg="addSld modSld sldOrd">
      <pc:chgData name="Novembre Matteo" userId="437dbab0-cd7d-4665-9647-10d1fd490981" providerId="ADAL" clId="{91B3E30A-C5F4-46D0-B01E-FB65EC075246}" dt="2026-02-12T15:17:08.558" v="3" actId="20577"/>
      <pc:docMkLst>
        <pc:docMk/>
      </pc:docMkLst>
      <pc:sldChg chg="modSp add mod ord">
        <pc:chgData name="Novembre Matteo" userId="437dbab0-cd7d-4665-9647-10d1fd490981" providerId="ADAL" clId="{91B3E30A-C5F4-46D0-B01E-FB65EC075246}" dt="2026-02-12T15:17:08.558" v="3" actId="20577"/>
        <pc:sldMkLst>
          <pc:docMk/>
          <pc:sldMk cId="348954085" sldId="338"/>
        </pc:sldMkLst>
        <pc:graphicFrameChg chg="modGraphic">
          <ac:chgData name="Novembre Matteo" userId="437dbab0-cd7d-4665-9647-10d1fd490981" providerId="ADAL" clId="{91B3E30A-C5F4-46D0-B01E-FB65EC075246}" dt="2026-02-12T15:17:08.558" v="3" actId="20577"/>
          <ac:graphicFrameMkLst>
            <pc:docMk/>
            <pc:sldMk cId="348954085" sldId="338"/>
            <ac:graphicFrameMk id="5" creationId="{52A369BA-F177-BE2A-86F7-3CE0AB26EBE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5F181A1-EE90-48ED-A9C1-83228112D0AD}" type="datetime1">
              <a:rPr lang="it-IT" smtClean="0"/>
              <a:t>12/02/2026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FE36-EE55-4AC0-A4CD-6D9A26FBC6DB}" type="datetime1">
              <a:rPr lang="it-IT" smtClean="0"/>
              <a:pPr/>
              <a:t>12/02/2026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2197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1741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8732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7439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4230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256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482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sz="1800" noProof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it-IT" sz="1800" noProof="0"/>
          </a:p>
        </p:txBody>
      </p:sp>
      <p:cxnSp>
        <p:nvCxnSpPr>
          <p:cNvPr id="12" name="Connettore diritto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it-IT" noProof="0"/>
              <a:t>Fare clic per modificare lo stile del titolo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it-IT" noProof="0"/>
              <a:t>Secondo livello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it-IT" noProof="0"/>
              <a:t>Terzo livello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it-IT" noProof="0"/>
              <a:t>Quarto livello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it-IT" noProof="0"/>
              <a:t>Quinto livello</a:t>
            </a:r>
          </a:p>
        </p:txBody>
      </p:sp>
      <p:sp>
        <p:nvSpPr>
          <p:cNvPr id="6" name="Segnaposto dat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7349784-714E-421F-8ACC-DB72D3ADC4FD}" type="datetime1">
              <a:rPr lang="it-IT" noProof="0" smtClean="0"/>
              <a:t>12/02/2026</a:t>
            </a:fld>
            <a:endParaRPr lang="it-IT" noProof="0"/>
          </a:p>
        </p:txBody>
      </p:sp>
      <p:sp>
        <p:nvSpPr>
          <p:cNvPr id="7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8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sz="1800" noProof="0"/>
          </a:p>
        </p:txBody>
      </p:sp>
      <p:sp>
        <p:nvSpPr>
          <p:cNvPr id="10" name="Rettangolo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sz="1800" noProof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it-IT" noProof="0"/>
              <a:t>Fare clic per modificare lo stile del titolo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it-IT" noProof="0"/>
              <a:t>Secondo livello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it-IT" noProof="0"/>
              <a:t>Terzo livello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it-IT" noProof="0"/>
              <a:t>Quarto livello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it-IT" noProof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97223CB-80F4-5A2B-FBCF-8F0577C1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5C71-6E8F-4A48-9A75-977949D9268F}" type="datetimeFigureOut">
              <a:rPr lang="it-IT" smtClean="0"/>
              <a:t>12/02/2026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16CAB44-9033-D4FC-C269-4E25F067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34E491-4E22-916B-0A57-2EFE961F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793B-E73B-47CB-B846-DB6D9D48C5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855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it-IT" sz="1800" noProof="0"/>
          </a:p>
        </p:txBody>
      </p: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AFBADFA-B4A8-4175-8F6F-6B4D45F9DCA3}" type="datetime1">
              <a:rPr lang="it-IT" noProof="0" smtClean="0"/>
              <a:t>12/02/2026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it-IT" noProof="0" smtClean="0"/>
              <a:pPr rtl="0"/>
              <a:t>‹N›</a:t>
            </a:fld>
            <a:endParaRPr lang="it-IT" noProof="0"/>
          </a:p>
        </p:txBody>
      </p:sp>
      <p:cxnSp>
        <p:nvCxnSpPr>
          <p:cNvPr id="8" name="Connettore diritto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microsoft.com/office/2017/04/relationships/track" Target="../media/track1.vtt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go.microsoft.com/fwlink/?LinkId=617172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://go.microsoft.com/fwlink/?LinkId=62332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 di testo 2">
            <a:extLst>
              <a:ext uri="{FF2B5EF4-FFF2-40B4-BE49-F238E27FC236}">
                <a16:creationId xmlns:a16="http://schemas.microsoft.com/office/drawing/2014/main" id="{CD60F39F-0697-9306-59C2-050A0C81B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998" y="4170460"/>
            <a:ext cx="3552190" cy="27699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endParaRPr lang="it-IT" sz="1200" dirty="0">
              <a:effectLst/>
              <a:latin typeface="Century Gothic" panose="020B0502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F763079-289E-A93C-EB1E-BF051687E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641" y="5200651"/>
            <a:ext cx="1248709" cy="684776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49E2D39-027D-DC94-5F6C-D70263747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" t="-111" r="-9" b="-111"/>
          <a:stretch>
            <a:fillRect/>
          </a:stretch>
        </p:blipFill>
        <p:spPr bwMode="auto">
          <a:xfrm>
            <a:off x="1842450" y="412572"/>
            <a:ext cx="8507093" cy="72608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52A369BA-F177-BE2A-86F7-3CE0AB26E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88189"/>
              </p:ext>
            </p:extLst>
          </p:nvPr>
        </p:nvGraphicFramePr>
        <p:xfrm>
          <a:off x="1316052" y="2281726"/>
          <a:ext cx="9178183" cy="22731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09610">
                  <a:extLst>
                    <a:ext uri="{9D8B030D-6E8A-4147-A177-3AD203B41FA5}">
                      <a16:colId xmlns:a16="http://schemas.microsoft.com/office/drawing/2014/main" val="265635030"/>
                    </a:ext>
                  </a:extLst>
                </a:gridCol>
                <a:gridCol w="6368573">
                  <a:extLst>
                    <a:ext uri="{9D8B030D-6E8A-4147-A177-3AD203B41FA5}">
                      <a16:colId xmlns:a16="http://schemas.microsoft.com/office/drawing/2014/main" val="1002503838"/>
                    </a:ext>
                  </a:extLst>
                </a:gridCol>
              </a:tblGrid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DOCENTE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NOVEMBRE Matteo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00898"/>
                  </a:ext>
                </a:extLst>
              </a:tr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UNITA’ FORMATIVA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Microsoft 365 e </a:t>
                      </a:r>
                      <a:r>
                        <a:rPr lang="it-IT" sz="1800" dirty="0" err="1">
                          <a:solidFill>
                            <a:sysClr val="windowText" lastClr="000000"/>
                          </a:solidFill>
                        </a:rPr>
                        <a:t>Sharepoint</a:t>
                      </a:r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56960"/>
                  </a:ext>
                </a:extLst>
              </a:tr>
              <a:tr h="715116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ARGOMENTO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Microsoft 365: Storia</a:t>
                      </a:r>
                      <a:r>
                        <a:rPr lang="it-IT" sz="1800">
                          <a:solidFill>
                            <a:sysClr val="windowText" lastClr="000000"/>
                          </a:solidFill>
                        </a:rPr>
                        <a:t>, Panoramica e Applicazioni base</a:t>
                      </a:r>
                      <a:endParaRPr lang="it-IT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271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5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it-IT" sz="4800" dirty="0">
                <a:solidFill>
                  <a:schemeClr val="bg1"/>
                </a:solidFill>
              </a:rPr>
              <a:t>Benvenuto in PowerPoint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it-IT" sz="2400" dirty="0">
                <a:solidFill>
                  <a:schemeClr val="bg1"/>
                </a:solidFill>
                <a:latin typeface="+mj-lt"/>
              </a:rPr>
              <a:t>5 suggerimenti per semplificarti il lavoro</a:t>
            </a:r>
          </a:p>
        </p:txBody>
      </p:sp>
      <p:pic>
        <p:nvPicPr>
          <p:cNvPr id="4" name="Immagine 3" descr="Icona dell'applicazione PowerPoint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rtl="0"/>
            <a:r>
              <a:rPr lang="it-IT" dirty="0">
                <a:latin typeface="Segoe UI Light" panose="020B0502040204020203" pitchFamily="34" charset="0"/>
                <a:cs typeface="Segoe UI Light" panose="020B0502040204020203" pitchFamily="34" charset="0"/>
              </a:rPr>
              <a:t>Comunica al meglio le tue idee con Designer</a:t>
            </a:r>
          </a:p>
        </p:txBody>
      </p:sp>
      <p:sp>
        <p:nvSpPr>
          <p:cNvPr id="38" name="Segnaposto contenuto 17"/>
          <p:cNvSpPr txBox="1">
            <a:spLocks/>
          </p:cNvSpPr>
          <p:nvPr/>
        </p:nvSpPr>
        <p:spPr>
          <a:xfrm>
            <a:off x="541610" y="1524708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it-IT" sz="1100" dirty="0">
                <a:latin typeface="Segoe UI" panose="020B0502040204020203" pitchFamily="34" charset="0"/>
                <a:cs typeface="Segoe UI" panose="020B0502040204020203" pitchFamily="34" charset="0"/>
              </a:rPr>
              <a:t>PowerPoint Designer suggerisce design professionali per una presentazione, in base al contenuto delle diapositive. </a:t>
            </a:r>
          </a:p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it-IT" sz="1100" dirty="0">
                <a:latin typeface="Segoe UI" panose="020B0502040204020203" pitchFamily="34" charset="0"/>
                <a:cs typeface="Segoe UI" panose="020B0502040204020203" pitchFamily="34" charset="0"/>
              </a:rPr>
              <a:t>Questa caratteristica è disponibile solo con un abbonamento. </a:t>
            </a: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 hai un abbonamento a Office 365, la diapositiva successiva ti mostra come funziona in una nuova presentazione.</a:t>
            </a:r>
            <a:endParaRPr lang="it-IT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magine 4" descr="Riquadro Idee per i progetti con diverse opzioni di progettazione"/>
          <p:cNvPicPr>
            <a:picLocks noChangeAspect="1"/>
          </p:cNvPicPr>
          <p:nvPr/>
        </p:nvPicPr>
        <p:blipFill>
          <a:blip r:embed="rId3"/>
          <a:srcRect l="11803" r="11803"/>
          <a:stretch/>
        </p:blipFill>
        <p:spPr>
          <a:xfrm>
            <a:off x="4976037" y="1385113"/>
            <a:ext cx="6513229" cy="457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>
                <a:latin typeface="Segoe UI Light" panose="020B0502040204020203" pitchFamily="34" charset="0"/>
                <a:cs typeface="Segoe UI Light" panose="020B0502040204020203" pitchFamily="34" charset="0"/>
              </a:rPr>
              <a:t>Come usare PowerPoint Designer</a:t>
            </a:r>
          </a:p>
        </p:txBody>
      </p:sp>
      <p:sp>
        <p:nvSpPr>
          <p:cNvPr id="25" name="Segnaposto contenuto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it-IT" sz="1100">
                <a:latin typeface="Segoe UI" panose="020B0502040204020203" pitchFamily="34" charset="0"/>
                <a:cs typeface="Segoe UI" panose="020B0502040204020203" pitchFamily="34" charset="0"/>
              </a:rPr>
              <a:t>Come funziona:</a:t>
            </a:r>
          </a:p>
        </p:txBody>
      </p:sp>
      <p:grpSp>
        <p:nvGrpSpPr>
          <p:cNvPr id="18" name="Gruppo 17" descr="Piccolo cerchio con il numero 1 all'interno che indica il passaggio 1"/>
          <p:cNvGrpSpPr/>
          <p:nvPr/>
        </p:nvGrpSpPr>
        <p:grpSpPr bwMode="blackWhite">
          <a:xfrm>
            <a:off x="531552" y="1917997"/>
            <a:ext cx="558179" cy="409838"/>
            <a:chOff x="6953426" y="711274"/>
            <a:chExt cx="558179" cy="409838"/>
          </a:xfrm>
        </p:grpSpPr>
        <p:sp>
          <p:nvSpPr>
            <p:cNvPr id="19" name="Ovale 18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20" name="Casella di testo 19" descr="Numero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1" name="Segnaposto contenuto 17"/>
          <p:cNvSpPr txBox="1">
            <a:spLocks/>
          </p:cNvSpPr>
          <p:nvPr/>
        </p:nvSpPr>
        <p:spPr>
          <a:xfrm>
            <a:off x="1056513" y="1958189"/>
            <a:ext cx="4678382" cy="59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 iniziare una nuova presentazione, seleziona </a:t>
            </a: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File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Nuovo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Presentazione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vuota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.</a:t>
            </a:r>
          </a:p>
        </p:txBody>
      </p:sp>
      <p:grpSp>
        <p:nvGrpSpPr>
          <p:cNvPr id="33" name="Gruppo 32" descr="Piccolo cerchio con il numero 2 all'interno che indica il passaggio 2"/>
          <p:cNvGrpSpPr/>
          <p:nvPr/>
        </p:nvGrpSpPr>
        <p:grpSpPr bwMode="blackWhite">
          <a:xfrm>
            <a:off x="531552" y="2804257"/>
            <a:ext cx="558179" cy="409838"/>
            <a:chOff x="6953426" y="711274"/>
            <a:chExt cx="558179" cy="409838"/>
          </a:xfrm>
        </p:grpSpPr>
        <p:sp>
          <p:nvSpPr>
            <p:cNvPr id="34" name="Ovale 33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35" name="Casella di testo 34" descr="Numero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36" name="Segnaposto contenuto 17"/>
          <p:cNvSpPr txBox="1">
            <a:spLocks/>
          </p:cNvSpPr>
          <p:nvPr/>
        </p:nvSpPr>
        <p:spPr>
          <a:xfrm>
            <a:off x="1056512" y="2844450"/>
            <a:ext cx="4595257" cy="106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Aggiungi un'immagine nella prima diapositiva: passa a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Inserisci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Immagini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o </a:t>
            </a: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Inserisci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Immagini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online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scegli l'immagine.</a:t>
            </a:r>
            <a:b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</a:b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Suggerimento: 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Devi essere online quando aggiungi l'immagine.</a:t>
            </a:r>
          </a:p>
        </p:txBody>
      </p:sp>
      <p:grpSp>
        <p:nvGrpSpPr>
          <p:cNvPr id="22" name="Gruppo 21" descr="Piccolo cerchio con il numero 3 all'interno che indica il passaggio 3"/>
          <p:cNvGrpSpPr/>
          <p:nvPr/>
        </p:nvGrpSpPr>
        <p:grpSpPr bwMode="blackWhite">
          <a:xfrm>
            <a:off x="531552" y="4208299"/>
            <a:ext cx="558179" cy="409838"/>
            <a:chOff x="6953426" y="711274"/>
            <a:chExt cx="558179" cy="409838"/>
          </a:xfrm>
        </p:grpSpPr>
        <p:sp>
          <p:nvSpPr>
            <p:cNvPr id="24" name="Ovale 23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30" name="Casella di testo 29" descr="Numero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2" name="Segnaposto contenuto 17"/>
          <p:cNvSpPr txBox="1">
            <a:spLocks/>
          </p:cNvSpPr>
          <p:nvPr/>
        </p:nvSpPr>
        <p:spPr>
          <a:xfrm>
            <a:off x="1056512" y="4236460"/>
            <a:ext cx="4595257" cy="76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600"/>
              </a:spcAft>
              <a:buNone/>
              <a:defRPr/>
            </a:pP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Quando PowerPoint chiede l'autorizzazione per suggerire idee per i progetti, seleziona </a:t>
            </a: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Iniziamo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.</a:t>
            </a:r>
          </a:p>
        </p:txBody>
      </p:sp>
      <p:grpSp>
        <p:nvGrpSpPr>
          <p:cNvPr id="37" name="Gruppo 36" descr="Piccolo cerchio con il numero 4 all'interno che indica il passaggio 4"/>
          <p:cNvGrpSpPr/>
          <p:nvPr/>
        </p:nvGrpSpPr>
        <p:grpSpPr bwMode="blackWhite">
          <a:xfrm>
            <a:off x="531552" y="5137379"/>
            <a:ext cx="558179" cy="409838"/>
            <a:chOff x="6953426" y="711274"/>
            <a:chExt cx="558179" cy="409838"/>
          </a:xfrm>
        </p:grpSpPr>
        <p:sp>
          <p:nvSpPr>
            <p:cNvPr id="38" name="Ovale 37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39" name="Casella di testo 38" descr="Numero 4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4</a:t>
              </a:r>
            </a:p>
          </p:txBody>
        </p:sp>
      </p:grpSp>
      <p:sp>
        <p:nvSpPr>
          <p:cNvPr id="40" name="Segnaposto contenuto 17"/>
          <p:cNvSpPr txBox="1">
            <a:spLocks/>
          </p:cNvSpPr>
          <p:nvPr/>
        </p:nvSpPr>
        <p:spPr>
          <a:xfrm>
            <a:off x="1056512" y="5177572"/>
            <a:ext cx="4595257" cy="56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  <a:defRPr/>
            </a:pP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Scegli un progetto che ti piace nel riquadro attività </a:t>
            </a: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Idee per progetti 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29" name="Immagine 28" descr="Scheda Inserisci con l'opzione per inserire un'immag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7526" y="1455791"/>
            <a:ext cx="2740429" cy="1592728"/>
          </a:xfrm>
          <a:prstGeom prst="rect">
            <a:avLst/>
          </a:prstGeom>
        </p:spPr>
      </p:pic>
      <p:pic>
        <p:nvPicPr>
          <p:cNvPr id="23" name="Immagine 22" descr="Finestra di dialogo Idee per i progetti con la richiesta di conferma per ottenere idee per i progetti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99195" y="3067244"/>
            <a:ext cx="2688562" cy="350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>
                <a:latin typeface="Segoe UI Light" panose="020B0502040204020203" pitchFamily="34" charset="0"/>
                <a:cs typeface="Segoe UI Light" panose="020B0502040204020203" pitchFamily="34" charset="0"/>
              </a:rPr>
              <a:t>Morphing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4557164" cy="47908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Il morphing crea animazioni fluide e movimenti di oggetti in una presentazione. Vengono usate due diapositive simili per eseguire l'animazione, ma al pubblico sembrerà che l'azione avvenga su una diapositiva. 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it-IT" sz="1100" b="1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Riproduci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il video sulla destra per vedere un rapido esempio.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Questa funzionalità è disponibile solo con un abbonamento. Se hai un abbonamento a Office 365, puoi provare a usarla seguendo la procedura nella prossima diapositiva.</a:t>
            </a:r>
          </a:p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it-IT" sz="110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Video sul Morphing" descr="Video che mostra un esempio della funzionalità Morphing, che può essere riprodotto o messo in pausa usando la scelta rapida ALT+P">
            <a:hlinkClick r:id="" action="ppaction://media"/>
            <a:extLst>
              <a:ext uri="{FF2B5EF4-FFF2-40B4-BE49-F238E27FC236}">
                <a16:creationId xmlns:a16="http://schemas.microsoft.com/office/drawing/2014/main" id="{9F029C1A-F15A-44BF-996A-1F59B3110D78}"/>
              </a:ext>
            </a:extLst>
          </p:cNvPr>
          <p:cNvPicPr>
            <a:picLocks noGrp="1" noChangeAspect="1"/>
          </p:cNvPicPr>
          <p:nvPr>
            <p:ph sz="quarter" idx="10"/>
            <a:videoFile r:link="rId2"/>
            <p:extLst>
              <p:ext uri="{DAA4B4D4-6D71-4841-9C94-3DE7FCFB9230}">
                <p14:media xmlns:p14="http://schemas.microsoft.com/office/powerpoint/2010/main" r:embed="rId1">
                  <p14:extLst>
                    <p:ext uri="{3AFAAA56-56D3-431D-BCD4-E75A35582382}">
                      <p173:tracksInfo xmlns:p173="http://schemas.microsoft.com/office/powerpoint/2017/3/main" displayLoc="media">
                        <p173:trackLst>
                          <p173:track id="{7D80394A-61EE-4513-90D2-E9A3DA581656}" label="caption" lang="" r:embed="rId5"/>
                        </p173:trackLst>
                      </p173:tracksInfo>
                    </p:ext>
                  </p14:ext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18759" y="1540565"/>
            <a:ext cx="6110288" cy="3438525"/>
          </a:xfr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/>
              <a:t>Configurazione del </a:t>
            </a:r>
            <a:r>
              <a:rPr lang="it-IT" dirty="0">
                <a:latin typeface="Segoe UI Light" panose="020B0502040204020203" pitchFamily="34" charset="0"/>
                <a:cs typeface="Segoe UI Light" panose="020B0502040204020203" pitchFamily="34" charset="0"/>
              </a:rPr>
              <a:t>morphing</a:t>
            </a:r>
          </a:p>
        </p:txBody>
      </p:sp>
      <p:sp>
        <p:nvSpPr>
          <p:cNvPr id="30" name="Segnaposto contenuto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it-IT" sz="1100"/>
              <a:t>Fai una prova con questi due semplici "pianeti":</a:t>
            </a:r>
          </a:p>
        </p:txBody>
      </p:sp>
      <p:grpSp>
        <p:nvGrpSpPr>
          <p:cNvPr id="13" name="Gruppo 12" descr="Piccolo cerchio con il numero 1 all'interno che indica il passaggio 1"/>
          <p:cNvGrpSpPr/>
          <p:nvPr/>
        </p:nvGrpSpPr>
        <p:grpSpPr bwMode="blackWhite">
          <a:xfrm>
            <a:off x="558723" y="1917997"/>
            <a:ext cx="558179" cy="409838"/>
            <a:chOff x="6953426" y="711274"/>
            <a:chExt cx="558179" cy="409838"/>
          </a:xfrm>
        </p:grpSpPr>
        <p:sp>
          <p:nvSpPr>
            <p:cNvPr id="14" name="Ovale 13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15" name="Casella di testo 14" descr="Numero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16" name="Segnaposto contenuto 17"/>
          <p:cNvSpPr txBox="1">
            <a:spLocks/>
          </p:cNvSpPr>
          <p:nvPr/>
        </p:nvSpPr>
        <p:spPr>
          <a:xfrm>
            <a:off x="1066040" y="1958189"/>
            <a:ext cx="2979351" cy="9139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Duplica questa diapositiva: fai clic con il pulsante destro del mouse sull'anteprima della diapositiva e scegli</a:t>
            </a:r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it-I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Duplica diapositiva</a:t>
            </a:r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pSp>
        <p:nvGrpSpPr>
          <p:cNvPr id="18" name="Gruppo 17" descr="Piccolo cerchio con il numero 2 all'interno che indica il passaggio 2"/>
          <p:cNvGrpSpPr/>
          <p:nvPr/>
        </p:nvGrpSpPr>
        <p:grpSpPr bwMode="blackWhite">
          <a:xfrm>
            <a:off x="558723" y="2896735"/>
            <a:ext cx="558179" cy="409838"/>
            <a:chOff x="6953426" y="711274"/>
            <a:chExt cx="558179" cy="409838"/>
          </a:xfrm>
        </p:grpSpPr>
        <p:sp>
          <p:nvSpPr>
            <p:cNvPr id="23" name="Ovale 22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24" name="Casella di testo 23" descr="Numero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5" name="Segnaposto contenuto 17"/>
          <p:cNvSpPr txBox="1">
            <a:spLocks/>
          </p:cNvSpPr>
          <p:nvPr/>
        </p:nvSpPr>
        <p:spPr>
          <a:xfrm>
            <a:off x="1066038" y="2936927"/>
            <a:ext cx="2651153" cy="14561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Nella seconda di queste due diapositive identiche apporta qualche modifica alle forme a destra, ad esempio spostale o cambia le dimensioni o il colore, quindi passa a </a:t>
            </a:r>
            <a:r>
              <a:rPr lang="it-I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Transizioni</a:t>
            </a:r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&gt; </a:t>
            </a:r>
            <a:r>
              <a:rPr lang="it-I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Morphing</a:t>
            </a:r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pSp>
        <p:nvGrpSpPr>
          <p:cNvPr id="26" name="Gruppo 25" descr="Piccolo cerchio con il numero 3 all'interno che indica il passaggio 3"/>
          <p:cNvGrpSpPr/>
          <p:nvPr/>
        </p:nvGrpSpPr>
        <p:grpSpPr bwMode="blackWhite">
          <a:xfrm>
            <a:off x="557319" y="4344232"/>
            <a:ext cx="558179" cy="409838"/>
            <a:chOff x="6953426" y="711274"/>
            <a:chExt cx="558179" cy="409838"/>
          </a:xfrm>
        </p:grpSpPr>
        <p:sp>
          <p:nvSpPr>
            <p:cNvPr id="27" name="Ovale 26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28" name="Casella di testo 27" descr="Numero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29" name="Segnaposto contenuto 17"/>
          <p:cNvSpPr txBox="1">
            <a:spLocks/>
          </p:cNvSpPr>
          <p:nvPr/>
        </p:nvSpPr>
        <p:spPr>
          <a:xfrm>
            <a:off x="1076799" y="4360521"/>
            <a:ext cx="2784602" cy="111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Torna alla prima delle due dispositive e scegli il pulsante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Presentazione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quindi seleziona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it-IT" sz="110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Riproduci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 visualizzare il morphing del cerchio.</a:t>
            </a:r>
          </a:p>
        </p:txBody>
      </p:sp>
      <p:sp>
        <p:nvSpPr>
          <p:cNvPr id="17" name="Segnaposto contenuto 17"/>
          <p:cNvSpPr txBox="1">
            <a:spLocks/>
          </p:cNvSpPr>
          <p:nvPr/>
        </p:nvSpPr>
        <p:spPr>
          <a:xfrm>
            <a:off x="628962" y="5832234"/>
            <a:ext cx="3449878" cy="6929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it-IT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Suggerimento: </a:t>
            </a:r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</a:rPr>
              <a:t>in </a:t>
            </a:r>
            <a:r>
              <a:rPr lang="it-IT">
                <a:solidFill>
                  <a:srgbClr val="40404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Opzioni effetto </a:t>
            </a:r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sono disponibili anche altre opzioni per la transizione</a:t>
            </a:r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Morphing</a:t>
            </a:r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</p:txBody>
      </p:sp>
      <p:pic>
        <p:nvPicPr>
          <p:cNvPr id="2" name="Immagine 1" descr="Menu contestuale delle anteprime delle diapositive con l'opzione Duplica diapositiv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45391" y="1455491"/>
            <a:ext cx="1402147" cy="1803887"/>
          </a:xfrm>
          <a:prstGeom prst="rect">
            <a:avLst/>
          </a:prstGeom>
        </p:spPr>
      </p:pic>
      <p:pic>
        <p:nvPicPr>
          <p:cNvPr id="6" name="Immagine 5" descr="Scheda Transizioni con la transizione Morph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84500" y="3159609"/>
            <a:ext cx="2467551" cy="1185923"/>
          </a:xfrm>
          <a:prstGeom prst="rect">
            <a:avLst/>
          </a:prstGeom>
        </p:spPr>
      </p:pic>
      <p:pic>
        <p:nvPicPr>
          <p:cNvPr id="5" name="Immagine 4" descr="Pulsante Presentazion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37079" y="4344232"/>
            <a:ext cx="2134319" cy="887083"/>
          </a:xfrm>
          <a:prstGeom prst="rect">
            <a:avLst/>
          </a:prstGeom>
        </p:spPr>
      </p:pic>
      <p:cxnSp>
        <p:nvCxnSpPr>
          <p:cNvPr id="20" name="Connettore diritto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296866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e 9" descr="Grande cerchio blu con piccolo cerchio azzurro all'interno"/>
          <p:cNvSpPr/>
          <p:nvPr/>
        </p:nvSpPr>
        <p:spPr>
          <a:xfrm>
            <a:off x="7236525" y="1944862"/>
            <a:ext cx="3827244" cy="37432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vale 10" descr="Piccolo cerchio blu chiaro all'interno di un grande cerchio blu scuro"/>
          <p:cNvSpPr/>
          <p:nvPr/>
        </p:nvSpPr>
        <p:spPr bwMode="ltGray">
          <a:xfrm>
            <a:off x="8086223" y="2796642"/>
            <a:ext cx="2148929" cy="210175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lvl="0" rtl="0"/>
            <a:r>
              <a:rPr lang="it-IT">
                <a:latin typeface="Segoe UI Light" panose="020B0502040204020203" pitchFamily="34" charset="0"/>
                <a:cs typeface="Segoe UI Light" panose="020B0502040204020203" pitchFamily="34" charset="0"/>
              </a:rPr>
              <a:t>Collaborazione in tempo reale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half" idx="4294967295"/>
          </p:nvPr>
        </p:nvSpPr>
        <p:spPr>
          <a:xfrm>
            <a:off x="541611" y="1431010"/>
            <a:ext cx="4413626" cy="397827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Quando condividi una presentazione con altri, potrai vedere chi collabora con te e quali modifiche apporta. </a:t>
            </a:r>
            <a:b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 funziona:</a:t>
            </a:r>
          </a:p>
        </p:txBody>
      </p:sp>
      <p:pic>
        <p:nvPicPr>
          <p:cNvPr id="11" name="Immagine 10" descr="Icona Condividi con il numero di persone che collaborano alla presentazione 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984" y="2425111"/>
            <a:ext cx="3262550" cy="1475659"/>
          </a:xfrm>
          <a:prstGeom prst="rect">
            <a:avLst/>
          </a:prstGeom>
        </p:spPr>
      </p:pic>
      <p:grpSp>
        <p:nvGrpSpPr>
          <p:cNvPr id="33" name="Gruppo 32" descr="Piccolo cerchio con il numero 1 all'interno che indica il passaggio 1"/>
          <p:cNvGrpSpPr/>
          <p:nvPr/>
        </p:nvGrpSpPr>
        <p:grpSpPr bwMode="blackWhite">
          <a:xfrm>
            <a:off x="558723" y="4531632"/>
            <a:ext cx="558179" cy="409838"/>
            <a:chOff x="6953426" y="711274"/>
            <a:chExt cx="558179" cy="409838"/>
          </a:xfrm>
        </p:grpSpPr>
        <p:sp>
          <p:nvSpPr>
            <p:cNvPr id="34" name="Ovale 33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35" name="Casella di testo 34" descr="Numero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Segnaposto contenuto 17"/>
          <p:cNvSpPr txBox="1">
            <a:spLocks/>
          </p:cNvSpPr>
          <p:nvPr/>
        </p:nvSpPr>
        <p:spPr>
          <a:xfrm>
            <a:off x="1066039" y="4571824"/>
            <a:ext cx="2696774" cy="15983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Seleziona </a:t>
            </a:r>
            <a:r>
              <a:rPr lang="it-IT" sz="1100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Condividi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sopra la barra multifunzione oppure usa la scelta rapida da tastiera </a:t>
            </a:r>
            <a:r>
              <a:rPr lang="it-IT" sz="1100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ALT-ZS</a:t>
            </a: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per invitare altre persone a collaborare con te (a questo punto puoi salvare nel cloud).</a:t>
            </a:r>
          </a:p>
        </p:txBody>
      </p:sp>
      <p:pic>
        <p:nvPicPr>
          <p:cNvPr id="9" name="Immagine 8" descr="Indicatore che mostra chi sta lavorando a una diapositiva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61352" y="2434307"/>
            <a:ext cx="3841692" cy="2512927"/>
          </a:xfrm>
          <a:prstGeom prst="rect">
            <a:avLst/>
          </a:prstGeom>
        </p:spPr>
      </p:pic>
      <p:grpSp>
        <p:nvGrpSpPr>
          <p:cNvPr id="36" name="Gruppo 35" descr="Piccolo cerchio con il numero 2 all'interno che indica il passaggio 2"/>
          <p:cNvGrpSpPr/>
          <p:nvPr/>
        </p:nvGrpSpPr>
        <p:grpSpPr bwMode="blackWhite">
          <a:xfrm>
            <a:off x="4249102" y="4531632"/>
            <a:ext cx="558179" cy="409838"/>
            <a:chOff x="6953426" y="711274"/>
            <a:chExt cx="558179" cy="409838"/>
          </a:xfrm>
        </p:grpSpPr>
        <p:sp>
          <p:nvSpPr>
            <p:cNvPr id="37" name="Ovale 36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38" name="Casella di testo 37" descr="Numero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Segnaposto contenuto 17"/>
          <p:cNvSpPr txBox="1">
            <a:spLocks/>
          </p:cNvSpPr>
          <p:nvPr/>
        </p:nvSpPr>
        <p:spPr>
          <a:xfrm>
            <a:off x="4747855" y="4571824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Quando altri utenti lavorano alla presentazione, un indicatore mostra chi si trova in ogni diapositiva...</a:t>
            </a:r>
          </a:p>
        </p:txBody>
      </p:sp>
      <p:pic>
        <p:nvPicPr>
          <p:cNvPr id="12" name="Immagine 11" descr="Indicatore che mostra quale parte della diapositiva viene modificata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899419" y="2350394"/>
            <a:ext cx="3563782" cy="2305343"/>
          </a:xfrm>
          <a:prstGeom prst="rect">
            <a:avLst/>
          </a:prstGeom>
        </p:spPr>
      </p:pic>
      <p:grpSp>
        <p:nvGrpSpPr>
          <p:cNvPr id="39" name="Gruppo 38" descr="Piccolo cerchio con il numero 3 all'interno che indica il passaggio 3"/>
          <p:cNvGrpSpPr/>
          <p:nvPr/>
        </p:nvGrpSpPr>
        <p:grpSpPr bwMode="blackWhite">
          <a:xfrm>
            <a:off x="7930921" y="4531632"/>
            <a:ext cx="558179" cy="409838"/>
            <a:chOff x="6953426" y="711274"/>
            <a:chExt cx="558179" cy="409838"/>
          </a:xfrm>
        </p:grpSpPr>
        <p:sp>
          <p:nvSpPr>
            <p:cNvPr id="40" name="Ovale 39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41" name="Casella di testo 40" descr="Numero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Segnaposto contenuto 17"/>
          <p:cNvSpPr txBox="1">
            <a:spLocks/>
          </p:cNvSpPr>
          <p:nvPr/>
        </p:nvSpPr>
        <p:spPr>
          <a:xfrm>
            <a:off x="8429668" y="4571824"/>
            <a:ext cx="2658635" cy="69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it-IT" sz="11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…e quale parte della diapositiva sta modificando.</a:t>
            </a: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>
                <a:latin typeface="Segoe UI Light" panose="020B0502040204020203" pitchFamily="34" charset="0"/>
                <a:cs typeface="Segoe UI Light" panose="020B0502040204020203" pitchFamily="34" charset="0"/>
              </a:rPr>
              <a:t>Con Aiutami diventi subito un esperto</a:t>
            </a:r>
          </a:p>
        </p:txBody>
      </p:sp>
      <p:sp>
        <p:nvSpPr>
          <p:cNvPr id="38" name="Segnaposto contenuto 17"/>
          <p:cNvSpPr txBox="1">
            <a:spLocks/>
          </p:cNvSpPr>
          <p:nvPr/>
        </p:nvSpPr>
        <p:spPr>
          <a:xfrm>
            <a:off x="541609" y="1296100"/>
            <a:ext cx="5110161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 casella Aiutami trova il comando appropriato quando ti serve, </a:t>
            </a:r>
            <a:b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così puoi risparmiare tempo e concentrarti sul tuo lavoro.</a:t>
            </a:r>
            <a:br>
              <a:rPr lang="it-IT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it-IT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it-IT" sz="1100" dirty="0">
                <a:latin typeface="Segoe UI" panose="020B0502040204020203" pitchFamily="34" charset="0"/>
                <a:cs typeface="Segoe UI" panose="020B0502040204020203" pitchFamily="34" charset="0"/>
              </a:rPr>
              <a:t>Prova:</a:t>
            </a:r>
          </a:p>
        </p:txBody>
      </p:sp>
      <p:grpSp>
        <p:nvGrpSpPr>
          <p:cNvPr id="4" name="Gruppo 3" descr="Piccolo cerchio con il numero 1 all'interno che indica il passaggio 1"/>
          <p:cNvGrpSpPr/>
          <p:nvPr/>
        </p:nvGrpSpPr>
        <p:grpSpPr bwMode="blackWhite">
          <a:xfrm>
            <a:off x="558723" y="2638502"/>
            <a:ext cx="558179" cy="409838"/>
            <a:chOff x="6953426" y="711274"/>
            <a:chExt cx="558179" cy="409838"/>
          </a:xfrm>
        </p:grpSpPr>
        <p:sp>
          <p:nvSpPr>
            <p:cNvPr id="2" name="Ovale 1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3" name="Casella di testo 2" descr="Numero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9" name="Segnaposto contenuto 17"/>
          <p:cNvSpPr txBox="1">
            <a:spLocks/>
          </p:cNvSpPr>
          <p:nvPr/>
        </p:nvSpPr>
        <p:spPr>
          <a:xfrm>
            <a:off x="1066039" y="2678694"/>
            <a:ext cx="3121671" cy="467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512763" rtl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Seleziona </a:t>
            </a:r>
            <a:r>
              <a:rPr lang="it-IT" sz="1100" dirty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l'immagine del robot </a:t>
            </a: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destra.</a:t>
            </a:r>
          </a:p>
        </p:txBody>
      </p:sp>
      <p:grpSp>
        <p:nvGrpSpPr>
          <p:cNvPr id="19" name="Gruppo 18" descr="Piccolo cerchio con il numero 2 all'interno che indica il passaggio 2"/>
          <p:cNvGrpSpPr/>
          <p:nvPr/>
        </p:nvGrpSpPr>
        <p:grpSpPr bwMode="blackWhite">
          <a:xfrm>
            <a:off x="558723" y="3312993"/>
            <a:ext cx="558179" cy="409838"/>
            <a:chOff x="6953426" y="711274"/>
            <a:chExt cx="558179" cy="409838"/>
          </a:xfrm>
        </p:grpSpPr>
        <p:sp>
          <p:nvSpPr>
            <p:cNvPr id="20" name="Ovale 19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21" name="Casella di testo 20" descr="Numero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2" name="Segnaposto contenuto 17"/>
          <p:cNvSpPr txBox="1">
            <a:spLocks/>
          </p:cNvSpPr>
          <p:nvPr/>
        </p:nvSpPr>
        <p:spPr>
          <a:xfrm>
            <a:off x="1066039" y="3353185"/>
            <a:ext cx="3504072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Digita </a:t>
            </a:r>
            <a:r>
              <a:rPr lang="it-IT" sz="1100" i="1" dirty="0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animazione</a:t>
            </a: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nella casella </a:t>
            </a:r>
            <a:r>
              <a:rPr lang="it-IT" sz="1100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Aiutami</a:t>
            </a: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quindi scegli </a:t>
            </a:r>
            <a:r>
              <a:rPr lang="it-IT" sz="1100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Aggiungi animazione</a:t>
            </a: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pSp>
        <p:nvGrpSpPr>
          <p:cNvPr id="31" name="Gruppo 30" descr="Piccolo cerchio con il numero 3 all'interno che indica il passaggio 3"/>
          <p:cNvGrpSpPr/>
          <p:nvPr/>
        </p:nvGrpSpPr>
        <p:grpSpPr bwMode="blackWhite">
          <a:xfrm>
            <a:off x="557319" y="4263506"/>
            <a:ext cx="558179" cy="409838"/>
            <a:chOff x="6953426" y="711274"/>
            <a:chExt cx="558179" cy="409838"/>
          </a:xfrm>
        </p:grpSpPr>
        <p:sp>
          <p:nvSpPr>
            <p:cNvPr id="32" name="Ovale 31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33" name="Casella di testo 32" descr="Numero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4" name="Segnaposto contenuto 17"/>
          <p:cNvSpPr txBox="1">
            <a:spLocks/>
          </p:cNvSpPr>
          <p:nvPr/>
        </p:nvSpPr>
        <p:spPr>
          <a:xfrm>
            <a:off x="1064636" y="4303697"/>
            <a:ext cx="2134038" cy="144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12763" rtl="0">
              <a:spcAft>
                <a:spcPts val="2000"/>
              </a:spcAft>
              <a:buNone/>
            </a:pP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Scegli un effetto di animazione, ad esempio </a:t>
            </a:r>
            <a:r>
              <a:rPr lang="it-IT" sz="1100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Zoom</a:t>
            </a: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e guarda </a:t>
            </a:r>
            <a:b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cosa succede.</a:t>
            </a:r>
          </a:p>
        </p:txBody>
      </p:sp>
      <p:sp>
        <p:nvSpPr>
          <p:cNvPr id="25" name="Casella di testo 16" descr="Selezionami"/>
          <p:cNvSpPr txBox="1"/>
          <p:nvPr/>
        </p:nvSpPr>
        <p:spPr>
          <a:xfrm rot="21077122">
            <a:off x="6043297" y="1772253"/>
            <a:ext cx="1334770" cy="435610"/>
          </a:xfrm>
          <a:prstGeom prst="rect">
            <a:avLst/>
          </a:prstGeom>
          <a:noFill/>
          <a:ln>
            <a:noFill/>
          </a:ln>
          <a:effectLst/>
          <a:extLst>
            <a:ext uri="{C572A759-6A51-4108-AA02-DFA0A04FC94B}">
              <ma14:wrappingTextBoxFlag xmlns="" xmlns:ma14="http://schemas.microsoft.com/office/mac/drawingml/2011/main"/>
            </a:ext>
          </a:extLst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 rtl="0">
              <a:spcBef>
                <a:spcPts val="0"/>
              </a:spcBef>
              <a:spcAft>
                <a:spcPts val="200"/>
              </a:spcAft>
              <a:tabLst>
                <a:tab pos="4931410" algn="l"/>
              </a:tabLst>
            </a:pPr>
            <a:r>
              <a:rPr lang="it-IT" sz="1200" b="1" kern="1000" spc="100">
                <a:ln>
                  <a:noFill/>
                </a:ln>
                <a:solidFill>
                  <a:srgbClr val="D24726"/>
                </a:solidFill>
                <a:effectLst/>
                <a:latin typeface="Segoe UI Semibold" panose="020B0702040204020203" pitchFamily="34" charset="0"/>
                <a:ea typeface="SimHei" panose="02010609060101010101" pitchFamily="49" charset="-122"/>
                <a:cs typeface="Times New Roman" panose="02020603050405020304" pitchFamily="18" charset="0"/>
              </a:rPr>
              <a:t>SELEZIONAMI</a:t>
            </a:r>
            <a:endParaRPr lang="it-IT" sz="1200" b="1" kern="1400">
              <a:solidFill>
                <a:srgbClr val="D24726"/>
              </a:solidFill>
              <a:effectLst/>
              <a:latin typeface="Segoe UI Light" panose="020B0502040204020203" pitchFamily="34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Immagine 4" descr="Casella Aiutami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07766" y="3410945"/>
            <a:ext cx="2106152" cy="220832"/>
          </a:xfrm>
          <a:prstGeom prst="rect">
            <a:avLst/>
          </a:prstGeom>
        </p:spPr>
      </p:pic>
      <p:pic>
        <p:nvPicPr>
          <p:cNvPr id="7" name="Immagine 6" descr="Scheda Animazione che mostra l'opzione di zoom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63240" y="4125006"/>
            <a:ext cx="3803904" cy="2326547"/>
          </a:xfrm>
          <a:prstGeom prst="rect">
            <a:avLst/>
          </a:prstGeom>
        </p:spPr>
      </p:pic>
      <p:pic>
        <p:nvPicPr>
          <p:cNvPr id="24" name="Immagin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61835" flipH="1">
            <a:off x="6740574" y="1787378"/>
            <a:ext cx="851862" cy="939987"/>
          </a:xfrm>
          <a:prstGeom prst="rect">
            <a:avLst/>
          </a:prstGeom>
        </p:spPr>
      </p:pic>
      <p:pic>
        <p:nvPicPr>
          <p:cNvPr id="23" name="Immagine 22" descr="Rob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741" y="1646170"/>
            <a:ext cx="2775459" cy="453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>
                <a:latin typeface="Segoe UI Light" panose="020B0502040204020203" pitchFamily="34" charset="0"/>
                <a:cs typeface="Segoe UI Light" panose="020B0502040204020203" pitchFamily="34" charset="0"/>
              </a:rPr>
              <a:t>Esplora senza uscire dalle diapositive</a:t>
            </a:r>
          </a:p>
        </p:txBody>
      </p:sp>
      <p:sp>
        <p:nvSpPr>
          <p:cNvPr id="16" name="Segnaposto contenuto 17"/>
          <p:cNvSpPr txBox="1">
            <a:spLocks/>
          </p:cNvSpPr>
          <p:nvPr/>
        </p:nvSpPr>
        <p:spPr>
          <a:xfrm>
            <a:off x="541609" y="1296100"/>
            <a:ext cx="6093106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it-IT" sz="1100" dirty="0">
                <a:latin typeface="Segoe UI" panose="020B0502040204020203" pitchFamily="34" charset="0"/>
                <a:cs typeface="Segoe UI" panose="020B0502040204020203" pitchFamily="34" charset="0"/>
              </a:rPr>
              <a:t>Ricerca intelligente inserisce i risultati direttamente in PowerPoint.</a:t>
            </a:r>
            <a:br>
              <a:rPr lang="it-IT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it-IT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it-IT" sz="1100" dirty="0">
                <a:latin typeface="Segoe UI" panose="020B0502040204020203" pitchFamily="34" charset="0"/>
                <a:cs typeface="Segoe UI" panose="020B0502040204020203" pitchFamily="34" charset="0"/>
              </a:rPr>
              <a:t>Prova:</a:t>
            </a:r>
          </a:p>
        </p:txBody>
      </p:sp>
      <p:pic>
        <p:nvPicPr>
          <p:cNvPr id="18" name="Immagine 17" descr="Tre immagini con la caratteristica Ricerca intelligent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4408" y="2145058"/>
            <a:ext cx="11129521" cy="3197087"/>
          </a:xfrm>
          <a:prstGeom prst="rect">
            <a:avLst/>
          </a:prstGeom>
        </p:spPr>
      </p:pic>
      <p:grpSp>
        <p:nvGrpSpPr>
          <p:cNvPr id="33" name="Gruppo 32" descr="Piccolo cerchio con il numero 1 all'interno che indica il passaggio 1"/>
          <p:cNvGrpSpPr/>
          <p:nvPr/>
        </p:nvGrpSpPr>
        <p:grpSpPr bwMode="blackWhite">
          <a:xfrm>
            <a:off x="558723" y="5233381"/>
            <a:ext cx="558179" cy="409838"/>
            <a:chOff x="6953426" y="711274"/>
            <a:chExt cx="558179" cy="409838"/>
          </a:xfrm>
        </p:grpSpPr>
        <p:sp>
          <p:nvSpPr>
            <p:cNvPr id="34" name="Ovale 33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35" name="Casella di testo 34" descr="Numero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Segnaposto contenuto 17"/>
          <p:cNvSpPr txBox="1">
            <a:spLocks/>
          </p:cNvSpPr>
          <p:nvPr/>
        </p:nvSpPr>
        <p:spPr>
          <a:xfrm>
            <a:off x="1066038" y="5273573"/>
            <a:ext cx="2919669" cy="129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Fai clic con il pulsante destro del mouse su </a:t>
            </a:r>
            <a:r>
              <a:rPr lang="it-IT" sz="1100" i="1" dirty="0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ufficio</a:t>
            </a: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nella frase seguente: </a:t>
            </a:r>
            <a:r>
              <a:rPr lang="it-IT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office </a:t>
            </a:r>
            <a:r>
              <a:rPr lang="it-IT" sz="18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furniture</a:t>
            </a:r>
            <a:r>
              <a:rPr lang="it-IT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(mobili per ufficio).</a:t>
            </a:r>
          </a:p>
        </p:txBody>
      </p:sp>
      <p:grpSp>
        <p:nvGrpSpPr>
          <p:cNvPr id="36" name="Gruppo 35" descr="Piccolo cerchio con il numero 2 all'interno che indica il passaggio 2"/>
          <p:cNvGrpSpPr/>
          <p:nvPr/>
        </p:nvGrpSpPr>
        <p:grpSpPr bwMode="blackWhite">
          <a:xfrm>
            <a:off x="4249102" y="5233381"/>
            <a:ext cx="558179" cy="409838"/>
            <a:chOff x="6953426" y="711274"/>
            <a:chExt cx="558179" cy="409838"/>
          </a:xfrm>
        </p:grpSpPr>
        <p:sp>
          <p:nvSpPr>
            <p:cNvPr id="37" name="Ovale 36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38" name="Casella di testo 37" descr="Numero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Segnaposto contenuto 17"/>
          <p:cNvSpPr txBox="1">
            <a:spLocks/>
          </p:cNvSpPr>
          <p:nvPr/>
        </p:nvSpPr>
        <p:spPr>
          <a:xfrm>
            <a:off x="4747855" y="5273573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Scegli </a:t>
            </a:r>
            <a:r>
              <a:rPr lang="it-IT" sz="1100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Ricerca</a:t>
            </a:r>
            <a:r>
              <a:rPr lang="it-IT" sz="1100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 </a:t>
            </a:r>
            <a:r>
              <a:rPr lang="it-IT" sz="1100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intelligente</a:t>
            </a:r>
            <a:r>
              <a:rPr lang="it-IT" sz="1100" dirty="0">
                <a:latin typeface="Segoe UI" panose="020B0502040204020203" pitchFamily="34" charset="0"/>
                <a:cs typeface="Segoe UI" panose="020B0502040204020203" pitchFamily="34" charset="0"/>
              </a:rPr>
              <a:t> e nota che i risultati sono contestuali per questa frase, non per le </a:t>
            </a:r>
            <a:r>
              <a:rPr lang="it-IT" sz="1800" dirty="0">
                <a:latin typeface="Segoe UI" panose="020B0502040204020203" pitchFamily="34" charset="0"/>
                <a:cs typeface="Segoe UI" panose="020B0502040204020203" pitchFamily="34" charset="0"/>
              </a:rPr>
              <a:t>app di Microsoft Office</a:t>
            </a:r>
            <a:r>
              <a:rPr lang="it-IT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it-IT" dirty="0">
              <a:solidFill>
                <a:srgbClr val="D2472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9" name="Gruppo 38" descr="Piccolo cerchio con il numero 3 all'interno che indica il passaggio 3"/>
          <p:cNvGrpSpPr/>
          <p:nvPr/>
        </p:nvGrpSpPr>
        <p:grpSpPr bwMode="blackWhite">
          <a:xfrm>
            <a:off x="7930921" y="5233381"/>
            <a:ext cx="558179" cy="409838"/>
            <a:chOff x="6953426" y="711274"/>
            <a:chExt cx="558179" cy="409838"/>
          </a:xfrm>
        </p:grpSpPr>
        <p:sp>
          <p:nvSpPr>
            <p:cNvPr id="40" name="Ovale 39" descr="Piccolo cerchio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/>
            </a:p>
          </p:txBody>
        </p:sp>
        <p:sp>
          <p:nvSpPr>
            <p:cNvPr id="41" name="Casella di testo 40" descr="Numero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0"/>
              <a:r>
                <a:rPr lang="it-IT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Segnaposto contenuto 17"/>
          <p:cNvSpPr txBox="1">
            <a:spLocks/>
          </p:cNvSpPr>
          <p:nvPr/>
        </p:nvSpPr>
        <p:spPr>
          <a:xfrm>
            <a:off x="8429668" y="5273573"/>
            <a:ext cx="3107336" cy="1341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spcAft>
                <a:spcPts val="2000"/>
              </a:spcAft>
              <a:buNone/>
            </a:pPr>
            <a:r>
              <a:rPr lang="it-IT" sz="1100">
                <a:latin typeface="Segoe UI" panose="020B0502040204020203" pitchFamily="34" charset="0"/>
                <a:cs typeface="Segoe UI" panose="020B0502040204020203" pitchFamily="34" charset="0"/>
              </a:rPr>
              <a:t>Ora prova a usare di nuovo Ricerca intelligente facendo clic con il pulsante destro del mouse sulla parola </a:t>
            </a:r>
            <a:r>
              <a:rPr lang="it-IT" sz="1100" i="1">
                <a:solidFill>
                  <a:srgbClr val="D247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Office</a:t>
            </a:r>
            <a:r>
              <a:rPr lang="it-IT" sz="1100"/>
              <a:t> </a:t>
            </a:r>
            <a:r>
              <a:rPr lang="it-IT" sz="1100">
                <a:latin typeface="Segoe UI" panose="020B0502040204020203" pitchFamily="34" charset="0"/>
                <a:cs typeface="Segoe UI" panose="020B0502040204020203" pitchFamily="34" charset="0"/>
              </a:rPr>
              <a:t>nel passaggio 2.</a:t>
            </a:r>
          </a:p>
          <a:p>
            <a:pPr marL="0" indent="0" rtl="0">
              <a:spcAft>
                <a:spcPts val="2000"/>
              </a:spcAft>
              <a:buNone/>
            </a:pPr>
            <a:endParaRPr lang="it-IT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>
                <a:latin typeface="Segoe UI Light" panose="020B0502040204020203" pitchFamily="34" charset="0"/>
                <a:cs typeface="Segoe UI Light" panose="020B0502040204020203" pitchFamily="34" charset="0"/>
              </a:rPr>
              <a:t>Altre domande su PowerPoint?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half" idx="4294967295"/>
          </p:nvPr>
        </p:nvSpPr>
        <p:spPr>
          <a:xfrm>
            <a:off x="541611" y="2614427"/>
            <a:ext cx="9442648" cy="3978275"/>
          </a:xfrm>
        </p:spPr>
        <p:txBody>
          <a:bodyPr rtlCol="0">
            <a:normAutofit/>
          </a:bodyPr>
          <a:lstStyle/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r>
              <a:rPr lang="it-IT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Seleziona il pulsante </a:t>
            </a:r>
            <a:r>
              <a:rPr lang="it-IT" sz="2000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Aiutami                   </a:t>
            </a:r>
            <a:r>
              <a:rPr lang="it-IT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e digita cosa vuoi sapere.</a:t>
            </a:r>
            <a:br>
              <a:rPr lang="it-IT" sz="2000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endParaRPr lang="it-IT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r>
              <a:rPr lang="it-IT" sz="2000" u="sng" dirty="0">
                <a:latin typeface="Segoe UI Light" panose="020B0502040204020203" pitchFamily="34" charset="0"/>
                <a:cs typeface="Segoe UI Light" panose="020B0502040204020203" pitchFamily="34" charset="0"/>
                <a:hlinkClick r:id="rId3" tooltip="Visita il blog del team di PowerPoint"/>
              </a:rPr>
              <a:t>Visita il blog del team di PowerPoint</a:t>
            </a:r>
            <a:endParaRPr lang="it-IT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it-IT" sz="2000" dirty="0">
                <a:latin typeface="Segoe UI Light" panose="020B0502040204020203" pitchFamily="34" charset="0"/>
                <a:cs typeface="Segoe UI Light" panose="020B0502040204020203" pitchFamily="34" charset="0"/>
                <a:hlinkClick r:id="rId4" tooltip="Vai alla formazione gratuita su PowerPoint"/>
              </a:rPr>
              <a:t>Vai alla formazione gratuita su PowerPoint</a:t>
            </a:r>
            <a:endParaRPr lang="it-IT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endParaRPr lang="it-IT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endParaRPr lang="it-IT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Immagine 1" descr="Pulsante Aiutami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84341" y="2350333"/>
            <a:ext cx="1268511" cy="1189747"/>
          </a:xfrm>
          <a:prstGeom prst="rect">
            <a:avLst/>
          </a:prstGeom>
        </p:spPr>
      </p:pic>
      <p:pic>
        <p:nvPicPr>
          <p:cNvPr id="8" name="Immagine 7" descr="Freccia rivolta a destra con un collegamento ipertestuale al blog del team di PowerPoint. Seleziona l'immagine per visitare il blog del team di PowerPoint ">
            <a:hlinkClick r:id="rId3" tooltip="Fai clic qui per visitare il blog del team di PowerPoint.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782" y="3566804"/>
            <a:ext cx="661940" cy="661940"/>
          </a:xfrm>
          <a:prstGeom prst="rect">
            <a:avLst/>
          </a:prstGeom>
        </p:spPr>
      </p:pic>
      <p:pic>
        <p:nvPicPr>
          <p:cNvPr id="7" name="Immagine 6" descr="Freccia rivolta a destra con un collegamento ipertestuale alla formazione gratuita su PowerPoint. Seleziona l'immagine per accedere alle risorse di formazione gratuita su PowerPoint">
            <a:hlinkClick r:id="rId4" tooltip="Fai clic qui per passare a un corso di formazione gratuito su PowerPoint.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782" y="4252716"/>
            <a:ext cx="661940" cy="661940"/>
          </a:xfrm>
          <a:prstGeom prst="rect">
            <a:avLst/>
          </a:prstGeom>
        </p:spPr>
      </p:pic>
      <p:sp>
        <p:nvSpPr>
          <p:cNvPr id="9" name="Casella di testo 8"/>
          <p:cNvSpPr txBox="1"/>
          <p:nvPr/>
        </p:nvSpPr>
        <p:spPr>
          <a:xfrm>
            <a:off x="541611" y="5738132"/>
            <a:ext cx="6193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it-IT" sz="1400">
                <a:latin typeface="Segoe UI Light" panose="020B0502040204020203" pitchFamily="34" charset="0"/>
                <a:cs typeface="Segoe UI Light" panose="020B0502040204020203" pitchFamily="34" charset="0"/>
              </a:rPr>
              <a:t>SELEZIONA LA FRECCIA IN MODALITÀ PRESENTAZIONE</a:t>
            </a:r>
          </a:p>
        </p:txBody>
      </p:sp>
      <p:pic>
        <p:nvPicPr>
          <p:cNvPr id="11" name="Immagine 10" descr="Suggerimenti della casella Aiutami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04411" y="2782852"/>
            <a:ext cx="2476156" cy="146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Personalizzat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1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{49C0B763-74DD-417B-835E-38E44A48F24F}TF2989475c-5427-4edb-9ec1-00f4ce72165bc3308f2f_win32-b56acaa4bd9f</Template>
  <TotalTime>2</TotalTime>
  <Words>632</Words>
  <Application>Microsoft Office PowerPoint</Application>
  <PresentationFormat>Widescreen</PresentationFormat>
  <Paragraphs>73</Paragraphs>
  <Slides>10</Slides>
  <Notes>9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Segoe UI</vt:lpstr>
      <vt:lpstr>Segoe UI Light</vt:lpstr>
      <vt:lpstr>Segoe UI Semibold</vt:lpstr>
      <vt:lpstr>Personalizzata</vt:lpstr>
      <vt:lpstr>Presentazione standard di PowerPoint</vt:lpstr>
      <vt:lpstr>Benvenuto in PowerPoint</vt:lpstr>
      <vt:lpstr>Comunica al meglio le tue idee con Designer</vt:lpstr>
      <vt:lpstr>Come usare PowerPoint Designer</vt:lpstr>
      <vt:lpstr>Morphing</vt:lpstr>
      <vt:lpstr>Configurazione del morphing</vt:lpstr>
      <vt:lpstr>Collaborazione in tempo reale</vt:lpstr>
      <vt:lpstr>Con Aiutami diventi subito un esperto</vt:lpstr>
      <vt:lpstr>Esplora senza uscire dalle diapositive</vt:lpstr>
      <vt:lpstr>Altre domande su PowerPoint?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Novembre Matteo</dc:creator>
  <cp:keywords/>
  <cp:lastModifiedBy>Novembre Matteo</cp:lastModifiedBy>
  <cp:revision>1</cp:revision>
  <dcterms:created xsi:type="dcterms:W3CDTF">2026-02-10T08:58:59Z</dcterms:created>
  <dcterms:modified xsi:type="dcterms:W3CDTF">2026-02-12T15:17:09Z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f4bb52-9e9d-4296-940a-59002820a53c_Enabled">
    <vt:lpwstr>true</vt:lpwstr>
  </property>
  <property fmtid="{D5CDD505-2E9C-101B-9397-08002B2CF9AE}" pid="3" name="MSIP_Label_5bf4bb52-9e9d-4296-940a-59002820a53c_SetDate">
    <vt:lpwstr>2026-02-10T08:59:04Z</vt:lpwstr>
  </property>
  <property fmtid="{D5CDD505-2E9C-101B-9397-08002B2CF9AE}" pid="4" name="MSIP_Label_5bf4bb52-9e9d-4296-940a-59002820a53c_Method">
    <vt:lpwstr>Standard</vt:lpwstr>
  </property>
  <property fmtid="{D5CDD505-2E9C-101B-9397-08002B2CF9AE}" pid="5" name="MSIP_Label_5bf4bb52-9e9d-4296-940a-59002820a53c_Name">
    <vt:lpwstr>5bf4bb52-9e9d-4296-940a-59002820a53c</vt:lpwstr>
  </property>
  <property fmtid="{D5CDD505-2E9C-101B-9397-08002B2CF9AE}" pid="6" name="MSIP_Label_5bf4bb52-9e9d-4296-940a-59002820a53c_SiteId">
    <vt:lpwstr>cbeb3ecc-6f45-4183-b5a8-088140deae5d</vt:lpwstr>
  </property>
  <property fmtid="{D5CDD505-2E9C-101B-9397-08002B2CF9AE}" pid="7" name="MSIP_Label_5bf4bb52-9e9d-4296-940a-59002820a53c_ActionId">
    <vt:lpwstr>9bd776d6-2229-4162-bb44-1f1203df74e0</vt:lpwstr>
  </property>
  <property fmtid="{D5CDD505-2E9C-101B-9397-08002B2CF9AE}" pid="8" name="MSIP_Label_5bf4bb52-9e9d-4296-940a-59002820a53c_ContentBits">
    <vt:lpwstr>0</vt:lpwstr>
  </property>
  <property fmtid="{D5CDD505-2E9C-101B-9397-08002B2CF9AE}" pid="9" name="MSIP_Label_5bf4bb52-9e9d-4296-940a-59002820a53c_Tag">
    <vt:lpwstr>10, 3, 0, 1</vt:lpwstr>
  </property>
</Properties>
</file>