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UNITA'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Architettura e strumenti di accesso - Parte 2 (4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1470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1A3C6E"/>
                </a:solidFill>
                <a:latin typeface="Segoe UI"/>
              </a:rPr>
              <a:t>Architettura e strumenti di accesso -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Corso Cloud Specialist - ITS 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51202"/>
            <a:ext cx="996696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3000" b="0" i="0">
                <a:solidFill>
                  <a:srgbClr val="1A3C6E"/>
                </a:solidFill>
                <a:latin typeface="Segoe UI"/>
              </a:rPr>
              <a:t>Agenda (4 ore)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29052"/>
            <a:ext cx="9966960" cy="307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Paired regions e edge locations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Modello di responsabilità condivisa e SLA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Best practice di separazione (resource group)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ARM: scope e idempotenza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Cloud Shell e Azure PowerShell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Blueprint vs template</a:t>
            </a:r>
          </a:p>
          <a:p>
            <a:pPr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Panoramica servizi core e PaaS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Paired Regions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Ogni regione Azure ha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regione associata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(paired) nello stesso continente.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Regione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Paired Region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West Europe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(Paesi Bassi)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North Europe (Irlanda)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France Central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(Parigi)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France South (Marsiglia)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East 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West 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7592"/>
            <a:ext cx="9966960" cy="234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Italy North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(Milano) non ha una paired region locale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Disaster recovery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se una regione cade, la paired prende il carico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Aggiornamenti sequenziali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Azure aggiorna una regione alla volta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Edge Locations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Punti di presenza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vicini agli utenti finali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fuori dai data center principali.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Concetto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fa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238455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Azure CDN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238455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Cache di contenuti statici vicino all'utente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305308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Azure Front Door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305308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Routing globale, accelerazione, WAF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351028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Azure Edge Zones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351028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Compute a bassa latenza in prossimità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58920"/>
            <a:ext cx="9966960" cy="110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Bassa latenza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gaming, streaming, IoT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Distribuzione globale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immagini, video, file statici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Modello di responsabilità condivisa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Chi gestisce cosa dipende dal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modello di servizio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scelto.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927352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Livello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4038447" y="1927352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IaaS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927352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PaaS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53247" y="1927352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SaaS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2384552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Dati e accessi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8447" y="2384552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384552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3247" y="2384552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7" y="2841752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Applicazione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38447" y="2841752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2841752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3247" y="2841752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Provider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1047" y="3298952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Runtime / 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38447" y="3298952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5847" y="3298952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Provider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3247" y="3298952"/>
            <a:ext cx="2057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Provider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1047" y="3756152"/>
            <a:ext cx="20574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Infrastruttura fisica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8447" y="3756152"/>
            <a:ext cx="20574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Provider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3756152"/>
            <a:ext cx="20574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Provider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3247" y="3756152"/>
            <a:ext cx="20574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Provider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516120"/>
            <a:ext cx="9966960" cy="148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IaaS a SaaS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la responsabilità si sposta verso il provider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Sempre tua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dati, account, identità, dispositivi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SLA e disponibilità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SLA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(Service Level Agreement) è la garanzia di uptime di un servizio.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927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SLA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4247" y="1927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Downtime annuo</a:t>
            </a:r>
          </a:p>
        </p:txBody>
      </p:sp>
      <p:sp>
        <p:nvSpPr>
          <p:cNvPr id="7" name="Rectangle 6"/>
          <p:cNvSpPr/>
          <p:nvPr/>
        </p:nvSpPr>
        <p:spPr>
          <a:xfrm>
            <a:off x="7467447" y="1927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Esempio servizio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3845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99.9%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23845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~8.7 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67447" y="23845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App Service, SQL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28417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99.95%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4247" y="28417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~4.4 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67447" y="28417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VM singola (Premium SSD)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7" y="32989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99.99%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247" y="32989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~52 minuti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67447" y="32989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VM in Availability Zones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47592"/>
            <a:ext cx="9966960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3000" b="0" i="0">
                <a:solidFill>
                  <a:srgbClr val="C0392B"/>
                </a:solidFill>
                <a:latin typeface="Segoe UI"/>
              </a:rPr>
              <a:t>Come si calcola lo SLA composto?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25442"/>
            <a:ext cx="9966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Due servizi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sequenza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SLA1 x SLA2 (es. 99.9% x 99.9% = 99.8%)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Per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aumentare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lo SLA: ridondanza, zone, paired regions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Nessun SLA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i servizi del tier gratuito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Best practice: separazione dei Resource Group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Non mettere tutto in un unico RG. Separare per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scopo e ciclo di vita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6588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Criterio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6588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Esempio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1160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Per ambiente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1160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rg-app-dev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1600" b="0" i="0">
                <a:solidFill>
                  <a:srgbClr val="333333"/>
                </a:solidFill>
                <a:latin typeface="Consolas"/>
              </a:rPr>
              <a:t>rg-app-prod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35732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Per applicazione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35732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rg-webapp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1600" b="0" i="0">
                <a:solidFill>
                  <a:srgbClr val="333333"/>
                </a:solidFill>
                <a:latin typeface="Consolas"/>
              </a:rPr>
              <a:t>rg-api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1600" b="0" i="0">
                <a:solidFill>
                  <a:srgbClr val="333333"/>
                </a:solidFill>
                <a:latin typeface="Consolas"/>
              </a:rPr>
              <a:t>rg-database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40304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Per ciclo di vita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403047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Risorse temporanee in un RG a parte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79112"/>
            <a:ext cx="9966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Risorse che si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creano e cancellano insieme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nello stesso RG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Ambienti diversi in RG diversi (mai dev e prod insieme)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permessi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(RBAC) si assegnano a livello di RG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ARM: scope e idempotenza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Ogni operazione ARM avviene a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livello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(scope) preciso: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contiene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Management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Raggruppa subscription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Subscription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Fatturazione e limiti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Resource Group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Contenitore logico di risorse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7" y="37561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Risorsa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37561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Il singolo servizio (VM, DB, 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04792"/>
            <a:ext cx="9966960" cy="1457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1" i="0">
                <a:solidFill>
                  <a:srgbClr val="111111"/>
                </a:solidFill>
                <a:latin typeface="Segoe UI"/>
              </a:rPr>
              <a:t>Idempotenza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stesso template eseguito 2 volte =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stesso risultato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 Se la risorsa esiste, ARM la aggiorna (non la duplica). Template come fonte di verità (IaC).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Cloud Shell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Terminale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nel browser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integrato nel portale Azure (icona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&gt;_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Caratteristica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Dettaglio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Accesso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Dal portale, zero installazione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Linguaggi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Bash o PowerShell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Preinstallato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Azure CLI, PowerShell, Git, Terraform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7" y="37561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Storage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37561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File persistenti su File Share (5 GB)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04792"/>
            <a:ext cx="9966960" cy="110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vuoi installare nulla sul tuo PC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Sei su un PC non tuo (laboratorio, aula)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Azure PowerShell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Modulo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per PowerShell: stesse operazioni della CLI, sintassi PowerShell.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Azure CLI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Azure PowerShell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az group create --name rg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New-AzResourceGroup -Name rg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az vm list --output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Get-AzVM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az group delete --name 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Consolas"/>
              </a:rPr>
              <a:t>Remove-AzResourceGroup -Name rg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7592"/>
            <a:ext cx="9966960" cy="234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CLI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az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): sintassi breve, cross-platform, popolare tra dev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PowerShell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Az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): pipeline e oggetti, familiare a sysadmin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Entrambi passano da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ARM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stesso risultato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Blueprint vs Template ARM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4724247" y="9418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Template ARM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467447" y="94183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Azure Blueprint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139903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Cos'è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247" y="139903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File JSON per creare risorse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467447" y="139903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Pacchetto di governance completo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06756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Contiene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206756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Risorse e parametri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67447" y="206756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Template + policy + RBAC + RG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7" y="273608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Scope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4247" y="273608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Resource group o subscription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67447" y="273608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Subscription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1047" y="3404616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Scopo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24247" y="3404616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Deploy ripetibile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67447" y="3404616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Ambiente compliant "chiavi in mano"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64584"/>
            <a:ext cx="9966960" cy="148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Template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"crea queste risorse con questi parametri"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Blueprint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"prepara un ambiente con risorse, regole e permessi"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Servizi core: Compute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Risorse che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eseguono codice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546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Servizio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4247" y="1546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Tipo</a:t>
            </a:r>
          </a:p>
        </p:txBody>
      </p:sp>
      <p:sp>
        <p:nvSpPr>
          <p:cNvPr id="7" name="Rectangle 6"/>
          <p:cNvSpPr/>
          <p:nvPr/>
        </p:nvSpPr>
        <p:spPr>
          <a:xfrm>
            <a:off x="7467447" y="1546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Quando usarlo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00355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Virtual Machine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200355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IaaS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67447" y="2003552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Controllo totale su OS e software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267208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App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4247" y="267208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PaaS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67447" y="2672080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Web app senza gestire 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7" y="334060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Functions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247" y="334060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PaaS serverless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67447" y="3340608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Codice a evento, pay-per-execution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1047" y="4009136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Container Instances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4247" y="4009136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PaaS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67447" y="4009136"/>
            <a:ext cx="27432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Container singoli, avvio rapido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1047" y="4677664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24247" y="4677664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PaaS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67447" y="4677664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Orchestrazione Kubernetes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26304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Da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Functions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meno controllo, meno gestione, più automazione.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Servizi core: Storage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Risorse che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conservano dati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546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Servizio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4247" y="1546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memorizza</a:t>
            </a:r>
          </a:p>
        </p:txBody>
      </p:sp>
      <p:sp>
        <p:nvSpPr>
          <p:cNvPr id="7" name="Rectangle 6"/>
          <p:cNvSpPr/>
          <p:nvPr/>
        </p:nvSpPr>
        <p:spPr>
          <a:xfrm>
            <a:off x="7467447" y="1546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Esempio d'uso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0035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Blob Storage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4247" y="20035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File non strutturati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67447" y="20035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Immagini, video, backup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24607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File Share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24247" y="24607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File condivisi (SMB/NFS)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67447" y="24607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Cartelle di rete in cloud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7" y="29179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Queue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4247" y="29179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Messaggi in coda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67447" y="29179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Comunicazione tra servizi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1047" y="33751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Table Storage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4247" y="33751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Dati NoSQL chiave-valore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67447" y="33751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Log, dati semplici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1047" y="3832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24247" y="3832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Dischi per VM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67447" y="3832352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OS disk, data disk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80992"/>
            <a:ext cx="9966960" cy="148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Tutto dentro uno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Storage Account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(nome unico globale)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Livelli di accesso: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Hot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Cool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Archive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(costo vs velocità)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Servizi core: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69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Risorse che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connettono e proteggono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546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Servizio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1546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fa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2003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Virtual Network (VNet)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2003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Rete privata in 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2460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Subnet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2460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Segmento dentro una VNet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2917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NSG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2917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Firewall a livello di subnet/NIC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7" y="33751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Load Balancer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33751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Distribuisce traffico tra VM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81047" y="3832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VPN Gateway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3832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Connette rete on-premise ad Azure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1047" y="4289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Application Gateway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5847" y="4289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Load balancer HTTP con WAF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38192"/>
            <a:ext cx="9966960" cy="110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Ogni VM si collega a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VNet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tramite una NIC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NSG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filtrano il traffico con regole allow/deny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Servizi PaaS in dettaglio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107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PaaS: tu scrivi il codice, Azure gestisce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tutto il resto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Servizio PaaS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1927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risolve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App Service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23845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Hosting web/API (deploy da Git o ZIP)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10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Azure SQL Database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28417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DB relazionale gestito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10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Cosmos 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32989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DB NoSQL distribuito globalmente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81047" y="37561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Functions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37561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Codice a evento (serverless)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81047" y="4213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Cache for Redis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4213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Cache in memoria per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61992"/>
            <a:ext cx="9966960" cy="1102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Zero patching OS, scaling automatico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Deploy più veloce, focus su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business logic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Riepilogo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Concetto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ricordare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Paired Regions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Disaster recovery, aggiornamenti sequenziali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06756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Edge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206756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CDN e Front Door per bassa latenza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5247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Responsabilità condivisa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52476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IaaS: gestisci di più, SaaS: gestisci meno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047" y="31932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31932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% uptime garantita, composto = prodotto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1047" y="36504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Separazione RG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36504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Per ambiente, app o ciclo di vita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1047" y="41076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ARM Scope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5847" y="41076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Management Group &gt; Sub &gt; RG &gt; Risorsa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81047" y="45648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Idempotenza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5847" y="45648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Stesso template, stesso risultato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1047" y="50220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Cloud Shell / PowerShell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5847" y="50220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Strumenti alternativi alla CLI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81047" y="54792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Blueprint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54792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Ambiente compliant chiavi in mano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81047" y="59364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Compute / Storage / Network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5847" y="5936488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I tre pilastri di ogni soluzione cloud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