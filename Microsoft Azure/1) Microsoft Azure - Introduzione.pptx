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43DA21-D80F-4662-8852-DABA19D1560D}" v="3" dt="2026-03-20T13:20:54.6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magine 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51836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51836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302128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UNITA'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302128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52420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52420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Introduzione (4 ore)</a:t>
            </a:r>
          </a:p>
        </p:txBody>
      </p:sp>
      <p:pic>
        <p:nvPicPr>
          <p:cNvPr id="9" name="Picture 8" descr="Logo ITS 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4164282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1A3C6E"/>
                </a:solidFill>
                <a:latin typeface="Segoe UI"/>
              </a:rPr>
              <a:t>Microsoft Azure — Introduzione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399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Corso Cloud Specialist · ITS ICT</a:t>
            </a:r>
          </a:p>
          <a:p>
            <a:pPr>
              <a:spcBef>
                <a:spcPts val="1600"/>
              </a:spcBef>
            </a:pPr>
            <a:r>
              <a:rPr sz="3000" b="0" i="0">
                <a:solidFill>
                  <a:srgbClr val="1A3C6E"/>
                </a:solidFill>
                <a:latin typeface="Segoe UI"/>
              </a:rPr>
              <a:t>Cosa faremo in 100 ore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Sostenibilità e IT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smart working, smart grid, sensori, RAEE, economia circolare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Fondamenti di Azure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regioni, responsabilità condivisa, ARM, strumenti di accesso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Identity &amp; Governance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Entra ID, MFA, RBAC, PIM, Azure Policy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Reti su Azure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VNet, NSG, VPN, ExpressRoute, Load Balancer, Firewall, Bastion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Compute &amp; Container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VM, App Service, AKS, Functions, ottimizzazione costi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Storage, Data &amp; Integration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Blob, File, database gestiti, Cosmos DB, Data Factory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Security &amp; Business Continuity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Defender for Cloud, Key Vault, backup, DR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DevOps, IaC &amp; Monitoraggio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— ARM/Bicep, Terraform, CI/CD, Monitor, Cost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Oggi: introduzione (4 ore)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284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Perché questo corso esiste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IT e sostenibilità: il contesto normativo e tecnologico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Smart working, smart grid, sensori ambientali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Economia circolare e gestione RAEE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Dal data center al cloud: il collegamento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Cos'è il cloud, come funziona, chi lo offre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Primo sguardo ad Azure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Perché un corso su Azure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234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cloud è l'infrastruttura standard per aziende di ogni dimensione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Le competenze cloud sono tra le più richieste nel mercato IT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Azure è la piattaforma cloud di Microsoft — la seconda per quota di mercato globale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Cloud Specialist deve saper progettare, distribuire e gestire servizi su Azure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100 ore: dall'architettura di base fino a DevOps e gestione dei costi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IT e sostenibilità: il quadro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234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L'Unione Europea ha fissato obiettivi di riduzione delle emissioni al 2030 e 2050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settore IT è responsabile di circa il 2-4% delle emissioni globali di CO₂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Allo stesso tempo, l'IT è uno strumento per ridurre consumi ed emissioni in altri settori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normativa europea (Green Deal, CSRD, tassonomia) impone obblighi di rendicontazione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Per un tecnico IT, capire questo contesto non è opzionale: è parte del lavoro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Smart working: tecnologie e impatto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277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Lavorare da remoto richiede infrastruttura IT: VPN, strumenti di collaborazione, sicurezza degli endpoint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Riduce spostamenti, quindi emissioni da trasporto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Richiede connettività affidabile e gestione centralizzata dei dispositivi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Strumenti tipici: Microsoft 365, Teams, VDI (Virtual Desktop Infrastructure)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Lato IT: il perimetro di sicurezza si sposta dall'ufficio al singolo dispositivo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cloud abilita lo smart working perché i servizi sono raggiungibili ovunque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Smart grid: la gestione IT delle reti energetiche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79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783079"/>
            <a:ext cx="9966960" cy="234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smart grid è una rete elettrica che usa sensori, comunicazione e software per gestire la distribuzione dell'energia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L'IT serve a raccogliere dati dai contatori, prevedere i consumi, bilanciare domanda e offerta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Tecnologie coinvolte: protocolli di comunicazione (MQTT, AMQP), piattaforme IoT, database time-series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cloud fornisce la capacità di calcolo e archiviazione necessaria per elaborare grandi volumi di dati in tempo reale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 Italia: il contatore elettronico di seconda generazione (2G) è un esempio concreto di smart metering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Sensori in rete per il monitoraggio ambientale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79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783079"/>
            <a:ext cx="9966960" cy="277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Sensori distribuiti misurano qualità dell'aria, temperatura, umidità, livello delle acque, rumore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dati vengono trasmessi via rete (LoRaWAN, NB-IoT, 4G/5G) a piattaforme centrali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ruolo dell'IT: raccolta, validazione, archiviazione, visualizzazione e alerting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Volumi di dati potenzialmente molto alti → servono soluzioni scalabili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cloud è la scelta naturale: si paga in base all'uso, si scala con la domanda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Servizi Azure coinvolti: IoT Hub, Stream Analytics, Azure Maps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Economia circolare: principi fondamentali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323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Modello lineare: estrai → produci → usa → butta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Modello circolare: progetta per durare, ripara, riusa, ricicla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La normativa UE spinge verso la circolarità (Regolamento Ecodesign, Direttiva Right to Repair)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Per l'IT questo significa: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Progettare software che giri su hardware meno recente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Prolungare la vita utile dei dispositivi con aggiornamenti e manutenzione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Scegliere fornitori cloud che usino energia rinnovabile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Monitorare e ridurre il consumo delle risorse computazionali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Estendere la vita utile di prodotti e componenti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79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783079"/>
            <a:ext cx="9966960" cy="277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server fisico ha una vita utile media di 4-5 anni; spesso viene dismesso prima del necessario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ricondizionamento (refurbishing) è una pratica consolidata per PC, monitor, smartphone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Lato software: supporto a lungo termine (LTS), compatibilità con hardware datato, aggiornamenti di sicurezza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virtualizzazione ha già allungato la vita dei server: più carichi su meno macchine fisiche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cloud porta questo concetto oltre: il fornitore gestisce il ciclo di vita dell'hardware, il cliente usa solo il servizio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Microsoft ha programmi di riuso e riciclo per l'hardware dei propri data center (Circular Centers)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RAEE: gestione dei rifiuti elettronici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284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RAEE = Rifiuti di Apparecchiature Elettriche ed Elettroniche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In Italia la normativa di riferimento è il D.Lgs. 49/2014, che recepisce la Direttiva 2012/19/UE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 produttori hanno l'obbligo di finanziare raccolta e smaltimento (responsabilità estesa del produttore)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 rifiuti IT contengono materiali preziosi (oro, rame, terre rare) ma anche sostanze pericolose (piombo, mercurio)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Lo smaltimento corretto richiede centri autorizzati e tracciabilità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Per chi lavora nell'IT: ogni dismissione di hardware deve seguire queste regole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passaggio al cloud riduce la quantità di hardware da gestire localmente, ma non elimina il problema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Dal data center al cloud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284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Tradizionalmente ogni azienda gestiva i propri server in un locale tecnico o in un data center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Questo significa: acquisto hardware, alimentazione, raffreddamento, manutenzione, personale dedicato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Problemi: costi fissi alti, capacità spesso sovradimensionata, tempi lunghi per scalare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cloud computing sposta tutto questo presso un fornitore esterno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cliente usa i servizi via rete e paga in base al consumo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fornitore gestisce hardware, alimentazione, rete, sicurezza fisica, aggiornamenti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Non è una novità: il modello esiste dagli anni 2000, ma è diventato dominante nell'ultimo decennio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Cos'è il cloud in pratica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399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Un insieme di data center distribuiti nel mondo, gestiti da un fornitore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cliente accede a risorse (server, storage, database, reti) tramite Internet o connessioni dedicate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Le risorse si creano e si eliminano in minuti, non in settimane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Si paga a consumo (pay-as-you-go) oppure con impegni a 1-3 anni per risparmiare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Cinque caratteristiche essenziali (definizione NIST):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Self-service on demand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Accesso via rete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Pool di risorse condivise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Elasticità rapida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Servizio misurabile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 tre modelli di servizio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409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IaaS — Infrastructure as a Service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Il fornitore offre macchine virtuali, rete, storage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Il cliente gestisce sistema operativo, applicazioni, dati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Massima flessibilità, massima responsabilità</a:t>
            </a:r>
          </a:p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PaaS — Platform as a Service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Il fornitore gestisce anche il sistema operativo e il runtime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Il cliente distribuisce il proprio codice o le proprie configurazioni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Meno controllo, meno lavoro di gestione</a:t>
            </a:r>
          </a:p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SaaS — Software as a Service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Il fornitore offre l'applicazione pronta all'uso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Il cliente la usa e basta (es. Microsoft 365, Gmail)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Cloud pubblico, privato, ibrido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445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Cloud pubblico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Risorse condivise tra più clienti, gestite dal fornitore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Nessun investimento iniziale in hardware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Adatto alla maggior parte dei carichi di lavoro</a:t>
            </a:r>
          </a:p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Cloud privato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Infrastruttura dedicata a un singolo cliente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Può essere on-premises o ospitata presso un fornitore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Richiesto quando ci sono vincoli normativi o di sicurezza stringenti</a:t>
            </a:r>
          </a:p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Cloud ibrido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Combinazione di cloud pubblico e privato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I carichi si spostano tra i due ambienti in base alle esigenze</a:t>
            </a:r>
          </a:p>
          <a:p>
            <a:pPr>
              <a:spcBef>
                <a:spcPts val="6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•  È il modello più diffuso nelle grandi organizzazioni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Responsabilità condivisa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147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Nel cloud la sicurezza e la gestione sono divise tra fornitore e cliente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fornitore si occupa di: hardware, rete fisica, data center, hypervisor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cliente si occupa di: dati, identità, configurazione dei servizi, accessi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75844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Livello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4038447" y="275844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IaaS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275844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PaaS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53247" y="275844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SaaS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47" y="326136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Dati e accessi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38447" y="326136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Cliente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326136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Cliente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3247" y="326136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Cliente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1047" y="376428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Applicazione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38447" y="376428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Cliente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376428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Cliente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3247" y="376428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Fornitore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1047" y="426720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Sistema operativo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38447" y="426720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Cliente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5847" y="426720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Fornitore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3247" y="426720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Fornitore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81047" y="477012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Rete e infrastruttura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8447" y="477012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Fornitore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477012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Fornitore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3247" y="477012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Fornitore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81047" y="527304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Data center fisico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38447" y="527304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Fornitore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5847" y="527304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Fornitore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53247" y="5273040"/>
            <a:ext cx="20574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Fornitore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913120"/>
            <a:ext cx="9966960" cy="61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Regola pratica: più il servizio è gestito, meno responsabilità ha il cliente — ma meno controllo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Perché Azure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284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Seconda piattaforma cloud per quota di mercato globale (dopo AWS)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Integrazione nativa con l'ecosistema Microsoft: Active Directory, Windows Server, SQL Server, Microsoft 365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Presente in oltre 60 regioni nel mondo, con data center anche in Italia (Milano, dal 2020)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Offre oltre 200 servizi: compute, storage, database, AI, IoT, DevOps, sicurezza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Modello di licenza flessibile: pay-as-you-go, Reserved Instances, Savings Plans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Certificazioni di conformità: ISO 27001, SOC 1/2/3, GDPR, AgID (per la PA italiana)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Strumenti di gestione: portale web, CLI, PowerShell, SDK in tutti i linguaggi principali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L'ecosistema Azure: una mappa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277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Infrastruttura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Regioni, Availability Zones, resource group, subscription, tenant</a:t>
            </a:r>
          </a:p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Identità e sicurezza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Microsoft Entra ID, RBAC, Conditional Access, Key Vault, Defender for Cloud</a:t>
            </a:r>
          </a:p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Rete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Virtual Network, NSG, VPN Gateway, ExpressRoute, Load Balancer, Firewall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L'ecosistema Azure: una mappa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277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Compute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Virtual Machines, App Service, Azure Functions, Container Instances, AKS</a:t>
            </a:r>
          </a:p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Dati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Storage Account (Blob, File, Queue, Table), Azure SQL, PostgreSQL, Cosmos DB</a:t>
            </a:r>
          </a:p>
          <a:p>
            <a:pPr>
              <a:spcBef>
                <a:spcPts val="16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Gestione e automazione</a:t>
            </a:r>
          </a:p>
          <a:p>
            <a:pPr>
              <a:spcBef>
                <a:spcPts val="8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Azure Monitor, Log Analytics, ARM/Bicep, Terraform, Azure DevOps, Cost Management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Riepilogo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966960" cy="284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L'IT ha un ruolo attivo nella sostenibilità: smart working, smart grid, monitoraggio ambientale, gestione RAEE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L'economia circolare si applica anche ai prodotti IT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Il cloud computing sostituisce l'infrastruttura locale con servizi on-demand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Tre modelli di servizio: IaaS, PaaS, SaaS — ognuno con un diverso livello di responsabilità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Cloud pubblico, privato o ibrido in base alle esigenze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Azure è la piattaforma su cui lavoreremo per le restanti 96 ore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Nelle prossime lezioni: architettura Azure, identity, reti, compute, storage, sicurezza, DevOps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D3844844677248A11D434370108DE0" ma:contentTypeVersion="4" ma:contentTypeDescription="Create a new document." ma:contentTypeScope="" ma:versionID="5b0eea3af31be71aca1df104b0436d9e">
  <xsd:schema xmlns:xsd="http://www.w3.org/2001/XMLSchema" xmlns:xs="http://www.w3.org/2001/XMLSchema" xmlns:p="http://schemas.microsoft.com/office/2006/metadata/properties" xmlns:ns3="00787ea0-95af-4dcc-81c9-7e4493201ac7" targetNamespace="http://schemas.microsoft.com/office/2006/metadata/properties" ma:root="true" ma:fieldsID="9c09307386b77be89321767fdadfeebf" ns3:_="">
    <xsd:import namespace="00787ea0-95af-4dcc-81c9-7e4493201ac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787ea0-95af-4dcc-81c9-7e4493201ac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0645DE-F456-463E-AF92-2D4031799C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787ea0-95af-4dcc-81c9-7e4493201a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9D1438-97C6-4986-8FAE-85DDF558124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74D2D5-0A75-4836-91A9-62858F2C6288}">
  <ds:schemaRefs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dcmitype/"/>
    <ds:schemaRef ds:uri="http://purl.org/dc/terms/"/>
    <ds:schemaRef ds:uri="00787ea0-95af-4dcc-81c9-7e4493201ac7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1858</Words>
  <Application>Microsoft Office PowerPoint</Application>
  <PresentationFormat>Widescreen</PresentationFormat>
  <Paragraphs>184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4" baseType="lpstr">
      <vt:lpstr>Arial</vt:lpstr>
      <vt:lpstr>Calibri</vt:lpstr>
      <vt:lpstr>Segoe UI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Luca Tarallo</dc:creator>
  <cp:keywords/>
  <dc:description>generated using python-pptx</dc:description>
  <cp:lastModifiedBy>Luca Tarallo</cp:lastModifiedBy>
  <cp:revision>3</cp:revision>
  <dcterms:created xsi:type="dcterms:W3CDTF">2013-01-27T09:14:16Z</dcterms:created>
  <dcterms:modified xsi:type="dcterms:W3CDTF">2026-03-20T13:20:54Z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2026-03-20T13:20:18Z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d02caafd-d7d6-4ef9-970b-9350c6790fba</vt:lpwstr>
  </property>
  <property fmtid="{D5CDD505-2E9C-101B-9397-08002B2CF9AE}" pid="7" name="MSIP_Label_defa4170-0d19-0005-0004-bc88714345d2_ActionId">
    <vt:lpwstr>086a6092-9233-4c58-bf22-f49bf2b0ee4e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  <property fmtid="{D5CDD505-2E9C-101B-9397-08002B2CF9AE}" pid="10" name="ContentTypeId">
    <vt:lpwstr>0x0101004AD3844844677248A11D434370108DE0</vt:lpwstr>
  </property>
</Properties>
</file>