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F44101-378A-43BD-9866-43310C078E46}">
  <a:tblStyle styleId="{72F44101-378A-43BD-9866-43310C078E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ef3fe7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ef3fe7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869fd3a3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869fd3a3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821d91f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821d91f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21d91f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821d91f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821d91fd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821d91fd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821d91fd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821d91fd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821d91fd6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821d91fd6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821d91fd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821d91fd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821d91fd6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821d91fd6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869fd3a3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869fd3a3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69fd3a32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869fd3a32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8bea986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8bea986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69fd3a32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869fd3a32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869fd3a32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869fd3a32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mimit.gov.it/it/startup-innovativ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ovhcloud.com/" TargetMode="External"/><Relationship Id="rId4" Type="http://schemas.openxmlformats.org/officeDocument/2006/relationships/hyperlink" Target="https://www.ovhcloud.com/" TargetMode="External"/><Relationship Id="rId5" Type="http://schemas.openxmlformats.org/officeDocument/2006/relationships/hyperlink" Target="https://www.ovhcloud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11767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9025200" cy="53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it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Chi è il Tecnico Superiore System Administration - Cloud Specialist?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È il professionista responsabile della progettazione, configurazione e manutenzione di </a:t>
            </a:r>
            <a:r>
              <a:rPr lang="it">
                <a:solidFill>
                  <a:schemeClr val="dk1"/>
                </a:solidFill>
              </a:rPr>
              <a:t>infrastrutture IT complesse, con un focus specifico sugli ambienti Cloud.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Le sue competenze includono: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">
                <a:solidFill>
                  <a:schemeClr val="dk1"/>
                </a:solidFill>
              </a:rPr>
              <a:t>Gestione Infrastrutturale:</a:t>
            </a:r>
            <a:r>
              <a:rPr lang="it">
                <a:solidFill>
                  <a:schemeClr val="dk1"/>
                </a:solidFill>
              </a:rPr>
              <a:t> Amministrazione di server (Linux/Windows), reti virtuali e storage.</a:t>
            </a:r>
            <a:br>
              <a:rPr lang="it">
                <a:solidFill>
                  <a:schemeClr val="dk1"/>
                </a:solidFill>
              </a:rPr>
            </a:br>
            <a:r>
              <a:rPr lang="it">
                <a:solidFill>
                  <a:schemeClr val="dk1"/>
                </a:solidFill>
              </a:rPr>
              <a:t> 	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">
                <a:solidFill>
                  <a:schemeClr val="dk1"/>
                </a:solidFill>
              </a:rPr>
              <a:t>Continuità Operativa:</a:t>
            </a:r>
            <a:r>
              <a:rPr lang="it">
                <a:solidFill>
                  <a:schemeClr val="dk1"/>
                </a:solidFill>
              </a:rPr>
              <a:t> Implementazione di strategie di Backup e Disaster Recovery per garantire che i servizi non si fermino mai.</a:t>
            </a:r>
            <a:br>
              <a:rPr lang="it">
                <a:solidFill>
                  <a:schemeClr val="dk1"/>
                </a:solidFill>
              </a:rPr>
            </a:br>
            <a:r>
              <a:rPr lang="it">
                <a:solidFill>
                  <a:schemeClr val="dk1"/>
                </a:solidFill>
              </a:rPr>
              <a:t> 	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">
                <a:solidFill>
                  <a:schemeClr val="dk1"/>
                </a:solidFill>
              </a:rPr>
              <a:t>Sicurezza e Monitoraggio:</a:t>
            </a:r>
            <a:r>
              <a:rPr lang="it">
                <a:solidFill>
                  <a:schemeClr val="dk1"/>
                </a:solidFill>
              </a:rPr>
              <a:t> Protezione dei sistemi da intrusioni e gestione dei log per la tracciabilità degli accessi.</a:t>
            </a:r>
            <a:br>
              <a:rPr lang="it">
                <a:solidFill>
                  <a:schemeClr val="dk1"/>
                </a:solidFill>
              </a:rPr>
            </a:br>
            <a:r>
              <a:rPr lang="it">
                <a:solidFill>
                  <a:schemeClr val="dk1"/>
                </a:solidFill>
              </a:rPr>
              <a:t> 	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it">
                <a:solidFill>
                  <a:schemeClr val="dk1"/>
                </a:solidFill>
              </a:rPr>
              <a:t>Automazione e Scalabilità:</a:t>
            </a:r>
            <a:r>
              <a:rPr lang="it">
                <a:solidFill>
                  <a:schemeClr val="dk1"/>
                </a:solidFill>
              </a:rPr>
              <a:t> Utilizzo di strumenti per gestire le risorse in modo elastico in base al carico di lavoro.</a:t>
            </a:r>
            <a:br>
              <a:rPr lang="it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8990700" cy="44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Il "Luogo" del Dato e la Sovranità Digitale</a:t>
            </a:r>
            <a:endParaRPr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Il paradosso della nuvola:</a:t>
            </a:r>
            <a:r>
              <a:rPr lang="it" sz="1800">
                <a:solidFill>
                  <a:schemeClr val="dk1"/>
                </a:solidFill>
              </a:rPr>
              <a:t> I dati sono 	virtuali, ma i server sono fisici. Se i dati sono a Dublino, rispondo alla legge irlandese o italiana?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Trasferimento transfrontaliero:</a:t>
            </a:r>
            <a:r>
              <a:rPr lang="it" sz="1800">
                <a:solidFill>
                  <a:schemeClr val="dk1"/>
                </a:solidFill>
              </a:rPr>
              <a:t> Conoscere le norme è fondamentale per decidere in quale </a:t>
            </a:r>
            <a:r>
              <a:rPr i="1" lang="it" sz="1800">
                <a:solidFill>
                  <a:schemeClr val="dk1"/>
                </a:solidFill>
              </a:rPr>
              <a:t>Region</a:t>
            </a:r>
            <a:r>
              <a:rPr lang="it" sz="1800">
                <a:solidFill>
                  <a:schemeClr val="dk1"/>
                </a:solidFill>
              </a:rPr>
              <a:t> o </a:t>
            </a:r>
            <a:r>
              <a:rPr i="1" lang="it" sz="1800">
                <a:solidFill>
                  <a:schemeClr val="dk1"/>
                </a:solidFill>
              </a:rPr>
              <a:t>Data Center</a:t>
            </a:r>
            <a:r>
              <a:rPr lang="it" sz="1800">
                <a:solidFill>
                  <a:schemeClr val="dk1"/>
                </a:solidFill>
              </a:rPr>
              <a:t> configurare l'infrastruttura. Una errata scelta può mettere l’azienda in difficoltà.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it" sz="1800">
                <a:solidFill>
                  <a:schemeClr val="dk1"/>
                </a:solidFill>
              </a:rPr>
              <a:t>Il rischio del CLOUD Act:</a:t>
            </a:r>
            <a:r>
              <a:rPr lang="it" sz="1800">
                <a:solidFill>
                  <a:schemeClr val="dk1"/>
                </a:solidFill>
              </a:rPr>
              <a:t> Comprendere come le autorità (nazionali ed estere) possono richiedere l'accesso ai dati che tu amministri.</a:t>
            </a:r>
            <a:br>
              <a:rPr lang="it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9070200" cy="4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Non tutto ciò che è installabile è lecito</a:t>
            </a:r>
            <a:endParaRPr b="1"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La trappola dell'Open Source:</a:t>
            </a:r>
            <a:r>
              <a:rPr lang="it" sz="1800">
                <a:solidFill>
                  <a:schemeClr val="dk1"/>
                </a:solidFill>
              </a:rPr>
              <a:t> "Open" 	non significa "senza regole". Bisogna capire le licenze (GPL, Apache, MIT) per evitare che l'azienda perda la proprietà del p	roprio software.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Software Asset Management:</a:t>
            </a:r>
            <a:r>
              <a:rPr lang="it" sz="1800">
                <a:solidFill>
                  <a:schemeClr val="dk1"/>
                </a:solidFill>
              </a:rPr>
              <a:t> Imparare a gestire le licenze in ambienti virtualizzati (es. come contare le licenze Windows o Oracle su core virtuali).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Responsabilità del contenuto:</a:t>
            </a:r>
            <a:r>
              <a:rPr lang="it" sz="1800">
                <a:solidFill>
                  <a:schemeClr val="dk1"/>
                </a:solidFill>
              </a:rPr>
              <a:t> Se un 	utente carica materiale protetto da copyright sul tuo storage S3, chi è responsabile? Tu, in quanto amministratore, devi conoscere le procedure di </a:t>
            </a:r>
            <a:r>
              <a:rPr i="1" lang="it" sz="1800">
                <a:solidFill>
                  <a:schemeClr val="dk1"/>
                </a:solidFill>
              </a:rPr>
              <a:t>Notice and Take Down</a:t>
            </a:r>
            <a:r>
              <a:rPr lang="it" sz="1800">
                <a:solidFill>
                  <a:schemeClr val="dk1"/>
                </a:solidFill>
              </a:rPr>
              <a:t>.</a:t>
            </a:r>
            <a:br>
              <a:rPr lang="it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9144000" cy="50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Sicurezza Tecnica vs. Conformità Legale</a:t>
            </a:r>
            <a:endParaRPr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it" sz="1800">
                <a:solidFill>
                  <a:schemeClr val="dk1"/>
                </a:solidFill>
              </a:rPr>
              <a:t>GDPR e Privacy:</a:t>
            </a:r>
            <a:r>
              <a:rPr lang="it" sz="1800">
                <a:solidFill>
                  <a:schemeClr val="dk1"/>
                </a:solidFill>
              </a:rPr>
              <a:t> La legge impone la "Data 	Protection by Design". Voi siete quelli che devono trasformare l'articolo di legge in una regola di firewall o in una </a:t>
            </a:r>
            <a:r>
              <a:rPr i="1" lang="it" sz="1800">
                <a:solidFill>
                  <a:schemeClr val="dk1"/>
                </a:solidFill>
              </a:rPr>
              <a:t>policy</a:t>
            </a:r>
            <a:r>
              <a:rPr lang="it" sz="1800">
                <a:solidFill>
                  <a:schemeClr val="dk1"/>
                </a:solidFill>
              </a:rPr>
              <a:t> di crittografia.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it" sz="1800">
                <a:solidFill>
                  <a:schemeClr val="dk1"/>
                </a:solidFill>
              </a:rPr>
              <a:t>Tracciabilità e Log:</a:t>
            </a:r>
            <a:r>
              <a:rPr lang="it" sz="1800">
                <a:solidFill>
                  <a:schemeClr val="dk1"/>
                </a:solidFill>
              </a:rPr>
              <a:t> Sapere cosa conservare e per quanto tempo non è una scelta tecnica, è un obbligo giuridico.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it" sz="1800">
                <a:solidFill>
                  <a:schemeClr val="dk1"/>
                </a:solidFill>
              </a:rPr>
              <a:t>Cyber-resilienza (Direttiva NIS2):</a:t>
            </a:r>
            <a:r>
              <a:rPr lang="it" sz="1800">
                <a:solidFill>
                  <a:schemeClr val="dk1"/>
                </a:solidFill>
              </a:rPr>
              <a:t> Le nuove norme europee impongono standard minimi di sicurezza per le infrastrutture critiche. Lo specialista Cloud è il primo responsabile dell'attuazione di questi standard.</a:t>
            </a:r>
            <a:br>
              <a:rPr lang="it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9144000" cy="43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Perché questo corso nel tuo curriculu</a:t>
            </a:r>
            <a:r>
              <a:rPr lang="it" sz="32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m?</a:t>
            </a:r>
            <a:endParaRPr sz="32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dk1"/>
                </a:solidFill>
              </a:rPr>
              <a:t>Per parlare il linguaggio dell’azienda:</a:t>
            </a:r>
            <a:r>
              <a:rPr lang="it" sz="1800">
                <a:solidFill>
                  <a:schemeClr val="dk1"/>
                </a:solidFill>
              </a:rPr>
              <a:t> Le aziende non cercano chi sa solo "montare macchine", ma chi sa dialogare con l'ufficio legale e il DPO (Data Protection Officer).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800">
                <a:solidFill>
                  <a:schemeClr val="dk1"/>
                </a:solidFill>
              </a:rPr>
              <a:t>Per proteggersi dai rischi professionali:</a:t>
            </a:r>
            <a:r>
              <a:rPr lang="it" sz="1800">
                <a:solidFill>
                  <a:schemeClr val="dk1"/>
                </a:solidFill>
              </a:rPr>
              <a:t> Conoscere la propria responsabilità penale e civile come amministratore di sistema è la prima forma di assicurazione professionale.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it" sz="1800">
                <a:solidFill>
                  <a:schemeClr val="dk1"/>
                </a:solidFill>
              </a:rPr>
              <a:t>Valore di Mercato:</a:t>
            </a:r>
            <a:r>
              <a:rPr lang="it" sz="1800">
                <a:solidFill>
                  <a:schemeClr val="dk1"/>
                </a:solidFill>
              </a:rPr>
              <a:t> Un Cloud Specialist 	che certifica la </a:t>
            </a:r>
            <a:r>
              <a:rPr i="1" lang="it" sz="1800">
                <a:solidFill>
                  <a:schemeClr val="dk1"/>
                </a:solidFill>
              </a:rPr>
              <a:t>compliance</a:t>
            </a:r>
            <a:r>
              <a:rPr lang="it" sz="1800">
                <a:solidFill>
                  <a:schemeClr val="dk1"/>
                </a:solidFill>
              </a:rPr>
              <a:t> dei sistemi </a:t>
            </a:r>
            <a:r>
              <a:rPr b="1" lang="it" sz="1800" u="sng">
                <a:solidFill>
                  <a:schemeClr val="dk1"/>
                </a:solidFill>
              </a:rPr>
              <a:t>è</a:t>
            </a:r>
            <a:r>
              <a:rPr lang="it" sz="1800">
                <a:solidFill>
                  <a:schemeClr val="dk1"/>
                </a:solidFill>
              </a:rPr>
              <a:t> </a:t>
            </a:r>
            <a:r>
              <a:rPr b="1" lang="it" sz="1800" u="sng">
                <a:solidFill>
                  <a:schemeClr val="dk1"/>
                </a:solidFill>
              </a:rPr>
              <a:t>pagato significativamente di più</a:t>
            </a:r>
            <a:r>
              <a:rPr lang="it" sz="1800">
                <a:solidFill>
                  <a:schemeClr val="dk1"/>
                </a:solidFill>
              </a:rPr>
              <a:t> rispetto a chi esegue solo comandi da terminale.</a:t>
            </a:r>
            <a:br>
              <a:rPr lang="it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200">
                <a:latin typeface="Georgia"/>
                <a:ea typeface="Georgia"/>
                <a:cs typeface="Georgia"/>
                <a:sym typeface="Georgia"/>
              </a:rPr>
              <a:t>Persone fisiche e persone giuridiche</a:t>
            </a:r>
            <a:endParaRPr b="1" sz="32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Persona fisica: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Essere umano titolare di diritti e obblighi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Persona giuridica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Ente/società riconosciuta dall’ordinamento.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/>
              <a:t>Nel mondo IT: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software house, sviluppatori, azienda, eventuale cliente, utenti, startup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latin typeface="Georgia"/>
                <a:ea typeface="Georgia"/>
                <a:cs typeface="Georgia"/>
                <a:sym typeface="Georgia"/>
              </a:rPr>
              <a:t>Società di persone e società di capitali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311700" y="1152475"/>
            <a:ext cx="8520600" cy="3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600" y="1353023"/>
            <a:ext cx="5194800" cy="350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200">
                <a:latin typeface="Georgia"/>
                <a:ea typeface="Georgia"/>
                <a:cs typeface="Georgia"/>
                <a:sym typeface="Georgia"/>
              </a:rPr>
              <a:t>La Startup</a:t>
            </a:r>
            <a:endParaRPr sz="320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</a:rPr>
              <a:t>Temporaneità</a:t>
            </a:r>
            <a:r>
              <a:rPr lang="it" sz="1600">
                <a:solidFill>
                  <a:schemeClr val="dk1"/>
                </a:solidFill>
              </a:rPr>
              <a:t>: È una fase iniziale (avviamento) che punta a trasformarsi in una grande impresa.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</a:rPr>
              <a:t>Tecnologia</a:t>
            </a:r>
            <a:r>
              <a:rPr lang="it" sz="1600">
                <a:solidFill>
                  <a:schemeClr val="dk1"/>
                </a:solidFill>
              </a:rPr>
              <a:t>: Spesso si basa su tecnologie avanzate (es. IT, digitale).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</a:rPr>
              <a:t>Innovazione</a:t>
            </a:r>
            <a:r>
              <a:rPr lang="it" sz="1600">
                <a:solidFill>
                  <a:schemeClr val="dk1"/>
                </a:solidFill>
              </a:rPr>
              <a:t>: Introduce novità (di prodotto, processo, modello di business) nel mercato.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1600">
                <a:solidFill>
                  <a:schemeClr val="dk1"/>
                </a:solidFill>
              </a:rPr>
              <a:t>Scalabilità</a:t>
            </a:r>
            <a:r>
              <a:rPr lang="it" sz="1600">
                <a:solidFill>
                  <a:schemeClr val="dk1"/>
                </a:solidFill>
              </a:rPr>
              <a:t>: Può crescere esponenzialmente con risorse relativamente limitate.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chemeClr val="dk1"/>
                </a:solidFill>
              </a:rPr>
              <a:t>Replicabilità</a:t>
            </a:r>
            <a:r>
              <a:rPr lang="it" sz="1600">
                <a:solidFill>
                  <a:schemeClr val="dk1"/>
                </a:solidFill>
              </a:rPr>
              <a:t>: Il modello di business può essere replicato in altre situazioni o mercati.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it" sz="1600" u="sng">
                <a:solidFill>
                  <a:schemeClr val="hlink"/>
                </a:solidFill>
                <a:hlinkClick r:id="rId3"/>
              </a:rPr>
              <a:t>https://www.mimit.gov.it/it/startup-innovative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0800" y="2414625"/>
            <a:ext cx="7322400" cy="1240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1250" y="260350"/>
            <a:ext cx="756285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-104700" y="177125"/>
            <a:ext cx="90711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2400">
                <a:solidFill>
                  <a:schemeClr val="dk1"/>
                </a:solidFill>
              </a:rPr>
              <a:t>Il CLOUD Act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ll CLOUD Act trae origine dall’Electronic Communications Privacy Act (ECPA) e dallo Stored Communications Act (SCA). Queste leggi sono state scritte per un’era pre-cloud e non hanno chiarito se le richieste dei giudici statunitensi  - fatte per </a:t>
            </a:r>
            <a:r>
              <a:rPr lang="it" sz="1600">
                <a:solidFill>
                  <a:schemeClr val="dk1"/>
                </a:solidFill>
              </a:rPr>
              <a:t>ragioni</a:t>
            </a:r>
            <a:r>
              <a:rPr lang="it" sz="1600">
                <a:solidFill>
                  <a:schemeClr val="dk1"/>
                </a:solidFill>
              </a:rPr>
              <a:t> di giustizia o di sicurezza nazionale - potessero raggiungere i dati memorizzati all’estero.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</a:rPr>
              <a:t>La questione è diventata decisiva nel caso “Microsoft Ireland”: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Nel 2013, i pubblici ministeri statunitensi hanno richiesto tramite un mandato SCA e-mail memorizzate nel data center di Dublino di Microsoft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Microsoft ha rifiutato, sostenendo che la SCA riguarda solo i dati contenuti all'interno dei confini degli Stati Uniti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it" sz="1600">
                <a:solidFill>
                  <a:schemeClr val="dk1"/>
                </a:solidFill>
              </a:rPr>
              <a:t>Nel 2016, una corte d'appello degli Stati Uniti ha dato ragione a Microsoft, stabilendo che il governo non poteva forzare la divulgazione dei dati memorizzati all'estero</a:t>
            </a:r>
            <a:endParaRPr sz="16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idx="1" type="body"/>
          </p:nvPr>
        </p:nvSpPr>
        <p:spPr>
          <a:xfrm>
            <a:off x="311700" y="642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</a:rPr>
              <a:t>Per risolvere il problema “Microsoft Ireland”, il Congresso ha approvato il CLOUD Act il 23 marzo 2018, che modifica le precedenti leggi in materia in tre modi chiave: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Portata extraterritoriale:</a:t>
            </a:r>
            <a:r>
              <a:rPr lang="it">
                <a:solidFill>
                  <a:schemeClr val="dk1"/>
                </a:solidFill>
              </a:rPr>
              <a:t> le autorità statunitensi possono chiedere dati ai fornitori statunitensi, indipendentemente da dove sono archiviati i dati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Procedura “Comity” (rispetto reciproco):</a:t>
            </a:r>
            <a:r>
              <a:rPr lang="it">
                <a:solidFill>
                  <a:schemeClr val="dk1"/>
                </a:solidFill>
              </a:rPr>
              <a:t> la legge ha creato un meccanismo legale che consente ai fornitori di contestare gli ordini di divulgazione se sono in conflitto con le leggi straniere (es GDPR UE)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>
                <a:solidFill>
                  <a:schemeClr val="dk1"/>
                </a:solidFill>
              </a:rPr>
              <a:t>Accordi esecutivi:</a:t>
            </a:r>
            <a:r>
              <a:rPr lang="it">
                <a:solidFill>
                  <a:schemeClr val="dk1"/>
                </a:solidFill>
              </a:rPr>
              <a:t> accordi diretti, governo-governo, che rendono le richieste di dati transfrontaliere più veloci e più prevedibili.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26"/>
          <p:cNvGraphicFramePr/>
          <p:nvPr/>
        </p:nvGraphicFramePr>
        <p:xfrm>
          <a:off x="0" y="53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{72F44101-378A-43BD-9866-43310C078E46}</a:tableStyleId>
              </a:tblPr>
              <a:tblGrid>
                <a:gridCol w="1993675"/>
                <a:gridCol w="715032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Fattore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Significato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</a:tr>
              <a:tr h="943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La posizione dei dati non equivale alla sicurezza dei dati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L'archiviazione dei dati nell'UE (o in qualsiasi regione non statunitense) non garantisce la protezione se il fornitore, o un'affiliata controllata dagli Stati Uniti, può accedervi. La giurisdizione segue </a:t>
                      </a:r>
                      <a:r>
                        <a:rPr i="1" lang="it"/>
                        <a:t>chi controlla i dati</a:t>
                      </a:r>
                      <a:r>
                        <a:rPr lang="it"/>
                        <a:t>, non </a:t>
                      </a:r>
                      <a:r>
                        <a:rPr i="1" lang="it"/>
                        <a:t>dove si trova</a:t>
                      </a:r>
                      <a:r>
                        <a:rPr lang="it"/>
                        <a:t>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109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La portata del venditore è importante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Se utilizzi piattaforme cloud, SaaS o di comunicazione basate negli Stati Uniti, devi sapere che le richieste legali statunitensi valide possono raggiungere i tuoi dati, indipendentemente dalla posizione di archiviazione.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1097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Conflitti di diritto operativi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Le organizzazioni dell'UE possono affrontare situazioni in cui il GDPR e la legge CLOUD si scontrano, andando oltre la protezione del mdello “comity”. Mentre le sfide “comity” consentono un respingimento limitato, la maggior parte dei casi richiede un’escalation strutturata e una consulenza legale.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  <a:tr h="96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/>
                        <a:t>Strategie di mitigazione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/>
                        <a:t>Invece di concentrarsi solo su dove sono ospitati i dati, pensa a chi può accedervi o decifrarli. Le opzioni includono: utilizzo di fornitori solo dell'UE, chiavi di crittografia gestite dal cliente, controlli di accesso rigorosi per ridurre l'esposizione dei dati.</a:t>
                      </a:r>
                      <a:endParaRPr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/>
        </p:nvSpPr>
        <p:spPr>
          <a:xfrm>
            <a:off x="0" y="0"/>
            <a:ext cx="9144000" cy="50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r>
              <a:rPr b="1" lang="it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. L'incendio del Data Center OVH a Strasburgo (2021)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Il fatto:</a:t>
            </a:r>
            <a:r>
              <a:rPr lang="it" sz="1800">
                <a:solidFill>
                  <a:schemeClr val="dk1"/>
                </a:solidFill>
              </a:rPr>
              <a:t> Un enorme incendio ha distrutto uno dei data 	center di OVHcloud, causando la perdita definitiva di dati per 	migliaia di aziende che non avevano un piano di disaster recovery 	attivo o contrattualizzato.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Implicazioni per il Cloud Specialist:</a:t>
            </a:r>
            <a:r>
              <a:rPr lang="it" sz="1800">
                <a:solidFill>
                  <a:schemeClr val="dk1"/>
                </a:solidFill>
              </a:rPr>
              <a:t> Il caso ha 	sollevato questioni legali enormi sulla </a:t>
            </a:r>
            <a:r>
              <a:rPr b="1" lang="it" sz="1800">
                <a:solidFill>
                  <a:schemeClr val="dk1"/>
                </a:solidFill>
              </a:rPr>
              <a:t>responsabilità 	contrattuale</a:t>
            </a:r>
            <a:r>
              <a:rPr lang="it" sz="1800">
                <a:solidFill>
                  <a:schemeClr val="dk1"/>
                </a:solidFill>
              </a:rPr>
              <a:t>. Chi è responsabile se il backup non è incluso nel contratto base? Lo specialist deve saper leggere le clausole di 	limitazione della responsabilità del provider.</a:t>
            </a:r>
            <a:br>
              <a:rPr lang="it" sz="1800">
                <a:solidFill>
                  <a:schemeClr val="dk1"/>
                </a:solidFill>
              </a:rPr>
            </a:br>
            <a:r>
              <a:rPr lang="it" sz="1800">
                <a:solidFill>
                  <a:schemeClr val="dk1"/>
                </a:solidFill>
              </a:rPr>
              <a:t> 	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it" sz="1800">
                <a:solidFill>
                  <a:schemeClr val="dk1"/>
                </a:solidFill>
              </a:rPr>
              <a:t>Fonte:</a:t>
            </a:r>
            <a:r>
              <a:rPr lang="it" sz="1800">
                <a:solidFill>
                  <a:schemeClr val="dk1"/>
                </a:solidFill>
              </a:rPr>
              <a:t> Report tecnici di</a:t>
            </a:r>
            <a:r>
              <a:rPr lang="it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it" sz="1800" u="sng">
                <a:solidFill>
                  <a:schemeClr val="hlink"/>
                </a:solidFill>
                <a:hlinkClick r:id="rId4"/>
              </a:rPr>
              <a:t>OVHcloud 	Newsroom</a:t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it"/>
              <a:t>Lavoro di gruppo: debate tra le posizioni di OVHCloud, azienda che ha perso i dati, cloud specialist</a:t>
            </a:r>
            <a:br>
              <a:rPr lang="it" sz="1800" u="sng">
                <a:solidFill>
                  <a:schemeClr val="hlink"/>
                </a:solidFill>
                <a:hlinkClick r:id="rId5"/>
              </a:rPr>
            </a:br>
            <a:endParaRPr sz="1800" u="sng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