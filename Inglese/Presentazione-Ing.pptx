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Instrument Sans SemiBold"/>
      <p:regular r:id="rId17"/>
      <p:bold r:id="rId18"/>
      <p:italic r:id="rId19"/>
      <p:boldItalic r:id="rId20"/>
    </p:embeddedFont>
    <p:embeddedFont>
      <p:font typeface="Instrument Sans Medium"/>
      <p:regular r:id="rId21"/>
      <p:bold r:id="rId22"/>
      <p:italic r:id="rId23"/>
      <p:boldItalic r:id="rId24"/>
    </p:embeddedFont>
    <p:embeddedFont>
      <p:font typeface="Instrumen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strumentSansSemiBold-boldItalic.fntdata"/><Relationship Id="rId22" Type="http://schemas.openxmlformats.org/officeDocument/2006/relationships/font" Target="fonts/InstrumentSansMedium-bold.fntdata"/><Relationship Id="rId21" Type="http://schemas.openxmlformats.org/officeDocument/2006/relationships/font" Target="fonts/InstrumentSansMedium-regular.fntdata"/><Relationship Id="rId24" Type="http://schemas.openxmlformats.org/officeDocument/2006/relationships/font" Target="fonts/InstrumentSansMedium-boldItalic.fntdata"/><Relationship Id="rId23" Type="http://schemas.openxmlformats.org/officeDocument/2006/relationships/font" Target="fonts/InstrumentSans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strumentSans-bold.fntdata"/><Relationship Id="rId25" Type="http://schemas.openxmlformats.org/officeDocument/2006/relationships/font" Target="fonts/InstrumentSans-regular.fntdata"/><Relationship Id="rId28" Type="http://schemas.openxmlformats.org/officeDocument/2006/relationships/font" Target="fonts/InstrumentSans-boldItalic.fntdata"/><Relationship Id="rId27" Type="http://schemas.openxmlformats.org/officeDocument/2006/relationships/font" Target="fonts/Instrument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strumentSansSemiBold-regular.fntdata"/><Relationship Id="rId16" Type="http://schemas.openxmlformats.org/officeDocument/2006/relationships/slide" Target="slides/slide12.xml"/><Relationship Id="rId19" Type="http://schemas.openxmlformats.org/officeDocument/2006/relationships/font" Target="fonts/InstrumentSansSemiBold-italic.fntdata"/><Relationship Id="rId18" Type="http://schemas.openxmlformats.org/officeDocument/2006/relationships/font" Target="fonts/Instrument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8a0fec328_0_0:notes"/>
          <p:cNvSpPr/>
          <p:nvPr>
            <p:ph idx="2" type="sldImg"/>
          </p:nvPr>
        </p:nvSpPr>
        <p:spPr>
          <a:xfrm>
            <a:off x="1097280" y="1828800"/>
            <a:ext cx="87783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8a0fec328_0_0:notes"/>
          <p:cNvSpPr txBox="1"/>
          <p:nvPr>
            <p:ph idx="1" type="body"/>
          </p:nvPr>
        </p:nvSpPr>
        <p:spPr>
          <a:xfrm>
            <a:off x="1097280" y="7040880"/>
            <a:ext cx="87783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8a0fec328_0_0:notes"/>
          <p:cNvSpPr txBox="1"/>
          <p:nvPr>
            <p:ph idx="12" type="sldNum"/>
          </p:nvPr>
        </p:nvSpPr>
        <p:spPr>
          <a:xfrm>
            <a:off x="6215381" y="13896341"/>
            <a:ext cx="47550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200"/>
              <a:t>‹#›</a:t>
            </a:fld>
            <a:endParaRPr sz="2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8a0fec328_0_82:notes"/>
          <p:cNvSpPr/>
          <p:nvPr>
            <p:ph idx="2" type="sldImg"/>
          </p:nvPr>
        </p:nvSpPr>
        <p:spPr>
          <a:xfrm>
            <a:off x="1097280" y="1828800"/>
            <a:ext cx="87783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c8a0fec328_0_82:notes"/>
          <p:cNvSpPr txBox="1"/>
          <p:nvPr>
            <p:ph idx="1" type="body"/>
          </p:nvPr>
        </p:nvSpPr>
        <p:spPr>
          <a:xfrm>
            <a:off x="1097280" y="7040880"/>
            <a:ext cx="87783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8a0fec328_0_82:notes"/>
          <p:cNvSpPr txBox="1"/>
          <p:nvPr>
            <p:ph idx="12" type="sldNum"/>
          </p:nvPr>
        </p:nvSpPr>
        <p:spPr>
          <a:xfrm>
            <a:off x="6215381" y="13896341"/>
            <a:ext cx="47550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200"/>
              <a:t>‹#›</a:t>
            </a:fld>
            <a:endParaRPr sz="2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" name="Google Shape;9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/>
          <p:nvPr/>
        </p:nvSpPr>
        <p:spPr>
          <a:xfrm>
            <a:off x="6212819" y="1052174"/>
            <a:ext cx="78453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6150"/>
              <a:buFont typeface="Instrument Sans SemiBold"/>
              <a:buNone/>
            </a:pPr>
            <a:r>
              <a:rPr lang="en-US" sz="61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Cloud Startup Idea: Making Everyday Life Easier for Young People</a:t>
            </a:r>
            <a:endParaRPr sz="6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6280190" y="5878354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Discover how cloud technology can revolutionise daily organisation for young people.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793790" y="139624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US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Meet Our Team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2215" y="2558653"/>
            <a:ext cx="2411967" cy="241196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1330474" y="5823549"/>
            <a:ext cx="3350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US" sz="40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     </a:t>
            </a:r>
            <a:r>
              <a:rPr lang="en-US" sz="40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Salvatore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6868" y="2558653"/>
            <a:ext cx="2411967" cy="241196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6761025" y="5846350"/>
            <a:ext cx="22743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US" sz="40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Yassine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8395" y="2558653"/>
            <a:ext cx="2411967" cy="241196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11162400" y="5800750"/>
            <a:ext cx="28470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lang="en-US" sz="4000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Luca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6280190" y="121455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US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The Problem We Face Every Day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280190" y="2972276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Modern life for young people is complex, with multiple demands creating daily challenges: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6280190" y="3953232"/>
            <a:ext cx="7556421" cy="306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Char char="•"/>
            </a:pPr>
            <a:r>
              <a:rPr b="1"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Overwhelm:</a:t>
            </a: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Managing schoolwork, an active social life, and diverse hobbies often feels overwhelming and chaotic.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Char char="•"/>
            </a:pPr>
            <a:r>
              <a:rPr b="1"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Scattered Resources:</a:t>
            </a: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Important files, essential documents, and critical applications are dispersed across numerous devices and platforms, leading to frustration.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Char char="•"/>
            </a:pPr>
            <a:r>
              <a:rPr b="1"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Accessibility Gap:</a:t>
            </a: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Young individuals desperately need a streamlined, intuitive method to organise and access all their vital information effortlessly, anytime, anywhere.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93790" y="1232535"/>
            <a:ext cx="689669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US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Our Big Idea: Cloud Buddy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93790" y="2524244"/>
            <a:ext cx="828413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Introducing </a:t>
            </a:r>
            <a:r>
              <a:rPr b="1"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Cloud Buddy</a:t>
            </a: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, a revolutionary cloud-based application designed specifically for young people. It's not just storage; it's your personal organisation hub.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93790" y="3817025"/>
            <a:ext cx="8284131" cy="306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Char char="•"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 centralised platform to consolidate all your school notes, personal schedules, and favourite apps.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Char char="•"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Seamless accessibility from any device—be it phone, tablet, or laptop—ensuring you're always connected to your world, as long as you have internet.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Char char="•"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Empowers users to stay impeccably organised, facilitates easy sharing with friends for collaborative projects, and ultimately saves precious time for what truly matters.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8943" y="2536627"/>
            <a:ext cx="4205168" cy="4205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750094" y="1153478"/>
            <a:ext cx="7406045" cy="669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200"/>
              <a:buFont typeface="Instrument Sans SemiBold"/>
              <a:buNone/>
            </a:pPr>
            <a:r>
              <a:rPr lang="en-US" sz="42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Why Cloud Technology is Key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750094" y="2126933"/>
            <a:ext cx="2412921" cy="4949190"/>
          </a:xfrm>
          <a:prstGeom prst="roundRect">
            <a:avLst>
              <a:gd fmla="val 6063" name="adj"/>
            </a:avLst>
          </a:prstGeom>
          <a:solidFill>
            <a:srgbClr val="FFFFFF"/>
          </a:solidFill>
          <a:ln cap="flat" cmpd="sng" w="30475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719614" y="2126933"/>
            <a:ext cx="121920" cy="4949190"/>
          </a:xfrm>
          <a:prstGeom prst="roundRect">
            <a:avLst>
              <a:gd fmla="val 158212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086326" y="2371725"/>
            <a:ext cx="1831896" cy="1004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100"/>
              <a:buFont typeface="Instrument Sans SemiBold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Cost-Effective Accessibility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943000" y="3218500"/>
            <a:ext cx="2154900" cy="3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lang="en-US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Cloud infrastructure eliminates the necessity for expensive, high-spec local hardware, making powerful tools accessible to everyone.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365421" y="2126933"/>
            <a:ext cx="2413040" cy="4949190"/>
          </a:xfrm>
          <a:prstGeom prst="roundRect">
            <a:avLst>
              <a:gd fmla="val 6063" name="adj"/>
            </a:avLst>
          </a:prstGeom>
          <a:solidFill>
            <a:srgbClr val="FFFFFF"/>
          </a:solidFill>
          <a:ln cap="flat" cmpd="sng" w="30475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334941" y="2126933"/>
            <a:ext cx="121920" cy="4949190"/>
          </a:xfrm>
          <a:prstGeom prst="roundRect">
            <a:avLst>
              <a:gd fmla="val 158212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701653" y="2371725"/>
            <a:ext cx="1832015" cy="669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100"/>
              <a:buFont typeface="Instrument Sans SemiBold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Robust Data Security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701653" y="3162776"/>
            <a:ext cx="1832015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lang="en-US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Your data is inherently secure, constantly backed up, and resilient against device failures, ensuring peace of mind.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5980867" y="2126933"/>
            <a:ext cx="2412921" cy="4949190"/>
          </a:xfrm>
          <a:prstGeom prst="roundRect">
            <a:avLst>
              <a:gd fmla="val 6063" name="adj"/>
            </a:avLst>
          </a:prstGeom>
          <a:solidFill>
            <a:srgbClr val="FFFFFF"/>
          </a:solidFill>
          <a:ln cap="flat" cmpd="sng" w="30475">
            <a:solidFill>
              <a:srgbClr val="B4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950387" y="2126933"/>
            <a:ext cx="121920" cy="4949190"/>
          </a:xfrm>
          <a:prstGeom prst="roundRect">
            <a:avLst>
              <a:gd fmla="val 158212" name="adj"/>
            </a:avLst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317099" y="2371725"/>
            <a:ext cx="1831896" cy="669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100"/>
              <a:buFont typeface="Instrument Sans SemiBold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Effortless Scalability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6164400" y="3162775"/>
            <a:ext cx="21549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Medium"/>
              <a:buNone/>
            </a:pPr>
            <a:r>
              <a:rPr lang="en-US" sz="16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cloud adapts effortlessly, expanding to accommodate an ever-growing volume of files and applications without performance degradation.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979646" y="587216"/>
            <a:ext cx="5311854" cy="573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600"/>
              <a:buFont typeface="Instrument Sans SemiBold"/>
              <a:buNone/>
            </a:pPr>
            <a:r>
              <a:rPr lang="en-US" sz="36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How Cloud Buddy Works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4140" y="1458397"/>
            <a:ext cx="7442002" cy="441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8327" y="2537951"/>
            <a:ext cx="633532" cy="63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8773889" y="4900039"/>
            <a:ext cx="1849915" cy="257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Share Instantly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9002" y="2539139"/>
            <a:ext cx="633532" cy="63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6442487" y="4900039"/>
            <a:ext cx="1849917" cy="257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Stay Organised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601" y="2539139"/>
            <a:ext cx="633533" cy="63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4073074" y="4900039"/>
            <a:ext cx="1849916" cy="257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Sync Files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979646" y="6042422"/>
            <a:ext cx="12670988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Cloud Buddy simplifies your digital life into an intuitive, seamless experience, keeping you on top of your game.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979646" y="6475333"/>
            <a:ext cx="12670988" cy="1167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b="1"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Automatic Syncing:</a:t>
            </a: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Effortlessly synchronises your crucial files and essential applications to the cloud, ensuring everything is always up-to-date.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b="1"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Smart Organisation:</a:t>
            </a: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Integrated smart reminders and calendar features keep you perfectly aligned with your academic and personal commitments.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Char char="•"/>
            </a:pPr>
            <a:r>
              <a:rPr b="1"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Instant Collaboration:</a:t>
            </a: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Share projects, notes, and ideas with friends or study groups instantly, fostering effective teamwork.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1388388" y="660083"/>
            <a:ext cx="6491288" cy="536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50"/>
              <a:buFont typeface="Instrument Sans SemiBold"/>
              <a:buNone/>
            </a:pPr>
            <a:r>
              <a:rPr lang="en-US" sz="33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Real-Life Example: Jamie’s Story</a:t>
            </a:r>
            <a:endParaRPr sz="3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8388" y="1538288"/>
            <a:ext cx="5884902" cy="58849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9630847" y="2180868"/>
            <a:ext cx="3618548" cy="96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Medium"/>
              <a:buNone/>
            </a:pPr>
            <a:r>
              <a:rPr lang="en-US" sz="13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"Before Cloud Buddy, I was drowning in papers and digital files. Now, I can access everything, everywhere. It's a game-changer!"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9373195" y="2180868"/>
            <a:ext cx="22860" cy="965835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9373195" y="3293031"/>
            <a:ext cx="3876199" cy="724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Medium"/>
              <a:buNone/>
            </a:pPr>
            <a:r>
              <a:rPr lang="en-US" sz="13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Jamie, a typical student, frequently found it challenging to balance demanding school projects with an active sports schedule.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9373195" y="4134445"/>
            <a:ext cx="3876199" cy="2747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Medium"/>
              <a:buChar char="•"/>
            </a:pPr>
            <a:r>
              <a:rPr lang="en-US" sz="13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With Cloud Buddy, Jamie gained the flexibility to access notes, assignments, and study materials on their phone, tablet, or laptop, whether at home, school, or on the go.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Medium"/>
              <a:buChar char="•"/>
            </a:pPr>
            <a:r>
              <a:rPr lang="en-US" sz="13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This newfound efficiency dramatically reduced time spent searching for documents, saving hours each week.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Medium"/>
              <a:buChar char="•"/>
            </a:pPr>
            <a:r>
              <a:rPr lang="en-US" sz="13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result? Improved academic performance, less stress, and more free time to enjoy hobbies and relax.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/>
          <p:nvPr/>
        </p:nvSpPr>
        <p:spPr>
          <a:xfrm>
            <a:off x="629483" y="1028938"/>
            <a:ext cx="4496514" cy="56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00"/>
              <a:buFont typeface="Instrument Sans SemiBold"/>
              <a:buNone/>
            </a:pPr>
            <a:r>
              <a:rPr lang="en-US" sz="350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Our Startup Plan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29483" y="1804868"/>
            <a:ext cx="719376" cy="1242060"/>
          </a:xfrm>
          <a:prstGeom prst="roundRect">
            <a:avLst>
              <a:gd fmla="val 36004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854273" y="2257306"/>
            <a:ext cx="269677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100"/>
              <a:buFont typeface="Instrument Sans SemiBold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1491377" y="1984653"/>
            <a:ext cx="254912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lang="en-US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Prototype Development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1491377" y="2351127"/>
            <a:ext cx="7023140" cy="5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Build a lean, functional prototype leveraging free cloud credits from Google Cloud or AWS for students.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629483" y="3189446"/>
            <a:ext cx="719376" cy="1242060"/>
          </a:xfrm>
          <a:prstGeom prst="roundRect">
            <a:avLst>
              <a:gd fmla="val 36004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854273" y="3641884"/>
            <a:ext cx="269677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100"/>
              <a:buFont typeface="Instrument Sans SemiBold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1491377" y="3369231"/>
            <a:ext cx="224825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lang="en-US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Community Testing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1491377" y="3735705"/>
            <a:ext cx="7023140" cy="5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Conduct extensive testing with friends and schoolmates to gather invaluable feedback and refine the user experience.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29483" y="4574024"/>
            <a:ext cx="719376" cy="1242060"/>
          </a:xfrm>
          <a:prstGeom prst="roundRect">
            <a:avLst>
              <a:gd fmla="val 36004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854273" y="5026462"/>
            <a:ext cx="269677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100"/>
              <a:buFont typeface="Instrument Sans SemiBold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491377" y="4753808"/>
            <a:ext cx="224825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lang="en-US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Phased Launch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1491377" y="5120283"/>
            <a:ext cx="7023140" cy="5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Initiate with a free basic version to attract a broad user base, progressively introducing premium features for advanced users.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629483" y="5958602"/>
            <a:ext cx="719376" cy="1242060"/>
          </a:xfrm>
          <a:prstGeom prst="roundRect">
            <a:avLst>
              <a:gd fmla="val 36004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854273" y="6411039"/>
            <a:ext cx="269677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100"/>
              <a:buFont typeface="Instrument Sans SemiBold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4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1491377" y="6138386"/>
            <a:ext cx="234755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lang="en-US" sz="175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Iterative Improvement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1491377" y="6504861"/>
            <a:ext cx="7023140" cy="5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Continuously evolve Cloud Buddy based on user analytics and community suggestions to ensure relevance and excellence.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/>
          <p:nvPr/>
        </p:nvSpPr>
        <p:spPr>
          <a:xfrm>
            <a:off x="9217152" y="0"/>
            <a:ext cx="5413500" cy="8229600"/>
          </a:xfrm>
          <a:prstGeom prst="rect">
            <a:avLst/>
          </a:prstGeom>
          <a:solidFill>
            <a:srgbClr val="2D5F6B"/>
          </a:solidFill>
          <a:ln cap="flat" cmpd="sng" w="20325">
            <a:solidFill>
              <a:srgbClr val="2D5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658368" y="409651"/>
            <a:ext cx="81930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4500"/>
              <a:buFont typeface="Georgia"/>
              <a:buNone/>
            </a:pPr>
            <a:r>
              <a:rPr b="1" lang="en-US" sz="3500">
                <a:solidFill>
                  <a:srgbClr val="091C5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Development Timeline</a:t>
            </a:r>
            <a:endParaRPr b="1" i="0" sz="45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658368" y="1345997"/>
            <a:ext cx="51207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8FA8"/>
                </a:solidFill>
                <a:latin typeface="Calibri"/>
                <a:ea typeface="Calibri"/>
                <a:cs typeface="Calibri"/>
                <a:sym typeface="Calibri"/>
              </a:rPr>
              <a:t>⏱  9 months · 5 phases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58368" y="1726387"/>
            <a:ext cx="1463100" cy="43800"/>
          </a:xfrm>
          <a:prstGeom prst="rect">
            <a:avLst/>
          </a:prstGeom>
          <a:solidFill>
            <a:srgbClr val="5B9BD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" name="Google Shape;162;p21"/>
          <p:cNvCxnSpPr/>
          <p:nvPr/>
        </p:nvCxnSpPr>
        <p:spPr>
          <a:xfrm>
            <a:off x="965606" y="2589581"/>
            <a:ext cx="0" cy="555900"/>
          </a:xfrm>
          <a:prstGeom prst="straightConnector1">
            <a:avLst/>
          </a:prstGeom>
          <a:noFill/>
          <a:ln cap="flat" cmpd="sng" w="30475">
            <a:solidFill>
              <a:srgbClr val="C8D8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" name="Google Shape;163;p21"/>
          <p:cNvSpPr/>
          <p:nvPr/>
        </p:nvSpPr>
        <p:spPr>
          <a:xfrm>
            <a:off x="658368" y="1975104"/>
            <a:ext cx="614400" cy="614400"/>
          </a:xfrm>
          <a:prstGeom prst="ellipse">
            <a:avLst/>
          </a:prstGeom>
          <a:solidFill>
            <a:srgbClr val="DCE9F5"/>
          </a:solidFill>
          <a:ln cap="flat" cmpd="sng" w="304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658368" y="1975104"/>
            <a:ext cx="614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2200"/>
              <a:buFont typeface="Georgia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1536192" y="1975104"/>
            <a:ext cx="7388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i="0" lang="en-US" sz="1900" u="none" cap="none" strike="noStrike">
                <a:solidFill>
                  <a:srgbClr val="1A2E44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Pre-Development</a:t>
            </a:r>
            <a:endParaRPr i="0" sz="1900" u="none" cap="none" strike="noStrike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1536192" y="2311603"/>
            <a:ext cx="73881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 Month  ·  M0 → M1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1536192" y="2531059"/>
            <a:ext cx="7388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4A556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Feature definition, UX/UI design and cloud infrastructure setup.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1536192" y="2852928"/>
            <a:ext cx="87900" cy="204900"/>
          </a:xfrm>
          <a:prstGeom prst="rect">
            <a:avLst/>
          </a:prstGeom>
          <a:solidFill>
            <a:srgbClr val="5B9BD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1682496" y="2823667"/>
            <a:ext cx="72129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Mockups, public roadmap, concept demo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70" name="Google Shape;170;p21"/>
          <p:cNvCxnSpPr/>
          <p:nvPr/>
        </p:nvCxnSpPr>
        <p:spPr>
          <a:xfrm>
            <a:off x="965606" y="3760013"/>
            <a:ext cx="0" cy="555900"/>
          </a:xfrm>
          <a:prstGeom prst="straightConnector1">
            <a:avLst/>
          </a:prstGeom>
          <a:noFill/>
          <a:ln cap="flat" cmpd="sng" w="30475">
            <a:solidFill>
              <a:srgbClr val="C8D8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1" name="Google Shape;171;p21"/>
          <p:cNvSpPr/>
          <p:nvPr/>
        </p:nvSpPr>
        <p:spPr>
          <a:xfrm>
            <a:off x="658368" y="3145536"/>
            <a:ext cx="614400" cy="614400"/>
          </a:xfrm>
          <a:prstGeom prst="ellipse">
            <a:avLst/>
          </a:prstGeom>
          <a:solidFill>
            <a:srgbClr val="D4EBF1"/>
          </a:solidFill>
          <a:ln cap="flat" cmpd="sng" w="3047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658368" y="3145536"/>
            <a:ext cx="614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2200"/>
              <a:buFont typeface="Georgia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1536192" y="3145536"/>
            <a:ext cx="7388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i="0" lang="en-US" sz="1900" u="none" cap="none" strike="noStrike">
                <a:solidFill>
                  <a:srgbClr val="1A2E44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MVP Development</a:t>
            </a:r>
            <a:endParaRPr i="0" sz="1900" u="none" cap="none" strike="noStrike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1536192" y="3482035"/>
            <a:ext cx="73881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 Months  ·  M1 → M4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1536192" y="3701491"/>
            <a:ext cx="7388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4A556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Cloud backend, web/mobile app, file sync, calendar and sharing.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1536192" y="4023360"/>
            <a:ext cx="87900" cy="204900"/>
          </a:xfrm>
          <a:prstGeom prst="rect">
            <a:avLst/>
          </a:prstGeom>
          <a:solidFill>
            <a:srgbClr val="4A90A4"/>
          </a:solidFill>
          <a:ln cap="flat" cmpd="sng" w="203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1682496" y="3994099"/>
            <a:ext cx="72129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MVP (Alpha version)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78" name="Google Shape;178;p21"/>
          <p:cNvCxnSpPr/>
          <p:nvPr/>
        </p:nvCxnSpPr>
        <p:spPr>
          <a:xfrm>
            <a:off x="965606" y="4930445"/>
            <a:ext cx="0" cy="555900"/>
          </a:xfrm>
          <a:prstGeom prst="straightConnector1">
            <a:avLst/>
          </a:prstGeom>
          <a:noFill/>
          <a:ln cap="flat" cmpd="sng" w="30475">
            <a:solidFill>
              <a:srgbClr val="C8D8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9" name="Google Shape;179;p21"/>
          <p:cNvSpPr/>
          <p:nvPr/>
        </p:nvSpPr>
        <p:spPr>
          <a:xfrm>
            <a:off x="658368" y="4315968"/>
            <a:ext cx="614400" cy="614400"/>
          </a:xfrm>
          <a:prstGeom prst="ellipse">
            <a:avLst/>
          </a:prstGeom>
          <a:solidFill>
            <a:srgbClr val="C8E4EA"/>
          </a:solidFill>
          <a:ln cap="flat" cmpd="sng" w="3047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658368" y="4315968"/>
            <a:ext cx="614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2200"/>
              <a:buFont typeface="Georgia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1536192" y="4315968"/>
            <a:ext cx="7388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i="0" lang="en-US" sz="1900" u="none" cap="none" strike="noStrike">
                <a:solidFill>
                  <a:srgbClr val="1A2E44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Backer Beta</a:t>
            </a:r>
            <a:endParaRPr i="0" sz="1900" u="none" cap="none" strike="noStrike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1536192" y="4652467"/>
            <a:ext cx="73881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Months  ·  M4 → M6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1536192" y="4871923"/>
            <a:ext cx="7388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4A556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Early access for supporters, feedback collection, bug fixing and UX improvements.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1536192" y="5193792"/>
            <a:ext cx="87900" cy="204900"/>
          </a:xfrm>
          <a:prstGeom prst="rect">
            <a:avLst/>
          </a:prstGeom>
          <a:solidFill>
            <a:srgbClr val="3D7A8A"/>
          </a:solidFill>
          <a:ln cap="flat" cmpd="sng" w="2032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1682496" y="5164531"/>
            <a:ext cx="72129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Stable beta + community engagement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186" name="Google Shape;186;p21"/>
          <p:cNvCxnSpPr/>
          <p:nvPr/>
        </p:nvCxnSpPr>
        <p:spPr>
          <a:xfrm>
            <a:off x="965606" y="6100877"/>
            <a:ext cx="0" cy="555900"/>
          </a:xfrm>
          <a:prstGeom prst="straightConnector1">
            <a:avLst/>
          </a:prstGeom>
          <a:noFill/>
          <a:ln cap="flat" cmpd="sng" w="30475">
            <a:solidFill>
              <a:srgbClr val="C8D8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7" name="Google Shape;187;p21"/>
          <p:cNvSpPr/>
          <p:nvPr/>
        </p:nvSpPr>
        <p:spPr>
          <a:xfrm>
            <a:off x="658368" y="5486400"/>
            <a:ext cx="614400" cy="614400"/>
          </a:xfrm>
          <a:prstGeom prst="ellipse">
            <a:avLst/>
          </a:prstGeom>
          <a:solidFill>
            <a:srgbClr val="B8D9E1"/>
          </a:solidFill>
          <a:ln cap="flat" cmpd="sng" w="30475">
            <a:solidFill>
              <a:srgbClr val="2D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58368" y="5486400"/>
            <a:ext cx="614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2200"/>
              <a:buFont typeface="Georgia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536192" y="5486400"/>
            <a:ext cx="7388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i="0" lang="en-US" sz="1900" u="none" cap="none" strike="noStrike">
                <a:solidFill>
                  <a:srgbClr val="1A2E44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Public Launch</a:t>
            </a:r>
            <a:endParaRPr i="0" sz="1900" u="none" cap="none" strike="noStrike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536192" y="5822899"/>
            <a:ext cx="73881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 Month  ·  M6 → M7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536192" y="6042355"/>
            <a:ext cx="7388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4A556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Free version release, digital rewards activation and social launch.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536192" y="6364224"/>
            <a:ext cx="87900" cy="204900"/>
          </a:xfrm>
          <a:prstGeom prst="rect">
            <a:avLst/>
          </a:prstGeom>
          <a:solidFill>
            <a:srgbClr val="2D6B7A"/>
          </a:solidFill>
          <a:ln cap="flat" cmpd="sng" w="20325">
            <a:solidFill>
              <a:srgbClr val="2D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682496" y="6334963"/>
            <a:ext cx="72129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Live app + first metrics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58368" y="6656832"/>
            <a:ext cx="614400" cy="614400"/>
          </a:xfrm>
          <a:prstGeom prst="ellipse">
            <a:avLst/>
          </a:prstGeom>
          <a:solidFill>
            <a:srgbClr val="A8CDD5"/>
          </a:solidFill>
          <a:ln cap="flat" cmpd="sng" w="30475">
            <a:solidFill>
              <a:srgbClr val="1E5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658368" y="6656832"/>
            <a:ext cx="614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C6A"/>
              </a:buClr>
              <a:buSzPts val="2200"/>
              <a:buFont typeface="Georgia"/>
              <a:buNone/>
            </a:pPr>
            <a:r>
              <a:rPr lang="en-US" sz="21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536192" y="6656832"/>
            <a:ext cx="7388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i="0" lang="en-US" sz="1900" u="none" cap="none" strike="noStrike">
                <a:solidFill>
                  <a:srgbClr val="1A2E44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Post-Launch Growth</a:t>
            </a:r>
            <a:endParaRPr i="0" sz="1900" u="none" cap="none" strike="noStrike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536192" y="6993331"/>
            <a:ext cx="73881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Months  ·  M7 → M9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536192" y="7212787"/>
            <a:ext cx="7388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4A556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Premium features, cloud cost optimization and sustainability planning.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536192" y="7534656"/>
            <a:ext cx="87900" cy="204900"/>
          </a:xfrm>
          <a:prstGeom prst="rect">
            <a:avLst/>
          </a:prstGeom>
          <a:solidFill>
            <a:srgbClr val="1E5C6A"/>
          </a:solidFill>
          <a:ln cap="flat" cmpd="sng" w="20325">
            <a:solidFill>
              <a:srgbClr val="1E5C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1682496" y="7505395"/>
            <a:ext cx="72129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Sustainable product + growth strategy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9436608" y="438912"/>
            <a:ext cx="4974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i="0" lang="en-US" sz="2100" u="none" cap="none" strike="noStrike">
                <a:solidFill>
                  <a:srgbClr val="FFFFFF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Project Roadmap</a:t>
            </a:r>
            <a:endParaRPr i="0" sz="2100" u="none" cap="none" strike="noStrike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9875520" y="1141171"/>
            <a:ext cx="117000" cy="6291000"/>
          </a:xfrm>
          <a:prstGeom prst="rect">
            <a:avLst/>
          </a:prstGeom>
          <a:solidFill>
            <a:srgbClr val="FFFFFF">
              <a:alpha val="30199"/>
            </a:srgbClr>
          </a:solidFill>
          <a:ln cap="flat" cmpd="sng" w="20325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9875520" y="1141171"/>
            <a:ext cx="117000" cy="655200"/>
          </a:xfrm>
          <a:prstGeom prst="rect">
            <a:avLst/>
          </a:prstGeom>
          <a:solidFill>
            <a:srgbClr val="A8C8E8"/>
          </a:solidFill>
          <a:ln cap="flat" cmpd="sng" w="20325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9875520" y="1840179"/>
            <a:ext cx="117000" cy="2052900"/>
          </a:xfrm>
          <a:prstGeom prst="rect">
            <a:avLst/>
          </a:prstGeom>
          <a:solidFill>
            <a:srgbClr val="7BB3D4"/>
          </a:solidFill>
          <a:ln cap="flat" cmpd="sng" w="20325">
            <a:solidFill>
              <a:srgbClr val="7BB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9875520" y="3937203"/>
            <a:ext cx="117000" cy="1354200"/>
          </a:xfrm>
          <a:prstGeom prst="rect">
            <a:avLst/>
          </a:prstGeom>
          <a:solidFill>
            <a:srgbClr val="5B9ABD"/>
          </a:solidFill>
          <a:ln cap="flat" cmpd="sng" w="20325">
            <a:solidFill>
              <a:srgbClr val="5B9A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9875520" y="5335219"/>
            <a:ext cx="117000" cy="655200"/>
          </a:xfrm>
          <a:prstGeom prst="rect">
            <a:avLst/>
          </a:prstGeom>
          <a:solidFill>
            <a:srgbClr val="3D7FA3"/>
          </a:solidFill>
          <a:ln cap="flat" cmpd="sng" w="20325">
            <a:solidFill>
              <a:srgbClr val="3D7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9875520" y="6034227"/>
            <a:ext cx="117000" cy="1354200"/>
          </a:xfrm>
          <a:prstGeom prst="rect">
            <a:avLst/>
          </a:prstGeom>
          <a:solidFill>
            <a:srgbClr val="1E6485"/>
          </a:solidFill>
          <a:ln cap="flat" cmpd="sng" w="20325">
            <a:solidFill>
              <a:srgbClr val="1E64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9816998" y="1082650"/>
            <a:ext cx="234300" cy="117000"/>
          </a:xfrm>
          <a:prstGeom prst="ellipse">
            <a:avLst/>
          </a:prstGeom>
          <a:solidFill>
            <a:srgbClr val="FFFFFF"/>
          </a:solidFill>
          <a:ln cap="flat" cmpd="sng" w="20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0080346" y="1009498"/>
            <a:ext cx="585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M0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816998" y="1781658"/>
            <a:ext cx="234300" cy="117000"/>
          </a:xfrm>
          <a:prstGeom prst="ellipse">
            <a:avLst/>
          </a:prstGeom>
          <a:solidFill>
            <a:srgbClr val="FFFFFF"/>
          </a:solidFill>
          <a:ln cap="flat" cmpd="sng" w="20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10080346" y="1708506"/>
            <a:ext cx="585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M1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9816998" y="3878682"/>
            <a:ext cx="234300" cy="117000"/>
          </a:xfrm>
          <a:prstGeom prst="ellipse">
            <a:avLst/>
          </a:prstGeom>
          <a:solidFill>
            <a:srgbClr val="FFFFFF"/>
          </a:solidFill>
          <a:ln cap="flat" cmpd="sng" w="20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10080346" y="3805530"/>
            <a:ext cx="585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M4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9816998" y="5276698"/>
            <a:ext cx="234300" cy="117000"/>
          </a:xfrm>
          <a:prstGeom prst="ellipse">
            <a:avLst/>
          </a:prstGeom>
          <a:solidFill>
            <a:srgbClr val="FFFFFF"/>
          </a:solidFill>
          <a:ln cap="flat" cmpd="sng" w="20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10080346" y="5203546"/>
            <a:ext cx="585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M6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9816998" y="5975706"/>
            <a:ext cx="234300" cy="117000"/>
          </a:xfrm>
          <a:prstGeom prst="ellipse">
            <a:avLst/>
          </a:prstGeom>
          <a:solidFill>
            <a:srgbClr val="FFFFFF"/>
          </a:solidFill>
          <a:ln cap="flat" cmpd="sng" w="20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10080346" y="5902554"/>
            <a:ext cx="585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M7</a:t>
            </a:r>
            <a:endParaRPr i="0" sz="12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9816998" y="7373722"/>
            <a:ext cx="234300" cy="117000"/>
          </a:xfrm>
          <a:prstGeom prst="ellipse">
            <a:avLst/>
          </a:prstGeom>
          <a:solidFill>
            <a:srgbClr val="FFFFFF"/>
          </a:solidFill>
          <a:ln cap="flat" cmpd="sng" w="20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10080346" y="7300570"/>
            <a:ext cx="585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0680192" y="1344371"/>
            <a:ext cx="40962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Pre-Dev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>
            <a:off x="10080346" y="1490675"/>
            <a:ext cx="555900" cy="0"/>
          </a:xfrm>
          <a:prstGeom prst="straightConnector1">
            <a:avLst/>
          </a:prstGeom>
          <a:noFill/>
          <a:ln cap="flat" cmpd="sng" w="15250">
            <a:solidFill>
              <a:srgbClr val="FFFFFF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1"/>
          <p:cNvSpPr/>
          <p:nvPr/>
        </p:nvSpPr>
        <p:spPr>
          <a:xfrm>
            <a:off x="10680192" y="2742387"/>
            <a:ext cx="40962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MVP Dev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23" name="Google Shape;223;p21"/>
          <p:cNvCxnSpPr/>
          <p:nvPr/>
        </p:nvCxnSpPr>
        <p:spPr>
          <a:xfrm>
            <a:off x="10080346" y="2888691"/>
            <a:ext cx="555900" cy="0"/>
          </a:xfrm>
          <a:prstGeom prst="straightConnector1">
            <a:avLst/>
          </a:prstGeom>
          <a:noFill/>
          <a:ln cap="flat" cmpd="sng" w="15250">
            <a:solidFill>
              <a:srgbClr val="FFFFFF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1"/>
          <p:cNvSpPr/>
          <p:nvPr/>
        </p:nvSpPr>
        <p:spPr>
          <a:xfrm>
            <a:off x="10680192" y="4489907"/>
            <a:ext cx="40962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Beta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25" name="Google Shape;225;p21"/>
          <p:cNvCxnSpPr/>
          <p:nvPr/>
        </p:nvCxnSpPr>
        <p:spPr>
          <a:xfrm>
            <a:off x="10080346" y="4636211"/>
            <a:ext cx="555900" cy="0"/>
          </a:xfrm>
          <a:prstGeom prst="straightConnector1">
            <a:avLst/>
          </a:prstGeom>
          <a:noFill/>
          <a:ln cap="flat" cmpd="sng" w="15250">
            <a:solidFill>
              <a:srgbClr val="FFFFFF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1"/>
          <p:cNvSpPr/>
          <p:nvPr/>
        </p:nvSpPr>
        <p:spPr>
          <a:xfrm>
            <a:off x="10680192" y="5538419"/>
            <a:ext cx="40962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Launch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27" name="Google Shape;227;p21"/>
          <p:cNvCxnSpPr/>
          <p:nvPr/>
        </p:nvCxnSpPr>
        <p:spPr>
          <a:xfrm>
            <a:off x="10080346" y="5684723"/>
            <a:ext cx="555900" cy="0"/>
          </a:xfrm>
          <a:prstGeom prst="straightConnector1">
            <a:avLst/>
          </a:prstGeom>
          <a:noFill/>
          <a:ln cap="flat" cmpd="sng" w="15250">
            <a:solidFill>
              <a:srgbClr val="FFFFFF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1"/>
          <p:cNvSpPr/>
          <p:nvPr/>
        </p:nvSpPr>
        <p:spPr>
          <a:xfrm>
            <a:off x="10680192" y="6586931"/>
            <a:ext cx="40962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FFFFF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</a:t>
            </a:r>
            <a:endParaRPr i="0" sz="14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229" name="Google Shape;229;p21"/>
          <p:cNvCxnSpPr/>
          <p:nvPr/>
        </p:nvCxnSpPr>
        <p:spPr>
          <a:xfrm>
            <a:off x="10080346" y="6733235"/>
            <a:ext cx="555900" cy="0"/>
          </a:xfrm>
          <a:prstGeom prst="straightConnector1">
            <a:avLst/>
          </a:prstGeom>
          <a:noFill/>
          <a:ln cap="flat" cmpd="sng" w="15250">
            <a:solidFill>
              <a:srgbClr val="FFFFFF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21"/>
          <p:cNvSpPr/>
          <p:nvPr/>
        </p:nvSpPr>
        <p:spPr>
          <a:xfrm>
            <a:off x="9436608" y="7315200"/>
            <a:ext cx="4974300" cy="702300"/>
          </a:xfrm>
          <a:prstGeom prst="rect">
            <a:avLst/>
          </a:prstGeom>
          <a:solidFill>
            <a:srgbClr val="1A3A45"/>
          </a:solidFill>
          <a:ln cap="flat" cmpd="sng" w="20325">
            <a:solidFill>
              <a:srgbClr val="1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9436608" y="7315200"/>
            <a:ext cx="4974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✅  Total: ~9 Months  ·  5 Phases  ·  Crowdfunding Ready</a:t>
            </a:r>
            <a:endParaRPr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658368" y="7929677"/>
            <a:ext cx="8266200" cy="0"/>
          </a:xfrm>
          <a:prstGeom prst="straightConnector1">
            <a:avLst/>
          </a:prstGeom>
          <a:noFill/>
          <a:ln cap="flat" cmpd="sng" w="15250">
            <a:solidFill>
              <a:srgbClr val="C8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21"/>
          <p:cNvSpPr/>
          <p:nvPr/>
        </p:nvSpPr>
        <p:spPr>
          <a:xfrm>
            <a:off x="658368" y="7988198"/>
            <a:ext cx="8266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F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AFC0"/>
                </a:solidFill>
                <a:latin typeface="Calibri"/>
                <a:ea typeface="Calibri"/>
                <a:cs typeface="Calibri"/>
                <a:sym typeface="Calibri"/>
              </a:rPr>
              <a:t>Cloud Buddy  ·  Development 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9217152" y="0"/>
            <a:ext cx="5413500" cy="8229600"/>
          </a:xfrm>
          <a:prstGeom prst="rect">
            <a:avLst/>
          </a:prstGeom>
          <a:solidFill>
            <a:srgbClr val="2D5F6B"/>
          </a:solidFill>
          <a:ln cap="flat" cmpd="sng" w="20325">
            <a:solidFill>
              <a:srgbClr val="2D5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658368" y="321869"/>
            <a:ext cx="8193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4500"/>
              <a:buFont typeface="Georgia"/>
              <a:buNone/>
            </a:pPr>
            <a:r>
              <a:rPr b="1" i="0" lang="en-US" sz="4500" u="none" cap="none" strike="noStrike">
                <a:solidFill>
                  <a:srgbClr val="1A2E44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Crowdfunding Budget</a:t>
            </a:r>
            <a:endParaRPr i="0" sz="45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658368" y="1053389"/>
            <a:ext cx="81930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8FA8"/>
              </a:buClr>
              <a:buSzPts val="3500"/>
              <a:buFont typeface="Georgia"/>
              <a:buNone/>
            </a:pPr>
            <a:r>
              <a:rPr i="0" lang="en-US" sz="3500" u="none" cap="none" strike="noStrike">
                <a:solidFill>
                  <a:srgbClr val="5B8FA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Overview</a:t>
            </a:r>
            <a:endParaRPr i="0" sz="35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658368" y="1667866"/>
            <a:ext cx="1463100" cy="43800"/>
          </a:xfrm>
          <a:prstGeom prst="rect">
            <a:avLst/>
          </a:prstGeom>
          <a:solidFill>
            <a:srgbClr val="5B9BD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936346" y="2399386"/>
            <a:ext cx="0" cy="1433700"/>
          </a:xfrm>
          <a:prstGeom prst="straightConnector1">
            <a:avLst/>
          </a:prstGeom>
          <a:noFill/>
          <a:ln cap="flat" cmpd="sng" w="24350">
            <a:solidFill>
              <a:srgbClr val="C8D8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4" name="Google Shape;244;p22"/>
          <p:cNvSpPr/>
          <p:nvPr/>
        </p:nvSpPr>
        <p:spPr>
          <a:xfrm>
            <a:off x="658368" y="1843430"/>
            <a:ext cx="555900" cy="555900"/>
          </a:xfrm>
          <a:prstGeom prst="ellipse">
            <a:avLst/>
          </a:prstGeom>
          <a:solidFill>
            <a:srgbClr val="DCE9F5"/>
          </a:solidFill>
          <a:ln cap="flat" cmpd="sng" w="3047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658368" y="1843430"/>
            <a:ext cx="555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B9BD5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1492301" y="1858061"/>
            <a:ext cx="4681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Product Development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6320333" y="1872691"/>
            <a:ext cx="1316700" cy="322200"/>
          </a:xfrm>
          <a:prstGeom prst="rect">
            <a:avLst/>
          </a:prstGeom>
          <a:solidFill>
            <a:srgbClr val="DCE9F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6320333" y="1872691"/>
            <a:ext cx="13167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€9,500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492301" y="2282342"/>
            <a:ext cx="6174300" cy="95100"/>
          </a:xfrm>
          <a:prstGeom prst="rect">
            <a:avLst/>
          </a:prstGeom>
          <a:solidFill>
            <a:srgbClr val="E2EEF4"/>
          </a:solidFill>
          <a:ln cap="flat" cmpd="sng" w="20325">
            <a:solidFill>
              <a:srgbClr val="E2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1492301" y="2282342"/>
            <a:ext cx="3889500" cy="95100"/>
          </a:xfrm>
          <a:prstGeom prst="rect">
            <a:avLst/>
          </a:prstGeom>
          <a:solidFill>
            <a:srgbClr val="5B9BD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484352" y="2238451"/>
            <a:ext cx="14631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F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AFC0"/>
                </a:solidFill>
                <a:latin typeface="Calibri"/>
                <a:ea typeface="Calibri"/>
                <a:cs typeface="Calibri"/>
                <a:sym typeface="Calibri"/>
              </a:rPr>
              <a:t>63% of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1492301" y="2567635"/>
            <a:ext cx="102300" cy="102300"/>
          </a:xfrm>
          <a:prstGeom prst="ellipse">
            <a:avLst/>
          </a:prstGeom>
          <a:solidFill>
            <a:srgbClr val="5B9BD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1667866" y="2487168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Software Development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6495898" y="2487168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€7,000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1492301" y="2933395"/>
            <a:ext cx="102300" cy="102300"/>
          </a:xfrm>
          <a:prstGeom prst="ellipse">
            <a:avLst/>
          </a:prstGeom>
          <a:solidFill>
            <a:srgbClr val="5B9BD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1667866" y="2852928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UX/UI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6495898" y="2852928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€1,500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492301" y="3299155"/>
            <a:ext cx="102300" cy="102300"/>
          </a:xfrm>
          <a:prstGeom prst="ellipse">
            <a:avLst/>
          </a:prstGeom>
          <a:solidFill>
            <a:srgbClr val="5B9BD5"/>
          </a:solidFill>
          <a:ln cap="flat" cmpd="sng" w="203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1667866" y="3218688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Testing &amp; Bug Fixing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6495898" y="3218688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€1,000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22"/>
          <p:cNvCxnSpPr/>
          <p:nvPr/>
        </p:nvCxnSpPr>
        <p:spPr>
          <a:xfrm>
            <a:off x="936346" y="4389120"/>
            <a:ext cx="0" cy="1433700"/>
          </a:xfrm>
          <a:prstGeom prst="straightConnector1">
            <a:avLst/>
          </a:prstGeom>
          <a:noFill/>
          <a:ln cap="flat" cmpd="sng" w="24350">
            <a:solidFill>
              <a:srgbClr val="C8D8E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2" name="Google Shape;262;p22"/>
          <p:cNvSpPr/>
          <p:nvPr/>
        </p:nvSpPr>
        <p:spPr>
          <a:xfrm>
            <a:off x="658368" y="3833165"/>
            <a:ext cx="555900" cy="555900"/>
          </a:xfrm>
          <a:prstGeom prst="ellipse">
            <a:avLst/>
          </a:prstGeom>
          <a:solidFill>
            <a:srgbClr val="D4EBF1"/>
          </a:solidFill>
          <a:ln cap="flat" cmpd="sng" w="3047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658368" y="3833165"/>
            <a:ext cx="555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4A90A4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492301" y="3847795"/>
            <a:ext cx="4681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Cloud Infrastructure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320333" y="3862426"/>
            <a:ext cx="1316700" cy="322200"/>
          </a:xfrm>
          <a:prstGeom prst="rect">
            <a:avLst/>
          </a:prstGeom>
          <a:solidFill>
            <a:srgbClr val="D4EBF1"/>
          </a:solidFill>
          <a:ln cap="flat" cmpd="sng" w="203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6320333" y="3862426"/>
            <a:ext cx="13167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A4"/>
                </a:solidFill>
                <a:latin typeface="Calibri"/>
                <a:ea typeface="Calibri"/>
                <a:cs typeface="Calibri"/>
                <a:sym typeface="Calibri"/>
              </a:rPr>
              <a:t>€2,500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1492301" y="4272077"/>
            <a:ext cx="6174300" cy="95100"/>
          </a:xfrm>
          <a:prstGeom prst="rect">
            <a:avLst/>
          </a:prstGeom>
          <a:solidFill>
            <a:srgbClr val="E2EEF4"/>
          </a:solidFill>
          <a:ln cap="flat" cmpd="sng" w="20325">
            <a:solidFill>
              <a:srgbClr val="E2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1492301" y="4272077"/>
            <a:ext cx="1049700" cy="95100"/>
          </a:xfrm>
          <a:prstGeom prst="rect">
            <a:avLst/>
          </a:prstGeom>
          <a:solidFill>
            <a:srgbClr val="4A90A4"/>
          </a:solidFill>
          <a:ln cap="flat" cmpd="sng" w="203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2644299" y="4228186"/>
            <a:ext cx="14631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F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AFC0"/>
                </a:solidFill>
                <a:latin typeface="Calibri"/>
                <a:ea typeface="Calibri"/>
                <a:cs typeface="Calibri"/>
                <a:sym typeface="Calibri"/>
              </a:rPr>
              <a:t>17% of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492301" y="4557370"/>
            <a:ext cx="102300" cy="102300"/>
          </a:xfrm>
          <a:prstGeom prst="ellipse">
            <a:avLst/>
          </a:prstGeom>
          <a:solidFill>
            <a:srgbClr val="4A90A4"/>
          </a:solidFill>
          <a:ln cap="flat" cmpd="sng" w="203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1667866" y="4476902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Cloud Storage &amp;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6495898" y="4476902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A4"/>
                </a:solidFill>
                <a:latin typeface="Calibri"/>
                <a:ea typeface="Calibri"/>
                <a:cs typeface="Calibri"/>
                <a:sym typeface="Calibri"/>
              </a:rPr>
              <a:t>€1,000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1492301" y="4923130"/>
            <a:ext cx="102300" cy="102300"/>
          </a:xfrm>
          <a:prstGeom prst="ellipse">
            <a:avLst/>
          </a:prstGeom>
          <a:solidFill>
            <a:srgbClr val="4A90A4"/>
          </a:solidFill>
          <a:ln cap="flat" cmpd="sng" w="203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1667866" y="4842662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Security &amp; Data Backups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6495898" y="4842662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A4"/>
                </a:solidFill>
                <a:latin typeface="Calibri"/>
                <a:ea typeface="Calibri"/>
                <a:cs typeface="Calibri"/>
                <a:sym typeface="Calibri"/>
              </a:rPr>
              <a:t>€800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1492301" y="5288890"/>
            <a:ext cx="102300" cy="102300"/>
          </a:xfrm>
          <a:prstGeom prst="ellipse">
            <a:avLst/>
          </a:prstGeom>
          <a:solidFill>
            <a:srgbClr val="4A90A4"/>
          </a:solidFill>
          <a:ln cap="flat" cmpd="sng" w="20325">
            <a:solidFill>
              <a:srgbClr val="4A90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1667866" y="5208422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Initial Scalability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6495898" y="5208422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A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A4"/>
                </a:solidFill>
                <a:latin typeface="Calibri"/>
                <a:ea typeface="Calibri"/>
                <a:cs typeface="Calibri"/>
                <a:sym typeface="Calibri"/>
              </a:rPr>
              <a:t>€700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58368" y="5822899"/>
            <a:ext cx="555900" cy="555900"/>
          </a:xfrm>
          <a:prstGeom prst="ellipse">
            <a:avLst/>
          </a:prstGeom>
          <a:solidFill>
            <a:srgbClr val="C8E4EA"/>
          </a:solidFill>
          <a:ln cap="flat" cmpd="sng" w="3047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658368" y="5822899"/>
            <a:ext cx="555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7A8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3D7A8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1492301" y="5837530"/>
            <a:ext cx="4681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4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A2E44"/>
                </a:solidFill>
                <a:latin typeface="Calibri"/>
                <a:ea typeface="Calibri"/>
                <a:cs typeface="Calibri"/>
                <a:sym typeface="Calibri"/>
              </a:rPr>
              <a:t>Crowdfunding &amp; Launch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6320333" y="5852160"/>
            <a:ext cx="1316700" cy="322200"/>
          </a:xfrm>
          <a:prstGeom prst="rect">
            <a:avLst/>
          </a:prstGeom>
          <a:solidFill>
            <a:srgbClr val="C8E4EA"/>
          </a:solidFill>
          <a:ln cap="flat" cmpd="sng" w="2032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6320333" y="5852160"/>
            <a:ext cx="13167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7A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7A8A"/>
                </a:solidFill>
                <a:latin typeface="Calibri"/>
                <a:ea typeface="Calibri"/>
                <a:cs typeface="Calibri"/>
                <a:sym typeface="Calibri"/>
              </a:rPr>
              <a:t>€2,500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1492301" y="6261811"/>
            <a:ext cx="6174300" cy="95100"/>
          </a:xfrm>
          <a:prstGeom prst="rect">
            <a:avLst/>
          </a:prstGeom>
          <a:solidFill>
            <a:srgbClr val="E2EEF4"/>
          </a:solidFill>
          <a:ln cap="flat" cmpd="sng" w="20325">
            <a:solidFill>
              <a:srgbClr val="E2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1492301" y="6261811"/>
            <a:ext cx="1049700" cy="95100"/>
          </a:xfrm>
          <a:prstGeom prst="rect">
            <a:avLst/>
          </a:prstGeom>
          <a:solidFill>
            <a:srgbClr val="3D7A8A"/>
          </a:solidFill>
          <a:ln cap="flat" cmpd="sng" w="2032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2644299" y="6217920"/>
            <a:ext cx="14631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F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AFC0"/>
                </a:solidFill>
                <a:latin typeface="Calibri"/>
                <a:ea typeface="Calibri"/>
                <a:cs typeface="Calibri"/>
                <a:sym typeface="Calibri"/>
              </a:rPr>
              <a:t>17% of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1492301" y="6547104"/>
            <a:ext cx="102300" cy="102300"/>
          </a:xfrm>
          <a:prstGeom prst="ellipse">
            <a:avLst/>
          </a:prstGeom>
          <a:solidFill>
            <a:srgbClr val="3D7A8A"/>
          </a:solidFill>
          <a:ln cap="flat" cmpd="sng" w="2032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1667866" y="6466637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Campaign Video &amp; Visuals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6495898" y="6466637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7A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7A8A"/>
                </a:solidFill>
                <a:latin typeface="Calibri"/>
                <a:ea typeface="Calibri"/>
                <a:cs typeface="Calibri"/>
                <a:sym typeface="Calibri"/>
              </a:rPr>
              <a:t>€1,200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1492301" y="6912864"/>
            <a:ext cx="102300" cy="102300"/>
          </a:xfrm>
          <a:prstGeom prst="ellipse">
            <a:avLst/>
          </a:prstGeom>
          <a:solidFill>
            <a:srgbClr val="3D7A8A"/>
          </a:solidFill>
          <a:ln cap="flat" cmpd="sng" w="2032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1667866" y="6832397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Platform Fees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6495898" y="6832397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7A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7A8A"/>
                </a:solidFill>
                <a:latin typeface="Calibri"/>
                <a:ea typeface="Calibri"/>
                <a:cs typeface="Calibri"/>
                <a:sym typeface="Calibri"/>
              </a:rPr>
              <a:t>€500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492301" y="7278624"/>
            <a:ext cx="102300" cy="102300"/>
          </a:xfrm>
          <a:prstGeom prst="ellipse">
            <a:avLst/>
          </a:prstGeom>
          <a:solidFill>
            <a:srgbClr val="3D7A8A"/>
          </a:solidFill>
          <a:ln cap="flat" cmpd="sng" w="20325">
            <a:solidFill>
              <a:srgbClr val="3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1667866" y="7198157"/>
            <a:ext cx="48279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Social Media Marketing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6495898" y="7198157"/>
            <a:ext cx="10242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7A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D7A8A"/>
                </a:solidFill>
                <a:latin typeface="Calibri"/>
                <a:ea typeface="Calibri"/>
                <a:cs typeface="Calibri"/>
                <a:sym typeface="Calibri"/>
              </a:rPr>
              <a:t>€800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9436608" y="409651"/>
            <a:ext cx="497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Budget Breakdown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9436608" y="907085"/>
            <a:ext cx="49743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Target: €15,000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9509760" y="1433779"/>
            <a:ext cx="2827200" cy="409500"/>
          </a:xfrm>
          <a:prstGeom prst="rect">
            <a:avLst/>
          </a:prstGeom>
          <a:solidFill>
            <a:srgbClr val="A8C8E8"/>
          </a:solidFill>
          <a:ln cap="flat" cmpd="sng" w="20325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12380683" y="1433779"/>
            <a:ext cx="713700" cy="409500"/>
          </a:xfrm>
          <a:prstGeom prst="rect">
            <a:avLst/>
          </a:prstGeom>
          <a:solidFill>
            <a:srgbClr val="7BB3D4"/>
          </a:solidFill>
          <a:ln cap="flat" cmpd="sng" w="20325">
            <a:solidFill>
              <a:srgbClr val="7BB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13138099" y="1433779"/>
            <a:ext cx="713700" cy="409500"/>
          </a:xfrm>
          <a:prstGeom prst="rect">
            <a:avLst/>
          </a:prstGeom>
          <a:solidFill>
            <a:srgbClr val="5B9ABD"/>
          </a:solidFill>
          <a:ln cap="flat" cmpd="sng" w="20325">
            <a:solidFill>
              <a:srgbClr val="5B9A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9509760" y="1901952"/>
            <a:ext cx="4535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€15,000 total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9509760" y="2311603"/>
            <a:ext cx="234300" cy="234300"/>
          </a:xfrm>
          <a:prstGeom prst="rect">
            <a:avLst/>
          </a:prstGeom>
          <a:solidFill>
            <a:srgbClr val="A8C8E8"/>
          </a:solidFill>
          <a:ln cap="flat" cmpd="sng" w="20325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9831629" y="2253082"/>
            <a:ext cx="36576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Dev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9831629" y="2574950"/>
            <a:ext cx="3657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€9,500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9831629" y="2867558"/>
            <a:ext cx="4213500" cy="807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20325">
            <a:solidFill>
              <a:srgbClr val="FFFFFF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9831629" y="2867558"/>
            <a:ext cx="2667300" cy="80700"/>
          </a:xfrm>
          <a:prstGeom prst="rect">
            <a:avLst/>
          </a:prstGeom>
          <a:solidFill>
            <a:srgbClr val="A8C8E8"/>
          </a:solidFill>
          <a:ln cap="flat" cmpd="sng" w="20325">
            <a:solidFill>
              <a:srgbClr val="A8C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12586592" y="2809037"/>
            <a:ext cx="5850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63%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9509760" y="3130906"/>
            <a:ext cx="234300" cy="234300"/>
          </a:xfrm>
          <a:prstGeom prst="rect">
            <a:avLst/>
          </a:prstGeom>
          <a:solidFill>
            <a:srgbClr val="7BB3D4"/>
          </a:solidFill>
          <a:ln cap="flat" cmpd="sng" w="20325">
            <a:solidFill>
              <a:srgbClr val="7BB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9831629" y="3072384"/>
            <a:ext cx="36576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Infra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9831629" y="3394253"/>
            <a:ext cx="3657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€2,500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9831629" y="3686861"/>
            <a:ext cx="4213500" cy="807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20325">
            <a:solidFill>
              <a:srgbClr val="FFFFFF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9831629" y="3686861"/>
            <a:ext cx="703800" cy="80700"/>
          </a:xfrm>
          <a:prstGeom prst="rect">
            <a:avLst/>
          </a:prstGeom>
          <a:solidFill>
            <a:srgbClr val="7BB3D4"/>
          </a:solidFill>
          <a:ln cap="flat" cmpd="sng" w="20325">
            <a:solidFill>
              <a:srgbClr val="7BB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10623075" y="3628339"/>
            <a:ext cx="5850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17%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9509760" y="3950208"/>
            <a:ext cx="234300" cy="234300"/>
          </a:xfrm>
          <a:prstGeom prst="rect">
            <a:avLst/>
          </a:prstGeom>
          <a:solidFill>
            <a:srgbClr val="5B9ABD"/>
          </a:solidFill>
          <a:ln cap="flat" cmpd="sng" w="20325">
            <a:solidFill>
              <a:srgbClr val="5B9A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9831629" y="3891686"/>
            <a:ext cx="36576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831629" y="4213555"/>
            <a:ext cx="36576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€2,500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831629" y="4506163"/>
            <a:ext cx="4213500" cy="807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20325">
            <a:solidFill>
              <a:srgbClr val="FFFFFF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9831629" y="4506163"/>
            <a:ext cx="703800" cy="80700"/>
          </a:xfrm>
          <a:prstGeom prst="rect">
            <a:avLst/>
          </a:prstGeom>
          <a:solidFill>
            <a:srgbClr val="5B9ABD"/>
          </a:solidFill>
          <a:ln cap="flat" cmpd="sng" w="20325">
            <a:solidFill>
              <a:srgbClr val="5B9A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10623075" y="4447642"/>
            <a:ext cx="5850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4D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4DC"/>
                </a:solidFill>
                <a:latin typeface="Calibri"/>
                <a:ea typeface="Calibri"/>
                <a:cs typeface="Calibri"/>
                <a:sym typeface="Calibri"/>
              </a:rPr>
              <a:t>17%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9436608" y="7315200"/>
            <a:ext cx="4974300" cy="702300"/>
          </a:xfrm>
          <a:prstGeom prst="rect">
            <a:avLst/>
          </a:prstGeom>
          <a:solidFill>
            <a:srgbClr val="1A3A45"/>
          </a:solidFill>
          <a:ln cap="flat" cmpd="sng" w="20325">
            <a:solidFill>
              <a:srgbClr val="1A3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9436608" y="7315200"/>
            <a:ext cx="4974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  Total Target: €14,500 – €15,000  ·  100% to 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2"/>
          <p:cNvCxnSpPr/>
          <p:nvPr/>
        </p:nvCxnSpPr>
        <p:spPr>
          <a:xfrm>
            <a:off x="658368" y="7929677"/>
            <a:ext cx="8266200" cy="0"/>
          </a:xfrm>
          <a:prstGeom prst="straightConnector1">
            <a:avLst/>
          </a:prstGeom>
          <a:noFill/>
          <a:ln cap="flat" cmpd="sng" w="15250">
            <a:solidFill>
              <a:srgbClr val="C8D8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22"/>
          <p:cNvSpPr/>
          <p:nvPr/>
        </p:nvSpPr>
        <p:spPr>
          <a:xfrm>
            <a:off x="658368" y="7988198"/>
            <a:ext cx="8266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F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AFC0"/>
                </a:solidFill>
                <a:latin typeface="Calibri"/>
                <a:ea typeface="Calibri"/>
                <a:cs typeface="Calibri"/>
                <a:sym typeface="Calibri"/>
              </a:rPr>
              <a:t>Cloud Buddy  ·  Crowdfunding Budget 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9" name="Google Shape;3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3"/>
          <p:cNvSpPr/>
          <p:nvPr/>
        </p:nvSpPr>
        <p:spPr>
          <a:xfrm>
            <a:off x="6280190" y="102596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US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Why We Believe in Cloud Buddy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6280190" y="2783681"/>
            <a:ext cx="7556421" cy="4419838"/>
          </a:xfrm>
          <a:prstGeom prst="roundRect">
            <a:avLst>
              <a:gd fmla="val 4619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6280190" y="2783681"/>
            <a:ext cx="3778210" cy="2749987"/>
          </a:xfrm>
          <a:prstGeom prst="roundRect">
            <a:avLst>
              <a:gd fmla="val 7424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6507004" y="3010495"/>
            <a:ext cx="32244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US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Youth-Centric Solutions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6507004" y="3500914"/>
            <a:ext cx="332458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Young people crave intuitive, rapid, and dependable tools that seamlessly integrate into their dynamic lives.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10058400" y="2783681"/>
            <a:ext cx="3778210" cy="2749987"/>
          </a:xfrm>
          <a:prstGeom prst="rect">
            <a:avLst/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10058400" y="2783681"/>
            <a:ext cx="30480" cy="2749987"/>
          </a:xfrm>
          <a:prstGeom prst="roundRect">
            <a:avLst>
              <a:gd fmla="val 669768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0285214" y="3010495"/>
            <a:ext cx="332458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US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Future-Proof Technology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10285214" y="3855244"/>
            <a:ext cx="332458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Cloud technology is not just a trend; it's the foundational future of digital interaction, making our vision achievable.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280190" y="5533668"/>
            <a:ext cx="7556421" cy="1669852"/>
          </a:xfrm>
          <a:prstGeom prst="rect">
            <a:avLst/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6280190" y="5533668"/>
            <a:ext cx="7556421" cy="30480"/>
          </a:xfrm>
          <a:prstGeom prst="roundRect">
            <a:avLst>
              <a:gd fmla="val 669768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6507004" y="5760482"/>
            <a:ext cx="397490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lang="en-US" sz="2200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Personalised Problem Solving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6507004" y="6250900"/>
            <a:ext cx="710279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Our passion stems from addressing real, daily challenges that we, as young individuals, experience firsthand.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8" name="Google Shape;3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4"/>
          <p:cNvSpPr/>
          <p:nvPr/>
        </p:nvSpPr>
        <p:spPr>
          <a:xfrm>
            <a:off x="6280190" y="3408878"/>
            <a:ext cx="628495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lang="en-US" sz="4450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Join Us on This Journey!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Be part of a community building the future of digital interaction.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