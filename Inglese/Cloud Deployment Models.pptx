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9"/>
  </p:notesMasterIdLst>
  <p:sldIdLst>
    <p:sldId id="256" r:id="rId2"/>
    <p:sldId id="291" r:id="rId3"/>
    <p:sldId id="257" r:id="rId4"/>
    <p:sldId id="260" r:id="rId5"/>
    <p:sldId id="261" r:id="rId6"/>
    <p:sldId id="292" r:id="rId7"/>
    <p:sldId id="262" r:id="rId8"/>
    <p:sldId id="296" r:id="rId9"/>
    <p:sldId id="297" r:id="rId10"/>
    <p:sldId id="298" r:id="rId11"/>
    <p:sldId id="293" r:id="rId12"/>
    <p:sldId id="266" r:id="rId13"/>
    <p:sldId id="294" r:id="rId14"/>
    <p:sldId id="295" r:id="rId15"/>
    <p:sldId id="299" r:id="rId16"/>
    <p:sldId id="300" r:id="rId17"/>
    <p:sldId id="270" r:id="rId18"/>
  </p:sldIdLst>
  <p:sldSz cx="9144000" cy="5143500" type="screen16x9"/>
  <p:notesSz cx="6858000" cy="9144000"/>
  <p:embeddedFontLs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Medium" panose="020B0604020202020204" charset="0"/>
      <p:regular r:id="rId24"/>
      <p:bold r:id="rId25"/>
      <p:italic r:id="rId26"/>
      <p:boldItalic r:id="rId27"/>
    </p:embeddedFont>
    <p:embeddedFont>
      <p:font typeface="Nunito Light" pitchFamily="2" charset="0"/>
      <p:regular r:id="rId28"/>
      <p: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Roboto" panose="02000000000000000000" pitchFamily="2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04577E-8634-40F1-AF8A-497C29744C60}">
  <a:tblStyle styleId="{8604577E-8634-40F1-AF8A-497C29744C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101A19-BB70-4C5C-8AB6-280672506EB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8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viewProps" Target="view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8300ce3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8300ce3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2ECE4116-BCB0-E082-22FE-5BB92F5C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C8E7154A-73A6-1FE9-6EAF-11F4CD841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C931B970-7A5C-8B62-2993-03FBF2408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3649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a9633a7f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a9633a7f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82619A8D-2D96-0B30-AC11-3EAB920D4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A60BC9F6-6421-C38A-FA32-BB9AE6521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DE50BC0D-C344-2C17-90FE-DE5304D22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2915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0A67F430-B5A7-DABB-9076-354B178A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32:notes">
            <a:extLst>
              <a:ext uri="{FF2B5EF4-FFF2-40B4-BE49-F238E27FC236}">
                <a16:creationId xmlns:a16="http://schemas.microsoft.com/office/drawing/2014/main" id="{B208DC49-26CF-5744-2A91-E120A8C39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32:notes">
            <a:extLst>
              <a:ext uri="{FF2B5EF4-FFF2-40B4-BE49-F238E27FC236}">
                <a16:creationId xmlns:a16="http://schemas.microsoft.com/office/drawing/2014/main" id="{A249B163-56EA-2838-07C4-4CAA4A733B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90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B7B7FEB8-A7FC-1B04-E2E8-73A3CAA7B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32:notes">
            <a:extLst>
              <a:ext uri="{FF2B5EF4-FFF2-40B4-BE49-F238E27FC236}">
                <a16:creationId xmlns:a16="http://schemas.microsoft.com/office/drawing/2014/main" id="{47BB34FB-8E19-F89D-2DD8-F88BF45DA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32:notes">
            <a:extLst>
              <a:ext uri="{FF2B5EF4-FFF2-40B4-BE49-F238E27FC236}">
                <a16:creationId xmlns:a16="http://schemas.microsoft.com/office/drawing/2014/main" id="{78D07C77-9596-C4CA-15F7-E296F21C9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5256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>
          <a:extLst>
            <a:ext uri="{FF2B5EF4-FFF2-40B4-BE49-F238E27FC236}">
              <a16:creationId xmlns:a16="http://schemas.microsoft.com/office/drawing/2014/main" id="{E62F7A7B-2CAF-83A1-4B71-070C18F13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32:notes">
            <a:extLst>
              <a:ext uri="{FF2B5EF4-FFF2-40B4-BE49-F238E27FC236}">
                <a16:creationId xmlns:a16="http://schemas.microsoft.com/office/drawing/2014/main" id="{C9DB8D78-6D30-51A2-249A-2BB4D9ED65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32:notes">
            <a:extLst>
              <a:ext uri="{FF2B5EF4-FFF2-40B4-BE49-F238E27FC236}">
                <a16:creationId xmlns:a16="http://schemas.microsoft.com/office/drawing/2014/main" id="{EDCCFA41-BC2B-DE83-712E-EC4E4B73BC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2920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D3E073AB-858C-B35A-A08D-E578C874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50FF912A-F96D-AFB6-17A0-32A261BAB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5740CB9D-1E1E-D6FA-DE7B-71D3B1966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13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90cccfa97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90cccfa97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6B0BDD39-CDC2-2197-808B-69288196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E0394BDB-60FC-182D-BBDE-A31714AD3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6A9325E2-8960-934F-BCBC-AEE10B2A1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712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7E4AE0A7-2686-1084-640E-559260DA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8300ce307_0_10:notes">
            <a:extLst>
              <a:ext uri="{FF2B5EF4-FFF2-40B4-BE49-F238E27FC236}">
                <a16:creationId xmlns:a16="http://schemas.microsoft.com/office/drawing/2014/main" id="{7F074947-9E25-D333-CF74-C81F8CBA5E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8300ce307_0_10:notes">
            <a:extLst>
              <a:ext uri="{FF2B5EF4-FFF2-40B4-BE49-F238E27FC236}">
                <a16:creationId xmlns:a16="http://schemas.microsoft.com/office/drawing/2014/main" id="{5F520899-228E-B843-0F93-00A9195C98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7392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>
          <a:extLst>
            <a:ext uri="{FF2B5EF4-FFF2-40B4-BE49-F238E27FC236}">
              <a16:creationId xmlns:a16="http://schemas.microsoft.com/office/drawing/2014/main" id="{38FE00C9-29B3-A0F1-1FBF-FE338768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7e906a12e_0_14008:notes">
            <a:extLst>
              <a:ext uri="{FF2B5EF4-FFF2-40B4-BE49-F238E27FC236}">
                <a16:creationId xmlns:a16="http://schemas.microsoft.com/office/drawing/2014/main" id="{5BC1373F-9056-D57B-D0E9-26AB5301D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7e906a12e_0_14008:notes">
            <a:extLst>
              <a:ext uri="{FF2B5EF4-FFF2-40B4-BE49-F238E27FC236}">
                <a16:creationId xmlns:a16="http://schemas.microsoft.com/office/drawing/2014/main" id="{97FFDF86-3E45-42A2-6A01-7D83B9C04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092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20368719-175C-F50C-9B1E-8A925AC13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48300ce307_0_10:notes">
            <a:extLst>
              <a:ext uri="{FF2B5EF4-FFF2-40B4-BE49-F238E27FC236}">
                <a16:creationId xmlns:a16="http://schemas.microsoft.com/office/drawing/2014/main" id="{249384BA-1755-4251-F182-265CC1367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48300ce307_0_10:notes">
            <a:extLst>
              <a:ext uri="{FF2B5EF4-FFF2-40B4-BE49-F238E27FC236}">
                <a16:creationId xmlns:a16="http://schemas.microsoft.com/office/drawing/2014/main" id="{C6EBE1F7-4102-339F-0336-9F1E59E738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4730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2376" y="984098"/>
            <a:ext cx="1235700" cy="87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720000" y="3318362"/>
            <a:ext cx="4661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719975" y="1734787"/>
            <a:ext cx="46614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719975" y="1379888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719975" y="2963463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>
            <a:spLocks noGrp="1"/>
          </p:cNvSpPr>
          <p:nvPr>
            <p:ph type="pic" idx="5"/>
          </p:nvPr>
        </p:nvSpPr>
        <p:spPr>
          <a:xfrm>
            <a:off x="5696375" y="1379900"/>
            <a:ext cx="2727600" cy="2861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713225" y="448050"/>
            <a:ext cx="36813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13225" y="1744525"/>
            <a:ext cx="3681300" cy="21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4709525" y="445775"/>
            <a:ext cx="3721200" cy="4251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288150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1284000" y="2901800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00863"/>
            <a:ext cx="5778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3" hasCustomPrompt="1"/>
          </p:nvPr>
        </p:nvSpPr>
        <p:spPr>
          <a:xfrm>
            <a:off x="4223200" y="1400840"/>
            <a:ext cx="5760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2472438"/>
            <a:ext cx="5778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5" hasCustomPrompt="1"/>
          </p:nvPr>
        </p:nvSpPr>
        <p:spPr>
          <a:xfrm>
            <a:off x="4223200" y="2472414"/>
            <a:ext cx="5760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3544013"/>
            <a:ext cx="5778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7" hasCustomPrompt="1"/>
          </p:nvPr>
        </p:nvSpPr>
        <p:spPr>
          <a:xfrm>
            <a:off x="4223200" y="3543989"/>
            <a:ext cx="576000" cy="67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1292489" y="1400867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8"/>
          </p:nvPr>
        </p:nvSpPr>
        <p:spPr>
          <a:xfrm>
            <a:off x="1292489" y="2472433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9"/>
          </p:nvPr>
        </p:nvSpPr>
        <p:spPr>
          <a:xfrm>
            <a:off x="1292489" y="3544000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3"/>
          </p:nvPr>
        </p:nvSpPr>
        <p:spPr>
          <a:xfrm>
            <a:off x="4799202" y="1400867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4"/>
          </p:nvPr>
        </p:nvSpPr>
        <p:spPr>
          <a:xfrm>
            <a:off x="4799202" y="2472431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ubTitle" idx="15"/>
          </p:nvPr>
        </p:nvSpPr>
        <p:spPr>
          <a:xfrm>
            <a:off x="4799202" y="3543996"/>
            <a:ext cx="27021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_1">
    <p:bg>
      <p:bgPr>
        <a:solidFill>
          <a:schemeClr val="dk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1"/>
          </p:nvPr>
        </p:nvSpPr>
        <p:spPr>
          <a:xfrm>
            <a:off x="713225" y="1423672"/>
            <a:ext cx="44481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713225" y="3164478"/>
            <a:ext cx="3099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CREDITS: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This presentation template was created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, and includes icons, infographics &amp; images by </a:t>
            </a:r>
            <a:r>
              <a:rPr lang="en" sz="1000" b="1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000" b="1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 rot="10800000" flipH="1">
            <a:off x="117900" y="119100"/>
            <a:ext cx="8908200" cy="473190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ter Medium"/>
              <a:buNone/>
              <a:defRPr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7" r:id="rId14"/>
    <p:sldLayoutId id="2147483668" r:id="rId15"/>
    <p:sldLayoutId id="2147483669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ctrTitle"/>
          </p:nvPr>
        </p:nvSpPr>
        <p:spPr>
          <a:xfrm>
            <a:off x="713225" y="1066800"/>
            <a:ext cx="5407800" cy="166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>
                <a:solidFill>
                  <a:schemeClr val="bg1"/>
                </a:solidFill>
              </a:rPr>
              <a:t>Cloud Deployment Models</a:t>
            </a:r>
            <a:endParaRPr lang="it-IT">
              <a:solidFill>
                <a:schemeClr val="bg1"/>
              </a:solidFill>
            </a:endParaRPr>
          </a:p>
        </p:txBody>
      </p:sp>
      <p:sp>
        <p:nvSpPr>
          <p:cNvPr id="138" name="Google Shape;138;p28"/>
          <p:cNvSpPr txBox="1">
            <a:spLocks noGrp="1"/>
          </p:cNvSpPr>
          <p:nvPr>
            <p:ph type="subTitle" idx="1"/>
          </p:nvPr>
        </p:nvSpPr>
        <p:spPr>
          <a:xfrm>
            <a:off x="713226" y="3395547"/>
            <a:ext cx="63501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where our presentation begins</a:t>
            </a:r>
            <a:endParaRPr dirty="0"/>
          </a:p>
        </p:txBody>
      </p:sp>
      <p:sp>
        <p:nvSpPr>
          <p:cNvPr id="139" name="Google Shape;139;p28"/>
          <p:cNvSpPr txBox="1"/>
          <p:nvPr/>
        </p:nvSpPr>
        <p:spPr>
          <a:xfrm>
            <a:off x="1343325" y="4851000"/>
            <a:ext cx="152571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8"/>
          <p:cNvSpPr txBox="1"/>
          <p:nvPr/>
        </p:nvSpPr>
        <p:spPr>
          <a:xfrm>
            <a:off x="117900" y="4851000"/>
            <a:ext cx="122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17/02/2026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CSP 2025/2027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CFCBBD5-3E3B-5272-08A4-AA228C95A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A9DD6974-FCB2-5E59-4798-139808620B97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9D91F328-67BD-5025-1462-EA6748402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</a:t>
            </a:r>
            <a:endParaRPr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CCCA021B-25BC-E11D-F314-4234BE0B6FE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66E8AC1-C956-45BE-5D5C-AD8960A9F358}"/>
              </a:ext>
            </a:extLst>
          </p:cNvPr>
          <p:cNvSpPr/>
          <p:nvPr/>
        </p:nvSpPr>
        <p:spPr>
          <a:xfrm>
            <a:off x="730500" y="2738530"/>
            <a:ext cx="3363063" cy="92279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Google Shape;158;p30">
            <a:extLst>
              <a:ext uri="{FF2B5EF4-FFF2-40B4-BE49-F238E27FC236}">
                <a16:creationId xmlns:a16="http://schemas.microsoft.com/office/drawing/2014/main" id="{D67EEB0F-B4B7-9F7C-1A55-D0226732D965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190405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1605;p53">
            <a:extLst>
              <a:ext uri="{FF2B5EF4-FFF2-40B4-BE49-F238E27FC236}">
                <a16:creationId xmlns:a16="http://schemas.microsoft.com/office/drawing/2014/main" id="{3967DBE0-1C67-5BA0-CD23-0A241C392E11}"/>
              </a:ext>
            </a:extLst>
          </p:cNvPr>
          <p:cNvGrpSpPr/>
          <p:nvPr/>
        </p:nvGrpSpPr>
        <p:grpSpPr>
          <a:xfrm>
            <a:off x="2908219" y="644400"/>
            <a:ext cx="3158598" cy="3526472"/>
            <a:chOff x="4002252" y="539625"/>
            <a:chExt cx="1139490" cy="1109700"/>
          </a:xfrm>
        </p:grpSpPr>
        <p:sp>
          <p:nvSpPr>
            <p:cNvPr id="8" name="Google Shape;1606;p53">
              <a:extLst>
                <a:ext uri="{FF2B5EF4-FFF2-40B4-BE49-F238E27FC236}">
                  <a16:creationId xmlns:a16="http://schemas.microsoft.com/office/drawing/2014/main" id="{AA05E6F0-5CCB-22EE-0B60-B56CA96C45B8}"/>
                </a:ext>
              </a:extLst>
            </p:cNvPr>
            <p:cNvSpPr/>
            <p:nvPr/>
          </p:nvSpPr>
          <p:spPr>
            <a:xfrm>
              <a:off x="4118850" y="663825"/>
              <a:ext cx="906300" cy="861300"/>
            </a:xfrm>
            <a:prstGeom prst="pentagon">
              <a:avLst>
                <a:gd name="hf" fmla="val 105146"/>
                <a:gd name="vf" fmla="val 110557"/>
              </a:avLst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" name="Google Shape;1607;p53">
              <a:extLst>
                <a:ext uri="{FF2B5EF4-FFF2-40B4-BE49-F238E27FC236}">
                  <a16:creationId xmlns:a16="http://schemas.microsoft.com/office/drawing/2014/main" id="{5DFD6072-7917-494C-5135-381F61B2A735}"/>
                </a:ext>
              </a:extLst>
            </p:cNvPr>
            <p:cNvSpPr/>
            <p:nvPr/>
          </p:nvSpPr>
          <p:spPr>
            <a:xfrm>
              <a:off x="4425291" y="539625"/>
              <a:ext cx="293400" cy="293400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" name="Google Shape;1608;p53">
              <a:extLst>
                <a:ext uri="{FF2B5EF4-FFF2-40B4-BE49-F238E27FC236}">
                  <a16:creationId xmlns:a16="http://schemas.microsoft.com/office/drawing/2014/main" id="{4C8EA8FD-EF0E-9410-05FA-55ADED04EB5C}"/>
                </a:ext>
              </a:extLst>
            </p:cNvPr>
            <p:cNvSpPr/>
            <p:nvPr/>
          </p:nvSpPr>
          <p:spPr>
            <a:xfrm>
              <a:off x="4848342" y="833050"/>
              <a:ext cx="293400" cy="293400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" name="Google Shape;1609;p53">
              <a:extLst>
                <a:ext uri="{FF2B5EF4-FFF2-40B4-BE49-F238E27FC236}">
                  <a16:creationId xmlns:a16="http://schemas.microsoft.com/office/drawing/2014/main" id="{838680BC-6046-F911-A08A-12F6ACE6B9CD}"/>
                </a:ext>
              </a:extLst>
            </p:cNvPr>
            <p:cNvSpPr/>
            <p:nvPr/>
          </p:nvSpPr>
          <p:spPr>
            <a:xfrm>
              <a:off x="4002252" y="833050"/>
              <a:ext cx="293400" cy="293400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" name="Google Shape;1610;p53">
              <a:extLst>
                <a:ext uri="{FF2B5EF4-FFF2-40B4-BE49-F238E27FC236}">
                  <a16:creationId xmlns:a16="http://schemas.microsoft.com/office/drawing/2014/main" id="{B9D4AECA-E142-E68C-AC3F-8900ED9D09DC}"/>
                </a:ext>
              </a:extLst>
            </p:cNvPr>
            <p:cNvSpPr/>
            <p:nvPr/>
          </p:nvSpPr>
          <p:spPr>
            <a:xfrm>
              <a:off x="4156253" y="1345613"/>
              <a:ext cx="293400" cy="293400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" name="Google Shape;1611;p53">
              <a:extLst>
                <a:ext uri="{FF2B5EF4-FFF2-40B4-BE49-F238E27FC236}">
                  <a16:creationId xmlns:a16="http://schemas.microsoft.com/office/drawing/2014/main" id="{3FDD7C94-5F72-877B-B0D4-F686AF69F191}"/>
                </a:ext>
              </a:extLst>
            </p:cNvPr>
            <p:cNvSpPr/>
            <p:nvPr/>
          </p:nvSpPr>
          <p:spPr>
            <a:xfrm>
              <a:off x="4694328" y="1355925"/>
              <a:ext cx="293400" cy="293400"/>
            </a:xfrm>
            <a:prstGeom prst="ellipse">
              <a:avLst/>
            </a:prstGeom>
            <a:gradFill flip="none" rotWithShape="1">
              <a:gsLst>
                <a:gs pos="0">
                  <a:srgbClr val="00B0F0">
                    <a:tint val="66000"/>
                    <a:satMod val="160000"/>
                  </a:srgbClr>
                </a:gs>
                <a:gs pos="50000">
                  <a:srgbClr val="00B0F0">
                    <a:tint val="44500"/>
                    <a:satMod val="160000"/>
                  </a:srgbClr>
                </a:gs>
                <a:gs pos="100000">
                  <a:srgbClr val="00B0F0">
                    <a:tint val="23500"/>
                    <a:satMod val="16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4" name="Google Shape;1612;p53">
              <a:extLst>
                <a:ext uri="{FF2B5EF4-FFF2-40B4-BE49-F238E27FC236}">
                  <a16:creationId xmlns:a16="http://schemas.microsoft.com/office/drawing/2014/main" id="{040E9893-E48F-B615-E47D-74BA9A435FD5}"/>
                </a:ext>
              </a:extLst>
            </p:cNvPr>
            <p:cNvCxnSpPr>
              <a:stCxn id="11" idx="0"/>
              <a:endCxn id="9" idx="2"/>
            </p:cNvCxnSpPr>
            <p:nvPr/>
          </p:nvCxnSpPr>
          <p:spPr>
            <a:xfrm rot="-5400000">
              <a:off x="4213752" y="621550"/>
              <a:ext cx="146700" cy="2763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5" name="Google Shape;1613;p53">
              <a:extLst>
                <a:ext uri="{FF2B5EF4-FFF2-40B4-BE49-F238E27FC236}">
                  <a16:creationId xmlns:a16="http://schemas.microsoft.com/office/drawing/2014/main" id="{EFFD99D9-BFBA-0209-318C-393D70A2F2E9}"/>
                </a:ext>
              </a:extLst>
            </p:cNvPr>
            <p:cNvCxnSpPr>
              <a:stCxn id="9" idx="6"/>
              <a:endCxn id="10" idx="0"/>
            </p:cNvCxnSpPr>
            <p:nvPr/>
          </p:nvCxnSpPr>
          <p:spPr>
            <a:xfrm>
              <a:off x="4718691" y="686325"/>
              <a:ext cx="276300" cy="146700"/>
            </a:xfrm>
            <a:prstGeom prst="curvedConnector2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6" name="Google Shape;1614;p53">
              <a:extLst>
                <a:ext uri="{FF2B5EF4-FFF2-40B4-BE49-F238E27FC236}">
                  <a16:creationId xmlns:a16="http://schemas.microsoft.com/office/drawing/2014/main" id="{2E030C4C-2BFD-06ED-A29B-14D075CFBA65}"/>
                </a:ext>
              </a:extLst>
            </p:cNvPr>
            <p:cNvCxnSpPr>
              <a:stCxn id="10" idx="5"/>
              <a:endCxn id="13" idx="6"/>
            </p:cNvCxnSpPr>
            <p:nvPr/>
          </p:nvCxnSpPr>
          <p:spPr>
            <a:xfrm rot="5400000">
              <a:off x="4833725" y="1237533"/>
              <a:ext cx="419100" cy="111000"/>
            </a:xfrm>
            <a:prstGeom prst="curved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" name="Google Shape;1615;p53">
              <a:extLst>
                <a:ext uri="{FF2B5EF4-FFF2-40B4-BE49-F238E27FC236}">
                  <a16:creationId xmlns:a16="http://schemas.microsoft.com/office/drawing/2014/main" id="{38DF975F-F465-A7F4-8C90-18E38EBC4836}"/>
                </a:ext>
              </a:extLst>
            </p:cNvPr>
            <p:cNvCxnSpPr>
              <a:stCxn id="13" idx="3"/>
              <a:endCxn id="12" idx="5"/>
            </p:cNvCxnSpPr>
            <p:nvPr/>
          </p:nvCxnSpPr>
          <p:spPr>
            <a:xfrm rot="5400000" flipH="1">
              <a:off x="4566896" y="1435958"/>
              <a:ext cx="10200" cy="330600"/>
            </a:xfrm>
            <a:prstGeom prst="curvedConnector3">
              <a:avLst>
                <a:gd name="adj1" fmla="val -593612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8" name="Google Shape;1616;p53">
              <a:extLst>
                <a:ext uri="{FF2B5EF4-FFF2-40B4-BE49-F238E27FC236}">
                  <a16:creationId xmlns:a16="http://schemas.microsoft.com/office/drawing/2014/main" id="{2A5C45B3-2C08-F9AC-CB18-8C7143DEB466}"/>
                </a:ext>
              </a:extLst>
            </p:cNvPr>
            <p:cNvCxnSpPr>
              <a:stCxn id="12" idx="2"/>
              <a:endCxn id="11" idx="3"/>
            </p:cNvCxnSpPr>
            <p:nvPr/>
          </p:nvCxnSpPr>
          <p:spPr>
            <a:xfrm rot="10800000">
              <a:off x="4045253" y="1083413"/>
              <a:ext cx="111000" cy="408900"/>
            </a:xfrm>
            <a:prstGeom prst="curvedConnector2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635518" y="4572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noProof="0"/>
              <a:t>Definition</a:t>
            </a:r>
          </a:p>
        </p:txBody>
      </p:sp>
      <p:sp>
        <p:nvSpPr>
          <p:cNvPr id="150" name="Google Shape;150;p29"/>
          <p:cNvSpPr txBox="1">
            <a:spLocks noGrp="1"/>
          </p:cNvSpPr>
          <p:nvPr>
            <p:ph type="body" idx="1"/>
          </p:nvPr>
        </p:nvSpPr>
        <p:spPr>
          <a:xfrm>
            <a:off x="720000" y="1210225"/>
            <a:ext cx="7704000" cy="3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noProof="0"/>
              <a:t>Cloud Deployment Models</a:t>
            </a:r>
          </a:p>
        </p:txBody>
      </p:sp>
      <p:sp>
        <p:nvSpPr>
          <p:cNvPr id="3" name="Google Shape;168;p30">
            <a:extLst>
              <a:ext uri="{FF2B5EF4-FFF2-40B4-BE49-F238E27FC236}">
                <a16:creationId xmlns:a16="http://schemas.microsoft.com/office/drawing/2014/main" id="{1DE06730-2EF0-94F6-C253-F481738CF523}"/>
              </a:ext>
            </a:extLst>
          </p:cNvPr>
          <p:cNvSpPr txBox="1">
            <a:spLocks/>
          </p:cNvSpPr>
          <p:nvPr/>
        </p:nvSpPr>
        <p:spPr>
          <a:xfrm>
            <a:off x="730500" y="1660924"/>
            <a:ext cx="2702100" cy="74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Font typeface="Nunito Light"/>
              <a:buNone/>
            </a:pPr>
            <a:r>
              <a:rPr lang="en-GB" noProof="0"/>
              <a:t>Where your cloud infrastructure lives, who manages it and who can access it.</a:t>
            </a:r>
          </a:p>
        </p:txBody>
      </p:sp>
      <p:sp>
        <p:nvSpPr>
          <p:cNvPr id="4" name="Google Shape;168;p30">
            <a:extLst>
              <a:ext uri="{FF2B5EF4-FFF2-40B4-BE49-F238E27FC236}">
                <a16:creationId xmlns:a16="http://schemas.microsoft.com/office/drawing/2014/main" id="{C421BD07-30AE-2C33-4271-6FE8281872AC}"/>
              </a:ext>
            </a:extLst>
          </p:cNvPr>
          <p:cNvSpPr txBox="1">
            <a:spLocks/>
          </p:cNvSpPr>
          <p:nvPr/>
        </p:nvSpPr>
        <p:spPr>
          <a:xfrm>
            <a:off x="720000" y="2882604"/>
            <a:ext cx="2702100" cy="746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None/>
            </a:pPr>
            <a:r>
              <a:rPr lang="en-GB"/>
              <a:t>It is like choosing from what kind of building your business operates.</a:t>
            </a:r>
            <a:endParaRPr lang="en-GB" noProof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7F6C870-4E35-E62B-9293-F67E6DB2E7BB}"/>
              </a:ext>
            </a:extLst>
          </p:cNvPr>
          <p:cNvSpPr txBox="1"/>
          <p:nvPr/>
        </p:nvSpPr>
        <p:spPr>
          <a:xfrm>
            <a:off x="4572000" y="199214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err="1"/>
              <a:t>There</a:t>
            </a:r>
            <a:r>
              <a:rPr lang="it-IT" sz="1200"/>
              <a:t> are </a:t>
            </a:r>
            <a:r>
              <a:rPr lang="it-IT" sz="1200" err="1"/>
              <a:t>four</a:t>
            </a:r>
            <a:r>
              <a:rPr lang="it-IT" sz="1200"/>
              <a:t> </a:t>
            </a:r>
            <a:r>
              <a:rPr lang="it-IT" sz="1200" err="1"/>
              <a:t>main</a:t>
            </a:r>
            <a:r>
              <a:rPr lang="it-IT" sz="1200"/>
              <a:t> models:</a:t>
            </a:r>
          </a:p>
          <a:p>
            <a:endParaRPr lang="it-IT" sz="1200"/>
          </a:p>
          <a:p>
            <a:r>
              <a:rPr lang="it-IT" sz="1200"/>
              <a:t>-Public cloud		-Private cloud</a:t>
            </a:r>
          </a:p>
          <a:p>
            <a:r>
              <a:rPr lang="it-IT" sz="1200"/>
              <a:t>-</a:t>
            </a:r>
            <a:r>
              <a:rPr lang="it-IT" sz="1200" err="1"/>
              <a:t>Hybrid</a:t>
            </a:r>
            <a:r>
              <a:rPr lang="it-IT" sz="1200"/>
              <a:t> cloud		-Multi-cloud</a:t>
            </a:r>
          </a:p>
        </p:txBody>
      </p:sp>
      <p:sp>
        <p:nvSpPr>
          <p:cNvPr id="19" name="Google Shape;158;p30">
            <a:extLst>
              <a:ext uri="{FF2B5EF4-FFF2-40B4-BE49-F238E27FC236}">
                <a16:creationId xmlns:a16="http://schemas.microsoft.com/office/drawing/2014/main" id="{F99C11F0-3538-0719-1B8E-CAF8295657A3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Why It Exists</a:t>
            </a:r>
          </a:p>
        </p:txBody>
      </p:sp>
      <p:sp>
        <p:nvSpPr>
          <p:cNvPr id="192" name="Google Shape;192;p32"/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</a:p>
        </p:txBody>
      </p:sp>
      <p:sp>
        <p:nvSpPr>
          <p:cNvPr id="193" name="Google Shape;193;p32"/>
          <p:cNvSpPr txBox="1">
            <a:spLocks noGrp="1"/>
          </p:cNvSpPr>
          <p:nvPr>
            <p:ph type="subTitle" idx="1"/>
          </p:nvPr>
        </p:nvSpPr>
        <p:spPr>
          <a:xfrm>
            <a:off x="722374" y="3431199"/>
            <a:ext cx="41319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81717"/>
              </a:buClr>
              <a:buSzPts val="1100"/>
              <a:buFont typeface="Arial"/>
              <a:buNone/>
            </a:pPr>
            <a:r>
              <a:rPr lang="en"/>
              <a:t>You can enter a subtitle here if you need it</a:t>
            </a:r>
            <a:endParaRPr/>
          </a:p>
        </p:txBody>
      </p:sp>
      <p:sp>
        <p:nvSpPr>
          <p:cNvPr id="2" name="Google Shape;158;p30">
            <a:extLst>
              <a:ext uri="{FF2B5EF4-FFF2-40B4-BE49-F238E27FC236}">
                <a16:creationId xmlns:a16="http://schemas.microsoft.com/office/drawing/2014/main" id="{39BED271-B06A-AC14-98CF-734A0B9E246F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>
            <a:spLocks noGrp="1"/>
          </p:cNvSpPr>
          <p:nvPr>
            <p:ph type="title"/>
          </p:nvPr>
        </p:nvSpPr>
        <p:spPr>
          <a:xfrm>
            <a:off x="713275" y="794675"/>
            <a:ext cx="77175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have a look</a:t>
            </a:r>
            <a:endParaRPr/>
          </a:p>
        </p:txBody>
      </p:sp>
      <p:sp>
        <p:nvSpPr>
          <p:cNvPr id="199" name="Google Shape;199;p33"/>
          <p:cNvSpPr txBox="1">
            <a:spLocks noGrp="1"/>
          </p:cNvSpPr>
          <p:nvPr>
            <p:ph type="body" idx="1"/>
          </p:nvPr>
        </p:nvSpPr>
        <p:spPr>
          <a:xfrm>
            <a:off x="3488849" y="2398525"/>
            <a:ext cx="4941900" cy="195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/>
              <a:t>Before cloud computing, every company had to buy, maintain, and secure its own physical server  ---- expensive, slow to scale, and a nightmare to manage. When cloud computing emerged, organizations faced a new question: how do we deploy our infrastructure in a way that balances cost, control, security, and flexibility? </a:t>
            </a:r>
            <a:endParaRPr lang="it-IT"/>
          </a:p>
          <a:p>
            <a:pPr marL="0" indent="0">
              <a:buNone/>
            </a:pPr>
            <a:endParaRPr lang="en"/>
          </a:p>
          <a:p>
            <a:pPr marL="0" indent="0">
              <a:buNone/>
            </a:pPr>
            <a:r>
              <a:rPr lang="en"/>
              <a:t>Not every business has the same needs. A hospital handling patient records has very different requirements than a music streaming startup. Deployment models exist to give organizations a structured way to answer the question: "What's the right cloud setup for us?"</a:t>
            </a:r>
          </a:p>
        </p:txBody>
      </p:sp>
      <p:sp>
        <p:nvSpPr>
          <p:cNvPr id="2" name="Google Shape;158;p30">
            <a:extLst>
              <a:ext uri="{FF2B5EF4-FFF2-40B4-BE49-F238E27FC236}">
                <a16:creationId xmlns:a16="http://schemas.microsoft.com/office/drawing/2014/main" id="{C842B4C7-A629-674F-4FBB-9C83E478F59D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">
          <a:extLst>
            <a:ext uri="{FF2B5EF4-FFF2-40B4-BE49-F238E27FC236}">
              <a16:creationId xmlns:a16="http://schemas.microsoft.com/office/drawing/2014/main" id="{6CEAC625-931B-2A3D-3937-A4C092165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>
            <a:extLst>
              <a:ext uri="{FF2B5EF4-FFF2-40B4-BE49-F238E27FC236}">
                <a16:creationId xmlns:a16="http://schemas.microsoft.com/office/drawing/2014/main" id="{1205F665-64A4-6A70-517C-A9AFA8EE81D9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9CC330AE-BC42-624B-681D-A979434BF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EFEEE7"/>
                </a:solidFill>
              </a:rPr>
              <a:t>How It Works</a:t>
            </a:r>
            <a:endParaRPr lang="it-IT"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28BF8CDD-9F6A-E723-A709-9F84384814D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924050-3041-6BAC-0CE5-EE65695046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" name="Google Shape;158;p30">
            <a:extLst>
              <a:ext uri="{FF2B5EF4-FFF2-40B4-BE49-F238E27FC236}">
                <a16:creationId xmlns:a16="http://schemas.microsoft.com/office/drawing/2014/main" id="{4E1AFBA4-97B7-DAC9-BC14-8D5AEDD21C9D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60724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>
            <a:spLocks noGrp="1"/>
          </p:cNvSpPr>
          <p:nvPr>
            <p:ph type="title"/>
          </p:nvPr>
        </p:nvSpPr>
        <p:spPr>
          <a:xfrm>
            <a:off x="118155" y="1567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Public cloud</a:t>
            </a:r>
          </a:p>
        </p:txBody>
      </p:sp>
      <p:sp>
        <p:nvSpPr>
          <p:cNvPr id="213" name="Google Shape;213;p34"/>
          <p:cNvSpPr txBox="1">
            <a:spLocks noGrp="1"/>
          </p:cNvSpPr>
          <p:nvPr>
            <p:ph type="subTitle" idx="2"/>
          </p:nvPr>
        </p:nvSpPr>
        <p:spPr>
          <a:xfrm>
            <a:off x="457978" y="1299841"/>
            <a:ext cx="4661400" cy="544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A provider like AWS, Google Cloud, or Microsoft Azure builds and owns massive data centers around the world.</a:t>
            </a:r>
          </a:p>
        </p:txBody>
      </p:sp>
      <p:sp>
        <p:nvSpPr>
          <p:cNvPr id="214" name="Google Shape;214;p34"/>
          <p:cNvSpPr txBox="1">
            <a:spLocks noGrp="1"/>
          </p:cNvSpPr>
          <p:nvPr>
            <p:ph type="subTitle" idx="3"/>
          </p:nvPr>
        </p:nvSpPr>
        <p:spPr>
          <a:xfrm>
            <a:off x="500552" y="954447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Step 1</a:t>
            </a:r>
            <a:endParaRPr/>
          </a:p>
        </p:txBody>
      </p:sp>
      <p:pic>
        <p:nvPicPr>
          <p:cNvPr id="4" name="Segnaposto immagine 3" descr="Immagine che contiene testo, schermata, Carattere, Elementi grafici&#10;&#10;Il contenuto generato dall&amp;#39;IA potrebbe non essere corretto.">
            <a:extLst>
              <a:ext uri="{FF2B5EF4-FFF2-40B4-BE49-F238E27FC236}">
                <a16:creationId xmlns:a16="http://schemas.microsoft.com/office/drawing/2014/main" id="{9210C1A9-E99A-E79F-1B50-AD9FC0159F9A}"/>
              </a:ext>
            </a:extLst>
          </p:cNvPr>
          <p:cNvPicPr>
            <a:picLocks noGrp="1" noChangeAspect="1"/>
          </p:cNvPicPr>
          <p:nvPr>
            <p:ph type="pic" idx="5"/>
          </p:nvPr>
        </p:nvPicPr>
        <p:blipFill>
          <a:blip r:embed="rId3"/>
          <a:srcRect l="-1043" t="-3280" r="-745" b="462"/>
          <a:stretch>
            <a:fillRect/>
          </a:stretch>
        </p:blipFill>
        <p:spPr>
          <a:xfrm>
            <a:off x="5186541" y="864829"/>
            <a:ext cx="3692935" cy="17657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Google Shape;213;p34">
            <a:extLst>
              <a:ext uri="{FF2B5EF4-FFF2-40B4-BE49-F238E27FC236}">
                <a16:creationId xmlns:a16="http://schemas.microsoft.com/office/drawing/2014/main" id="{87BC434C-5CFE-542A-FD44-CD555DAB0712}"/>
              </a:ext>
            </a:extLst>
          </p:cNvPr>
          <p:cNvSpPr txBox="1">
            <a:spLocks/>
          </p:cNvSpPr>
          <p:nvPr/>
        </p:nvSpPr>
        <p:spPr>
          <a:xfrm>
            <a:off x="1035210" y="2150594"/>
            <a:ext cx="4661400" cy="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it-IT"/>
              <a:t>Businesses </a:t>
            </a:r>
            <a:r>
              <a:rPr lang="it-IT" err="1"/>
              <a:t>rent</a:t>
            </a:r>
            <a:r>
              <a:rPr lang="it-IT"/>
              <a:t> computing </a:t>
            </a:r>
            <a:r>
              <a:rPr lang="it-IT" err="1"/>
              <a:t>resources</a:t>
            </a:r>
            <a:r>
              <a:rPr lang="it-IT"/>
              <a:t> (servers, storage, databases) from </a:t>
            </a:r>
            <a:r>
              <a:rPr lang="it-IT" err="1"/>
              <a:t>that</a:t>
            </a:r>
            <a:r>
              <a:rPr lang="it-IT"/>
              <a:t> provider over the internet.</a:t>
            </a:r>
          </a:p>
        </p:txBody>
      </p:sp>
      <p:sp>
        <p:nvSpPr>
          <p:cNvPr id="12" name="Google Shape;214;p34">
            <a:extLst>
              <a:ext uri="{FF2B5EF4-FFF2-40B4-BE49-F238E27FC236}">
                <a16:creationId xmlns:a16="http://schemas.microsoft.com/office/drawing/2014/main" id="{9BCB7E82-1E58-E6A1-B77E-DECB190C8FC7}"/>
              </a:ext>
            </a:extLst>
          </p:cNvPr>
          <p:cNvSpPr txBox="1">
            <a:spLocks/>
          </p:cNvSpPr>
          <p:nvPr/>
        </p:nvSpPr>
        <p:spPr>
          <a:xfrm>
            <a:off x="1035210" y="1800752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2</a:t>
            </a:r>
          </a:p>
        </p:txBody>
      </p:sp>
      <p:sp>
        <p:nvSpPr>
          <p:cNvPr id="16" name="Google Shape;214;p34">
            <a:extLst>
              <a:ext uri="{FF2B5EF4-FFF2-40B4-BE49-F238E27FC236}">
                <a16:creationId xmlns:a16="http://schemas.microsoft.com/office/drawing/2014/main" id="{70E3FD36-308E-D677-3921-3D925D068521}"/>
              </a:ext>
            </a:extLst>
          </p:cNvPr>
          <p:cNvSpPr txBox="1">
            <a:spLocks/>
          </p:cNvSpPr>
          <p:nvPr/>
        </p:nvSpPr>
        <p:spPr>
          <a:xfrm>
            <a:off x="1773929" y="2672292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3</a:t>
            </a:r>
          </a:p>
        </p:txBody>
      </p:sp>
      <p:sp>
        <p:nvSpPr>
          <p:cNvPr id="18" name="Google Shape;213;p34">
            <a:extLst>
              <a:ext uri="{FF2B5EF4-FFF2-40B4-BE49-F238E27FC236}">
                <a16:creationId xmlns:a16="http://schemas.microsoft.com/office/drawing/2014/main" id="{46F7F1EC-E5F9-5C26-508F-8C7B03BC86BE}"/>
              </a:ext>
            </a:extLst>
          </p:cNvPr>
          <p:cNvSpPr txBox="1">
            <a:spLocks/>
          </p:cNvSpPr>
          <p:nvPr/>
        </p:nvSpPr>
        <p:spPr>
          <a:xfrm>
            <a:off x="2678013" y="3843322"/>
            <a:ext cx="4205229" cy="40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pay</a:t>
            </a:r>
            <a:r>
              <a:rPr lang="it-IT"/>
              <a:t> for </a:t>
            </a:r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use.</a:t>
            </a:r>
          </a:p>
          <a:p>
            <a:pPr marL="0" indent="0"/>
            <a:endParaRPr lang="it-IT"/>
          </a:p>
          <a:p>
            <a:pPr marL="0" indent="0"/>
            <a:r>
              <a:rPr lang="it-IT"/>
              <a:t>No hardware to </a:t>
            </a:r>
            <a:r>
              <a:rPr lang="it-IT" err="1"/>
              <a:t>buy</a:t>
            </a:r>
            <a:r>
              <a:rPr lang="it-IT"/>
              <a:t>, no data center to </a:t>
            </a:r>
            <a:r>
              <a:rPr lang="it-IT" err="1"/>
              <a:t>run</a:t>
            </a:r>
            <a:r>
              <a:rPr lang="it-IT"/>
              <a:t>.</a:t>
            </a:r>
          </a:p>
        </p:txBody>
      </p:sp>
      <p:sp>
        <p:nvSpPr>
          <p:cNvPr id="20" name="Google Shape;214;p34">
            <a:extLst>
              <a:ext uri="{FF2B5EF4-FFF2-40B4-BE49-F238E27FC236}">
                <a16:creationId xmlns:a16="http://schemas.microsoft.com/office/drawing/2014/main" id="{87D3F549-CEF0-E95D-BF1D-154C5B6E1ACA}"/>
              </a:ext>
            </a:extLst>
          </p:cNvPr>
          <p:cNvSpPr txBox="1">
            <a:spLocks/>
          </p:cNvSpPr>
          <p:nvPr/>
        </p:nvSpPr>
        <p:spPr>
          <a:xfrm>
            <a:off x="2603062" y="3676548"/>
            <a:ext cx="4034018" cy="292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4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1E7CA8A-41C0-4164-7CAE-30B6B3F0DA4F}"/>
              </a:ext>
            </a:extLst>
          </p:cNvPr>
          <p:cNvSpPr txBox="1"/>
          <p:nvPr/>
        </p:nvSpPr>
        <p:spPr>
          <a:xfrm>
            <a:off x="1770713" y="3096405"/>
            <a:ext cx="4572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latin typeface="Roboto"/>
              </a:rPr>
              <a:t>Multiple customers share the </a:t>
            </a:r>
            <a:r>
              <a:rPr lang="it-IT" sz="1200" err="1">
                <a:latin typeface="Roboto"/>
              </a:rPr>
              <a:t>same</a:t>
            </a:r>
            <a:r>
              <a:rPr lang="it-IT" sz="1200">
                <a:latin typeface="Roboto"/>
              </a:rPr>
              <a:t> </a:t>
            </a:r>
            <a:r>
              <a:rPr lang="it-IT" sz="1200" err="1">
                <a:latin typeface="Roboto"/>
              </a:rPr>
              <a:t>underlying</a:t>
            </a:r>
            <a:r>
              <a:rPr lang="it-IT" sz="1200">
                <a:latin typeface="Roboto"/>
              </a:rPr>
              <a:t> </a:t>
            </a:r>
            <a:r>
              <a:rPr lang="it-IT" sz="1200" err="1">
                <a:latin typeface="Roboto"/>
              </a:rPr>
              <a:t>physical</a:t>
            </a:r>
            <a:r>
              <a:rPr lang="it-IT" sz="1200">
                <a:latin typeface="Roboto"/>
              </a:rPr>
              <a:t> </a:t>
            </a:r>
            <a:r>
              <a:rPr lang="it-IT" sz="1200" err="1">
                <a:latin typeface="Roboto"/>
              </a:rPr>
              <a:t>infrastructure</a:t>
            </a:r>
            <a:r>
              <a:rPr lang="it-IT" sz="1200">
                <a:latin typeface="Roboto"/>
              </a:rPr>
              <a:t>, </a:t>
            </a:r>
            <a:r>
              <a:rPr lang="it-IT" sz="1200" err="1">
                <a:latin typeface="Roboto"/>
              </a:rPr>
              <a:t>but</a:t>
            </a:r>
            <a:r>
              <a:rPr lang="it-IT" sz="1200">
                <a:latin typeface="Roboto"/>
              </a:rPr>
              <a:t> </a:t>
            </a:r>
            <a:r>
              <a:rPr lang="it-IT" sz="1200" err="1">
                <a:latin typeface="Roboto"/>
              </a:rPr>
              <a:t>their</a:t>
            </a:r>
            <a:r>
              <a:rPr lang="it-IT" sz="1200">
                <a:latin typeface="Roboto"/>
              </a:rPr>
              <a:t> data </a:t>
            </a:r>
            <a:r>
              <a:rPr lang="it-IT" sz="1200" err="1">
                <a:latin typeface="Roboto"/>
              </a:rPr>
              <a:t>is</a:t>
            </a:r>
            <a:r>
              <a:rPr lang="it-IT" sz="1200">
                <a:latin typeface="Roboto"/>
              </a:rPr>
              <a:t> </a:t>
            </a:r>
            <a:r>
              <a:rPr lang="it-IT" sz="1200" err="1">
                <a:latin typeface="Roboto"/>
              </a:rPr>
              <a:t>logically</a:t>
            </a:r>
            <a:r>
              <a:rPr lang="it-IT" sz="1200">
                <a:latin typeface="Roboto"/>
              </a:rPr>
              <a:t> </a:t>
            </a:r>
            <a:r>
              <a:rPr lang="it-IT" sz="1200" err="1">
                <a:latin typeface="Roboto"/>
              </a:rPr>
              <a:t>separated</a:t>
            </a:r>
            <a:r>
              <a:rPr lang="it-IT" sz="1200">
                <a:latin typeface="Roboto"/>
              </a:rPr>
              <a:t> and </a:t>
            </a:r>
            <a:r>
              <a:rPr lang="it-IT" sz="1200" err="1">
                <a:latin typeface="Roboto"/>
              </a:rPr>
              <a:t>isolated</a:t>
            </a:r>
            <a:r>
              <a:rPr lang="it-IT" sz="1200">
                <a:latin typeface="Roboto"/>
              </a:rPr>
              <a:t>.</a:t>
            </a:r>
          </a:p>
          <a:p>
            <a:pPr algn="ctr"/>
            <a:endParaRPr lang="it-IT"/>
          </a:p>
        </p:txBody>
      </p:sp>
      <p:grpSp>
        <p:nvGrpSpPr>
          <p:cNvPr id="25" name="Google Shape;1893;p54">
            <a:extLst>
              <a:ext uri="{FF2B5EF4-FFF2-40B4-BE49-F238E27FC236}">
                <a16:creationId xmlns:a16="http://schemas.microsoft.com/office/drawing/2014/main" id="{E8AF4C99-66D7-518A-80D9-2BB6C171C8A2}"/>
              </a:ext>
            </a:extLst>
          </p:cNvPr>
          <p:cNvGrpSpPr/>
          <p:nvPr/>
        </p:nvGrpSpPr>
        <p:grpSpPr>
          <a:xfrm flipV="1">
            <a:off x="191413" y="1024832"/>
            <a:ext cx="334864" cy="292853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23" name="Google Shape;1894;p54">
              <a:extLst>
                <a:ext uri="{FF2B5EF4-FFF2-40B4-BE49-F238E27FC236}">
                  <a16:creationId xmlns:a16="http://schemas.microsoft.com/office/drawing/2014/main" id="{B6CF0CB8-65A8-2290-CB56-3BE776B0137B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Google Shape;1895;p54">
              <a:extLst>
                <a:ext uri="{FF2B5EF4-FFF2-40B4-BE49-F238E27FC236}">
                  <a16:creationId xmlns:a16="http://schemas.microsoft.com/office/drawing/2014/main" id="{2A929D59-4251-B566-3EF5-60CAD7A3E060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" name="Google Shape;1893;p54">
            <a:extLst>
              <a:ext uri="{FF2B5EF4-FFF2-40B4-BE49-F238E27FC236}">
                <a16:creationId xmlns:a16="http://schemas.microsoft.com/office/drawing/2014/main" id="{8BB3956A-FEB4-A8B9-53F2-71E25273D70B}"/>
              </a:ext>
            </a:extLst>
          </p:cNvPr>
          <p:cNvGrpSpPr/>
          <p:nvPr/>
        </p:nvGrpSpPr>
        <p:grpSpPr>
          <a:xfrm>
            <a:off x="733677" y="1868977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3" name="Google Shape;1894;p54">
              <a:extLst>
                <a:ext uri="{FF2B5EF4-FFF2-40B4-BE49-F238E27FC236}">
                  <a16:creationId xmlns:a16="http://schemas.microsoft.com/office/drawing/2014/main" id="{ACFF984E-DAEA-D69F-3D56-CA7844082793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Google Shape;1895;p54">
              <a:extLst>
                <a:ext uri="{FF2B5EF4-FFF2-40B4-BE49-F238E27FC236}">
                  <a16:creationId xmlns:a16="http://schemas.microsoft.com/office/drawing/2014/main" id="{BF622D48-0B4A-D0EE-0F0E-0B5A05E66849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" name="Google Shape;1893;p54">
            <a:extLst>
              <a:ext uri="{FF2B5EF4-FFF2-40B4-BE49-F238E27FC236}">
                <a16:creationId xmlns:a16="http://schemas.microsoft.com/office/drawing/2014/main" id="{3D4D5AD4-F12F-A141-2A4A-ACB9C1D2C10D}"/>
              </a:ext>
            </a:extLst>
          </p:cNvPr>
          <p:cNvGrpSpPr/>
          <p:nvPr/>
        </p:nvGrpSpPr>
        <p:grpSpPr>
          <a:xfrm>
            <a:off x="1484201" y="2743440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6200000" scaled="1"/>
            <a:tileRect/>
          </a:gradFill>
        </p:grpSpPr>
        <p:sp>
          <p:nvSpPr>
            <p:cNvPr id="7" name="Google Shape;1894;p54">
              <a:extLst>
                <a:ext uri="{FF2B5EF4-FFF2-40B4-BE49-F238E27FC236}">
                  <a16:creationId xmlns:a16="http://schemas.microsoft.com/office/drawing/2014/main" id="{2A80C3CD-244B-C97C-C80E-A1912075A0C8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" name="Google Shape;1895;p54">
              <a:extLst>
                <a:ext uri="{FF2B5EF4-FFF2-40B4-BE49-F238E27FC236}">
                  <a16:creationId xmlns:a16="http://schemas.microsoft.com/office/drawing/2014/main" id="{184750BA-8BCD-1D72-0844-B08BE61F12F6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" name="Google Shape;1893;p54">
            <a:extLst>
              <a:ext uri="{FF2B5EF4-FFF2-40B4-BE49-F238E27FC236}">
                <a16:creationId xmlns:a16="http://schemas.microsoft.com/office/drawing/2014/main" id="{684996D3-97E8-87A9-6747-EC6B6B5B1962}"/>
              </a:ext>
            </a:extLst>
          </p:cNvPr>
          <p:cNvGrpSpPr/>
          <p:nvPr/>
        </p:nvGrpSpPr>
        <p:grpSpPr>
          <a:xfrm>
            <a:off x="2276038" y="3611018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</p:grpSpPr>
        <p:sp>
          <p:nvSpPr>
            <p:cNvPr id="11" name="Google Shape;1894;p54">
              <a:extLst>
                <a:ext uri="{FF2B5EF4-FFF2-40B4-BE49-F238E27FC236}">
                  <a16:creationId xmlns:a16="http://schemas.microsoft.com/office/drawing/2014/main" id="{7C08BC77-80F2-17A3-B002-2A5F7AD9B74E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" name="Google Shape;1895;p54">
              <a:extLst>
                <a:ext uri="{FF2B5EF4-FFF2-40B4-BE49-F238E27FC236}">
                  <a16:creationId xmlns:a16="http://schemas.microsoft.com/office/drawing/2014/main" id="{AF806142-9190-5141-D41A-A11CAB118BDF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5" name="Google Shape;158;p30">
            <a:extLst>
              <a:ext uri="{FF2B5EF4-FFF2-40B4-BE49-F238E27FC236}">
                <a16:creationId xmlns:a16="http://schemas.microsoft.com/office/drawing/2014/main" id="{3EEB82C0-EB6D-3BAE-70F5-A20BD8823900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01F80A44-AD53-C0BF-9F8B-B76D19FB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A251632F-0355-3B0A-B7DD-A64A5438F0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155" y="1567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Private cloud</a:t>
            </a:r>
          </a:p>
        </p:txBody>
      </p:sp>
      <p:sp>
        <p:nvSpPr>
          <p:cNvPr id="213" name="Google Shape;213;p34">
            <a:extLst>
              <a:ext uri="{FF2B5EF4-FFF2-40B4-BE49-F238E27FC236}">
                <a16:creationId xmlns:a16="http://schemas.microsoft.com/office/drawing/2014/main" id="{B911999F-58A7-3DDD-2480-AADFF76F1984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978" y="1299841"/>
            <a:ext cx="4661400" cy="544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Infrastructure is dedicated exclusively to one </a:t>
            </a:r>
            <a:r>
              <a:rPr lang="en" err="1"/>
              <a:t>orgranization</a:t>
            </a:r>
            <a:r>
              <a:rPr lang="en"/>
              <a:t>.</a:t>
            </a:r>
          </a:p>
        </p:txBody>
      </p:sp>
      <p:sp>
        <p:nvSpPr>
          <p:cNvPr id="214" name="Google Shape;214;p34">
            <a:extLst>
              <a:ext uri="{FF2B5EF4-FFF2-40B4-BE49-F238E27FC236}">
                <a16:creationId xmlns:a16="http://schemas.microsoft.com/office/drawing/2014/main" id="{8BA89073-0D89-957F-C723-6CBB34F46325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00552" y="954447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Step 1</a:t>
            </a:r>
            <a:endParaRPr/>
          </a:p>
        </p:txBody>
      </p:sp>
      <p:pic>
        <p:nvPicPr>
          <p:cNvPr id="4" name="Segnaposto immagine 3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FF42C1ED-83C1-8350-D1EA-74A1B2F1CC09}"/>
              </a:ext>
            </a:extLst>
          </p:cNvPr>
          <p:cNvPicPr>
            <a:picLocks noGrp="1" noChangeAspect="1"/>
          </p:cNvPicPr>
          <p:nvPr>
            <p:ph type="pic" idx="5"/>
          </p:nvPr>
        </p:nvPicPr>
        <p:blipFill>
          <a:blip r:embed="rId3"/>
          <a:srcRect l="-674" t="25855" b="12179"/>
          <a:stretch>
            <a:fillRect/>
          </a:stretch>
        </p:blipFill>
        <p:spPr>
          <a:xfrm>
            <a:off x="5911122" y="262713"/>
            <a:ext cx="2662187" cy="26362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Google Shape;213;p34">
            <a:extLst>
              <a:ext uri="{FF2B5EF4-FFF2-40B4-BE49-F238E27FC236}">
                <a16:creationId xmlns:a16="http://schemas.microsoft.com/office/drawing/2014/main" id="{A5422AE0-FBD9-C600-EEA1-B3417082AE95}"/>
              </a:ext>
            </a:extLst>
          </p:cNvPr>
          <p:cNvSpPr txBox="1">
            <a:spLocks/>
          </p:cNvSpPr>
          <p:nvPr/>
        </p:nvSpPr>
        <p:spPr>
          <a:xfrm>
            <a:off x="1035210" y="2150594"/>
            <a:ext cx="4661400" cy="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it-IT" err="1"/>
              <a:t>It</a:t>
            </a:r>
            <a:r>
              <a:rPr lang="it-IT"/>
              <a:t> can be </a:t>
            </a:r>
            <a:r>
              <a:rPr lang="it-IT" err="1"/>
              <a:t>hosted</a:t>
            </a:r>
            <a:r>
              <a:rPr lang="it-IT"/>
              <a:t> on-</a:t>
            </a:r>
            <a:r>
              <a:rPr lang="it-IT" err="1"/>
              <a:t>premises</a:t>
            </a:r>
            <a:r>
              <a:rPr lang="it-IT"/>
              <a:t> (in the </a:t>
            </a:r>
            <a:r>
              <a:rPr lang="it-IT" err="1"/>
              <a:t>company's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 data center) or by a </a:t>
            </a:r>
            <a:r>
              <a:rPr lang="it-IT" err="1"/>
              <a:t>third</a:t>
            </a:r>
            <a:r>
              <a:rPr lang="it-IT"/>
              <a:t>-party provider, </a:t>
            </a:r>
            <a:r>
              <a:rPr lang="it-IT" err="1"/>
              <a:t>but</a:t>
            </a:r>
            <a:r>
              <a:rPr lang="it-IT"/>
              <a:t> </a:t>
            </a:r>
            <a:r>
              <a:rPr lang="it-IT" err="1"/>
              <a:t>it's</a:t>
            </a:r>
            <a:r>
              <a:rPr lang="it-IT"/>
              <a:t> </a:t>
            </a:r>
            <a:r>
              <a:rPr lang="it-IT" err="1"/>
              <a:t>never</a:t>
            </a:r>
            <a:r>
              <a:rPr lang="it-IT"/>
              <a:t> </a:t>
            </a:r>
            <a:r>
              <a:rPr lang="it-IT" err="1"/>
              <a:t>shared</a:t>
            </a:r>
            <a:r>
              <a:rPr lang="it-IT"/>
              <a:t> with </a:t>
            </a:r>
            <a:r>
              <a:rPr lang="it-IT" err="1"/>
              <a:t>others</a:t>
            </a:r>
            <a:r>
              <a:rPr lang="it-IT"/>
              <a:t> </a:t>
            </a:r>
          </a:p>
        </p:txBody>
      </p:sp>
      <p:sp>
        <p:nvSpPr>
          <p:cNvPr id="12" name="Google Shape;214;p34">
            <a:extLst>
              <a:ext uri="{FF2B5EF4-FFF2-40B4-BE49-F238E27FC236}">
                <a16:creationId xmlns:a16="http://schemas.microsoft.com/office/drawing/2014/main" id="{181A9F5D-331C-465B-88F5-AF1883D4BCFB}"/>
              </a:ext>
            </a:extLst>
          </p:cNvPr>
          <p:cNvSpPr txBox="1">
            <a:spLocks/>
          </p:cNvSpPr>
          <p:nvPr/>
        </p:nvSpPr>
        <p:spPr>
          <a:xfrm>
            <a:off x="1035210" y="1800752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2</a:t>
            </a:r>
          </a:p>
        </p:txBody>
      </p:sp>
      <p:sp>
        <p:nvSpPr>
          <p:cNvPr id="16" name="Google Shape;214;p34">
            <a:extLst>
              <a:ext uri="{FF2B5EF4-FFF2-40B4-BE49-F238E27FC236}">
                <a16:creationId xmlns:a16="http://schemas.microsoft.com/office/drawing/2014/main" id="{2E51FD50-1157-82B0-40E7-6EC0D08C15C3}"/>
              </a:ext>
            </a:extLst>
          </p:cNvPr>
          <p:cNvSpPr txBox="1">
            <a:spLocks/>
          </p:cNvSpPr>
          <p:nvPr/>
        </p:nvSpPr>
        <p:spPr>
          <a:xfrm>
            <a:off x="1773929" y="2672292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3</a:t>
            </a:r>
          </a:p>
        </p:txBody>
      </p:sp>
      <p:sp>
        <p:nvSpPr>
          <p:cNvPr id="18" name="Google Shape;213;p34">
            <a:extLst>
              <a:ext uri="{FF2B5EF4-FFF2-40B4-BE49-F238E27FC236}">
                <a16:creationId xmlns:a16="http://schemas.microsoft.com/office/drawing/2014/main" id="{8A577F8B-5964-9F55-50E5-77253F4C18F1}"/>
              </a:ext>
            </a:extLst>
          </p:cNvPr>
          <p:cNvSpPr txBox="1">
            <a:spLocks/>
          </p:cNvSpPr>
          <p:nvPr/>
        </p:nvSpPr>
        <p:spPr>
          <a:xfrm>
            <a:off x="2678013" y="3843322"/>
            <a:ext cx="4205229" cy="40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behaves</a:t>
            </a:r>
            <a:r>
              <a:rPr lang="it-IT"/>
              <a:t> like a cloud (self-service, </a:t>
            </a:r>
            <a:r>
              <a:rPr lang="it-IT" err="1"/>
              <a:t>scalable</a:t>
            </a:r>
            <a:r>
              <a:rPr lang="it-IT"/>
              <a:t>) </a:t>
            </a:r>
            <a:r>
              <a:rPr lang="it-IT" err="1"/>
              <a:t>but</a:t>
            </a:r>
            <a:r>
              <a:rPr lang="it-IT"/>
              <a:t> </a:t>
            </a:r>
            <a:r>
              <a:rPr lang="it-IT" err="1"/>
              <a:t>within</a:t>
            </a:r>
            <a:r>
              <a:rPr lang="it-IT"/>
              <a:t> a </a:t>
            </a:r>
            <a:r>
              <a:rPr lang="it-IT" err="1"/>
              <a:t>walled</a:t>
            </a:r>
            <a:r>
              <a:rPr lang="it-IT"/>
              <a:t> </a:t>
            </a:r>
            <a:r>
              <a:rPr lang="it-IT" err="1"/>
              <a:t>environment</a:t>
            </a:r>
          </a:p>
        </p:txBody>
      </p:sp>
      <p:sp>
        <p:nvSpPr>
          <p:cNvPr id="20" name="Google Shape;214;p34">
            <a:extLst>
              <a:ext uri="{FF2B5EF4-FFF2-40B4-BE49-F238E27FC236}">
                <a16:creationId xmlns:a16="http://schemas.microsoft.com/office/drawing/2014/main" id="{58A4BDB7-F0DE-FA69-0476-0E09C19DF48D}"/>
              </a:ext>
            </a:extLst>
          </p:cNvPr>
          <p:cNvSpPr txBox="1">
            <a:spLocks/>
          </p:cNvSpPr>
          <p:nvPr/>
        </p:nvSpPr>
        <p:spPr>
          <a:xfrm>
            <a:off x="2603062" y="3676548"/>
            <a:ext cx="4034018" cy="292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4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290815C-A03C-5E06-AC57-8E6B3FE163A4}"/>
              </a:ext>
            </a:extLst>
          </p:cNvPr>
          <p:cNvSpPr txBox="1"/>
          <p:nvPr/>
        </p:nvSpPr>
        <p:spPr>
          <a:xfrm>
            <a:off x="1770713" y="3096405"/>
            <a:ext cx="4572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>
                <a:latin typeface="Roboto"/>
              </a:rPr>
              <a:t>The </a:t>
            </a:r>
            <a:r>
              <a:rPr lang="it-IT" sz="1200" err="1">
                <a:latin typeface="Roboto"/>
              </a:rPr>
              <a:t>organization</a:t>
            </a:r>
            <a:r>
              <a:rPr lang="it-IT" sz="1200">
                <a:latin typeface="Roboto"/>
              </a:rPr>
              <a:t> </a:t>
            </a:r>
            <a:r>
              <a:rPr lang="it-IT" sz="1200" err="1">
                <a:latin typeface="Roboto"/>
              </a:rPr>
              <a:t>has</a:t>
            </a:r>
            <a:r>
              <a:rPr lang="it-IT" sz="1200">
                <a:latin typeface="Roboto"/>
              </a:rPr>
              <a:t> full control over security, </a:t>
            </a:r>
            <a:r>
              <a:rPr lang="it-IT" sz="1200" err="1">
                <a:latin typeface="Roboto"/>
              </a:rPr>
              <a:t>configuration</a:t>
            </a:r>
            <a:r>
              <a:rPr lang="it-IT" sz="1200">
                <a:latin typeface="Roboto"/>
              </a:rPr>
              <a:t>, and compliance</a:t>
            </a:r>
            <a:endParaRPr lang="it-IT"/>
          </a:p>
          <a:p>
            <a:pPr algn="ctr"/>
            <a:endParaRPr lang="it-IT"/>
          </a:p>
        </p:txBody>
      </p:sp>
      <p:grpSp>
        <p:nvGrpSpPr>
          <p:cNvPr id="25" name="Google Shape;1893;p54">
            <a:extLst>
              <a:ext uri="{FF2B5EF4-FFF2-40B4-BE49-F238E27FC236}">
                <a16:creationId xmlns:a16="http://schemas.microsoft.com/office/drawing/2014/main" id="{247AA205-49F5-38E7-DBB2-6A5810B7D26D}"/>
              </a:ext>
            </a:extLst>
          </p:cNvPr>
          <p:cNvGrpSpPr/>
          <p:nvPr/>
        </p:nvGrpSpPr>
        <p:grpSpPr>
          <a:xfrm flipV="1">
            <a:off x="191413" y="1024832"/>
            <a:ext cx="334864" cy="292853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23" name="Google Shape;1894;p54">
              <a:extLst>
                <a:ext uri="{FF2B5EF4-FFF2-40B4-BE49-F238E27FC236}">
                  <a16:creationId xmlns:a16="http://schemas.microsoft.com/office/drawing/2014/main" id="{67F3FBB9-E885-07CC-F496-4B24D7F9D23E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Google Shape;1895;p54">
              <a:extLst>
                <a:ext uri="{FF2B5EF4-FFF2-40B4-BE49-F238E27FC236}">
                  <a16:creationId xmlns:a16="http://schemas.microsoft.com/office/drawing/2014/main" id="{10D310F2-C791-F7E7-1438-D8AB6A62DB92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" name="Google Shape;1893;p54">
            <a:extLst>
              <a:ext uri="{FF2B5EF4-FFF2-40B4-BE49-F238E27FC236}">
                <a16:creationId xmlns:a16="http://schemas.microsoft.com/office/drawing/2014/main" id="{CE7F67E0-D6A5-A9D0-D02A-AB8DAF784515}"/>
              </a:ext>
            </a:extLst>
          </p:cNvPr>
          <p:cNvGrpSpPr/>
          <p:nvPr/>
        </p:nvGrpSpPr>
        <p:grpSpPr>
          <a:xfrm>
            <a:off x="733677" y="1868977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3" name="Google Shape;1894;p54">
              <a:extLst>
                <a:ext uri="{FF2B5EF4-FFF2-40B4-BE49-F238E27FC236}">
                  <a16:creationId xmlns:a16="http://schemas.microsoft.com/office/drawing/2014/main" id="{65D52156-2C33-D3B2-1E95-BC3048218E94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Google Shape;1895;p54">
              <a:extLst>
                <a:ext uri="{FF2B5EF4-FFF2-40B4-BE49-F238E27FC236}">
                  <a16:creationId xmlns:a16="http://schemas.microsoft.com/office/drawing/2014/main" id="{0FF08E60-BB45-EBD3-7F3C-7BF3465E7AA3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" name="Google Shape;1893;p54">
            <a:extLst>
              <a:ext uri="{FF2B5EF4-FFF2-40B4-BE49-F238E27FC236}">
                <a16:creationId xmlns:a16="http://schemas.microsoft.com/office/drawing/2014/main" id="{07765B2D-B144-6FFF-C6AF-EF40E670E5D9}"/>
              </a:ext>
            </a:extLst>
          </p:cNvPr>
          <p:cNvGrpSpPr/>
          <p:nvPr/>
        </p:nvGrpSpPr>
        <p:grpSpPr>
          <a:xfrm>
            <a:off x="1484201" y="2743440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6200000" scaled="1"/>
            <a:tileRect/>
          </a:gradFill>
        </p:grpSpPr>
        <p:sp>
          <p:nvSpPr>
            <p:cNvPr id="7" name="Google Shape;1894;p54">
              <a:extLst>
                <a:ext uri="{FF2B5EF4-FFF2-40B4-BE49-F238E27FC236}">
                  <a16:creationId xmlns:a16="http://schemas.microsoft.com/office/drawing/2014/main" id="{4AA56B17-C415-1969-E2F9-EF8031612AFE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" name="Google Shape;1895;p54">
              <a:extLst>
                <a:ext uri="{FF2B5EF4-FFF2-40B4-BE49-F238E27FC236}">
                  <a16:creationId xmlns:a16="http://schemas.microsoft.com/office/drawing/2014/main" id="{55F72754-59EA-B7B0-6D16-5E433C6E8842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" name="Google Shape;1893;p54">
            <a:extLst>
              <a:ext uri="{FF2B5EF4-FFF2-40B4-BE49-F238E27FC236}">
                <a16:creationId xmlns:a16="http://schemas.microsoft.com/office/drawing/2014/main" id="{3BEE94AE-6031-B929-C952-E1E2CBB36F90}"/>
              </a:ext>
            </a:extLst>
          </p:cNvPr>
          <p:cNvGrpSpPr/>
          <p:nvPr/>
        </p:nvGrpSpPr>
        <p:grpSpPr>
          <a:xfrm>
            <a:off x="2276038" y="3611018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</p:grpSpPr>
        <p:sp>
          <p:nvSpPr>
            <p:cNvPr id="11" name="Google Shape;1894;p54">
              <a:extLst>
                <a:ext uri="{FF2B5EF4-FFF2-40B4-BE49-F238E27FC236}">
                  <a16:creationId xmlns:a16="http://schemas.microsoft.com/office/drawing/2014/main" id="{7FD7D5E9-1D0D-486D-78A0-E39D01D69C5D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" name="Google Shape;1895;p54">
              <a:extLst>
                <a:ext uri="{FF2B5EF4-FFF2-40B4-BE49-F238E27FC236}">
                  <a16:creationId xmlns:a16="http://schemas.microsoft.com/office/drawing/2014/main" id="{2FD25DF2-3E91-960E-2A5D-14DF88F929BC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" name="Google Shape;158;p30">
            <a:extLst>
              <a:ext uri="{FF2B5EF4-FFF2-40B4-BE49-F238E27FC236}">
                <a16:creationId xmlns:a16="http://schemas.microsoft.com/office/drawing/2014/main" id="{C0F507E5-D6B0-1F7D-4635-250550CC1457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414239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7014E91A-03EB-7E83-BC46-8E81EEB0C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4DE2BD74-7D25-D061-EFF7-E963D95BE2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155" y="1567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Hybrid cloud</a:t>
            </a:r>
          </a:p>
        </p:txBody>
      </p:sp>
      <p:sp>
        <p:nvSpPr>
          <p:cNvPr id="213" name="Google Shape;213;p34">
            <a:extLst>
              <a:ext uri="{FF2B5EF4-FFF2-40B4-BE49-F238E27FC236}">
                <a16:creationId xmlns:a16="http://schemas.microsoft.com/office/drawing/2014/main" id="{0300EC8A-9335-E836-F2E9-D739429C5F0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978" y="1299841"/>
            <a:ext cx="4661400" cy="544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A company runs some workloads on a private cloud (or on-premises servers) and others on a </a:t>
            </a:r>
            <a:r>
              <a:rPr lang="en" err="1"/>
              <a:t>publi</a:t>
            </a:r>
            <a:r>
              <a:rPr lang="en"/>
              <a:t>c cloud.</a:t>
            </a:r>
          </a:p>
        </p:txBody>
      </p:sp>
      <p:sp>
        <p:nvSpPr>
          <p:cNvPr id="214" name="Google Shape;214;p34">
            <a:extLst>
              <a:ext uri="{FF2B5EF4-FFF2-40B4-BE49-F238E27FC236}">
                <a16:creationId xmlns:a16="http://schemas.microsoft.com/office/drawing/2014/main" id="{980B34CD-6E9B-B8A7-5AEF-1EE0AD5AB64B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00552" y="954447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Step 1</a:t>
            </a:r>
            <a:endParaRPr/>
          </a:p>
        </p:txBody>
      </p:sp>
      <p:pic>
        <p:nvPicPr>
          <p:cNvPr id="4" name="Segnaposto immagine 3" descr="Immagine che contiene testo, Carattere, Elementi grafici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9D3AC835-9B19-0526-C57F-7559EEDE44CC}"/>
              </a:ext>
            </a:extLst>
          </p:cNvPr>
          <p:cNvPicPr>
            <a:picLocks noGrp="1" noChangeAspect="1"/>
          </p:cNvPicPr>
          <p:nvPr>
            <p:ph type="pic" idx="5"/>
          </p:nvPr>
        </p:nvPicPr>
        <p:blipFill>
          <a:blip r:embed="rId3"/>
          <a:srcRect l="-3205" r="-4200" b="392"/>
          <a:stretch>
            <a:fillRect/>
          </a:stretch>
        </p:blipFill>
        <p:spPr>
          <a:xfrm>
            <a:off x="5582378" y="303536"/>
            <a:ext cx="3301290" cy="20850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Google Shape;213;p34">
            <a:extLst>
              <a:ext uri="{FF2B5EF4-FFF2-40B4-BE49-F238E27FC236}">
                <a16:creationId xmlns:a16="http://schemas.microsoft.com/office/drawing/2014/main" id="{89EDE322-F975-A64F-2291-6B90A480A625}"/>
              </a:ext>
            </a:extLst>
          </p:cNvPr>
          <p:cNvSpPr txBox="1">
            <a:spLocks/>
          </p:cNvSpPr>
          <p:nvPr/>
        </p:nvSpPr>
        <p:spPr>
          <a:xfrm>
            <a:off x="1035210" y="2155381"/>
            <a:ext cx="4661400" cy="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it-IT" dirty="0"/>
              <a:t>The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enviroments</a:t>
            </a:r>
            <a:r>
              <a:rPr lang="it-IT" dirty="0"/>
              <a:t> are </a:t>
            </a:r>
            <a:r>
              <a:rPr lang="it-IT" dirty="0" err="1"/>
              <a:t>connected</a:t>
            </a:r>
            <a:r>
              <a:rPr lang="it-IT" dirty="0"/>
              <a:t> via secure networks or </a:t>
            </a:r>
            <a:r>
              <a:rPr lang="it-IT" dirty="0" err="1"/>
              <a:t>APIs</a:t>
            </a:r>
            <a:r>
              <a:rPr lang="it-IT" dirty="0"/>
              <a:t>, </a:t>
            </a:r>
            <a:r>
              <a:rPr lang="it-IT" dirty="0" err="1"/>
              <a:t>allowing</a:t>
            </a:r>
            <a:r>
              <a:rPr lang="it-IT" dirty="0"/>
              <a:t> data and </a:t>
            </a:r>
            <a:r>
              <a:rPr lang="it-IT" dirty="0" err="1"/>
              <a:t>applications</a:t>
            </a:r>
            <a:r>
              <a:rPr lang="it-IT" dirty="0"/>
              <a:t> to </a:t>
            </a:r>
            <a:r>
              <a:rPr lang="it-IT" dirty="0" err="1"/>
              <a:t>move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them</a:t>
            </a:r>
            <a:endParaRPr lang="it-IT" dirty="0"/>
          </a:p>
        </p:txBody>
      </p:sp>
      <p:sp>
        <p:nvSpPr>
          <p:cNvPr id="12" name="Google Shape;214;p34">
            <a:extLst>
              <a:ext uri="{FF2B5EF4-FFF2-40B4-BE49-F238E27FC236}">
                <a16:creationId xmlns:a16="http://schemas.microsoft.com/office/drawing/2014/main" id="{6DA86B41-9754-2971-814D-1BBC1E5F9306}"/>
              </a:ext>
            </a:extLst>
          </p:cNvPr>
          <p:cNvSpPr txBox="1">
            <a:spLocks/>
          </p:cNvSpPr>
          <p:nvPr/>
        </p:nvSpPr>
        <p:spPr>
          <a:xfrm>
            <a:off x="1035210" y="1800752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2</a:t>
            </a:r>
          </a:p>
        </p:txBody>
      </p:sp>
      <p:sp>
        <p:nvSpPr>
          <p:cNvPr id="16" name="Google Shape;214;p34">
            <a:extLst>
              <a:ext uri="{FF2B5EF4-FFF2-40B4-BE49-F238E27FC236}">
                <a16:creationId xmlns:a16="http://schemas.microsoft.com/office/drawing/2014/main" id="{18F101B6-89A4-3509-84EA-35F81409E0D3}"/>
              </a:ext>
            </a:extLst>
          </p:cNvPr>
          <p:cNvSpPr txBox="1">
            <a:spLocks/>
          </p:cNvSpPr>
          <p:nvPr/>
        </p:nvSpPr>
        <p:spPr>
          <a:xfrm>
            <a:off x="1773929" y="2672292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3</a:t>
            </a:r>
          </a:p>
        </p:txBody>
      </p:sp>
      <p:sp>
        <p:nvSpPr>
          <p:cNvPr id="18" name="Google Shape;213;p34">
            <a:extLst>
              <a:ext uri="{FF2B5EF4-FFF2-40B4-BE49-F238E27FC236}">
                <a16:creationId xmlns:a16="http://schemas.microsoft.com/office/drawing/2014/main" id="{1ED33C71-1009-8BB5-65B0-4F9713C05386}"/>
              </a:ext>
            </a:extLst>
          </p:cNvPr>
          <p:cNvSpPr txBox="1">
            <a:spLocks/>
          </p:cNvSpPr>
          <p:nvPr/>
        </p:nvSpPr>
        <p:spPr>
          <a:xfrm>
            <a:off x="2616781" y="3833117"/>
            <a:ext cx="5113505" cy="51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it-IT" err="1"/>
              <a:t>Orchestration</a:t>
            </a:r>
            <a:r>
              <a:rPr lang="it-IT"/>
              <a:t> tool </a:t>
            </a:r>
            <a:r>
              <a:rPr lang="it-IT" err="1"/>
              <a:t>manage</a:t>
            </a:r>
            <a:r>
              <a:rPr lang="it-IT"/>
              <a:t> </a:t>
            </a:r>
            <a:r>
              <a:rPr lang="it-IT" err="1"/>
              <a:t>wich</a:t>
            </a:r>
            <a:r>
              <a:rPr lang="it-IT"/>
              <a:t> </a:t>
            </a:r>
            <a:r>
              <a:rPr lang="it-IT" err="1"/>
              <a:t>workload</a:t>
            </a:r>
            <a:r>
              <a:rPr lang="it-IT"/>
              <a:t> </a:t>
            </a:r>
            <a:r>
              <a:rPr lang="it-IT" err="1"/>
              <a:t>runs</a:t>
            </a:r>
            <a:r>
              <a:rPr lang="it-IT"/>
              <a:t> </a:t>
            </a:r>
            <a:r>
              <a:rPr lang="it-IT" err="1"/>
              <a:t>where</a:t>
            </a:r>
            <a:r>
              <a:rPr lang="it-IT"/>
              <a:t>,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automatically</a:t>
            </a:r>
            <a:r>
              <a:rPr lang="it-IT"/>
              <a:t>.</a:t>
            </a:r>
          </a:p>
        </p:txBody>
      </p:sp>
      <p:sp>
        <p:nvSpPr>
          <p:cNvPr id="20" name="Google Shape;214;p34">
            <a:extLst>
              <a:ext uri="{FF2B5EF4-FFF2-40B4-BE49-F238E27FC236}">
                <a16:creationId xmlns:a16="http://schemas.microsoft.com/office/drawing/2014/main" id="{232CC4D1-6385-4461-9659-B5D70EAFE52B}"/>
              </a:ext>
            </a:extLst>
          </p:cNvPr>
          <p:cNvSpPr txBox="1">
            <a:spLocks/>
          </p:cNvSpPr>
          <p:nvPr/>
        </p:nvSpPr>
        <p:spPr>
          <a:xfrm>
            <a:off x="2603062" y="3676548"/>
            <a:ext cx="4034018" cy="292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4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E499AF5-C78C-3C75-8B01-78E2E6D338A3}"/>
              </a:ext>
            </a:extLst>
          </p:cNvPr>
          <p:cNvSpPr txBox="1"/>
          <p:nvPr/>
        </p:nvSpPr>
        <p:spPr>
          <a:xfrm>
            <a:off x="1770713" y="3096405"/>
            <a:ext cx="510267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 err="1"/>
              <a:t>Sensiti</a:t>
            </a:r>
            <a:r>
              <a:rPr lang="it-IT"/>
              <a:t>ve data stays in the private </a:t>
            </a:r>
            <a:r>
              <a:rPr lang="it-IT" err="1"/>
              <a:t>environment</a:t>
            </a:r>
            <a:r>
              <a:rPr lang="it-IT"/>
              <a:t>; </a:t>
            </a:r>
            <a:r>
              <a:rPr lang="it-IT" err="1"/>
              <a:t>scalable</a:t>
            </a:r>
            <a:r>
              <a:rPr lang="it-IT"/>
              <a:t> or </a:t>
            </a:r>
            <a:r>
              <a:rPr lang="it-IT" err="1"/>
              <a:t>less</a:t>
            </a:r>
            <a:r>
              <a:rPr lang="it-IT"/>
              <a:t> sensitive </a:t>
            </a:r>
            <a:r>
              <a:rPr lang="it-IT" err="1"/>
              <a:t>workload</a:t>
            </a:r>
            <a:r>
              <a:rPr lang="it-IT"/>
              <a:t> </a:t>
            </a:r>
            <a:r>
              <a:rPr lang="it-IT" err="1"/>
              <a:t>run</a:t>
            </a:r>
            <a:r>
              <a:rPr lang="it-IT"/>
              <a:t> in the public cloud</a:t>
            </a:r>
          </a:p>
        </p:txBody>
      </p:sp>
      <p:grpSp>
        <p:nvGrpSpPr>
          <p:cNvPr id="25" name="Google Shape;1893;p54">
            <a:extLst>
              <a:ext uri="{FF2B5EF4-FFF2-40B4-BE49-F238E27FC236}">
                <a16:creationId xmlns:a16="http://schemas.microsoft.com/office/drawing/2014/main" id="{C06FD006-1F71-2128-F2C6-921B860546A0}"/>
              </a:ext>
            </a:extLst>
          </p:cNvPr>
          <p:cNvGrpSpPr/>
          <p:nvPr/>
        </p:nvGrpSpPr>
        <p:grpSpPr>
          <a:xfrm flipV="1">
            <a:off x="191413" y="1024832"/>
            <a:ext cx="334864" cy="292853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23" name="Google Shape;1894;p54">
              <a:extLst>
                <a:ext uri="{FF2B5EF4-FFF2-40B4-BE49-F238E27FC236}">
                  <a16:creationId xmlns:a16="http://schemas.microsoft.com/office/drawing/2014/main" id="{0DD5451F-3783-A691-BD04-35F36E0B3469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Google Shape;1895;p54">
              <a:extLst>
                <a:ext uri="{FF2B5EF4-FFF2-40B4-BE49-F238E27FC236}">
                  <a16:creationId xmlns:a16="http://schemas.microsoft.com/office/drawing/2014/main" id="{1B814056-66C4-C294-48FE-1BC7CC6BA833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" name="Google Shape;1893;p54">
            <a:extLst>
              <a:ext uri="{FF2B5EF4-FFF2-40B4-BE49-F238E27FC236}">
                <a16:creationId xmlns:a16="http://schemas.microsoft.com/office/drawing/2014/main" id="{25948F46-264D-A3A1-201C-296FEDD60FC9}"/>
              </a:ext>
            </a:extLst>
          </p:cNvPr>
          <p:cNvGrpSpPr/>
          <p:nvPr/>
        </p:nvGrpSpPr>
        <p:grpSpPr>
          <a:xfrm>
            <a:off x="733677" y="1868977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3" name="Google Shape;1894;p54">
              <a:extLst>
                <a:ext uri="{FF2B5EF4-FFF2-40B4-BE49-F238E27FC236}">
                  <a16:creationId xmlns:a16="http://schemas.microsoft.com/office/drawing/2014/main" id="{BE177611-FD4F-D18C-D4A9-F7813DE054D6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Google Shape;1895;p54">
              <a:extLst>
                <a:ext uri="{FF2B5EF4-FFF2-40B4-BE49-F238E27FC236}">
                  <a16:creationId xmlns:a16="http://schemas.microsoft.com/office/drawing/2014/main" id="{0C2FC4A4-D98B-7652-F87E-F7B1A8E8F339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" name="Google Shape;1893;p54">
            <a:extLst>
              <a:ext uri="{FF2B5EF4-FFF2-40B4-BE49-F238E27FC236}">
                <a16:creationId xmlns:a16="http://schemas.microsoft.com/office/drawing/2014/main" id="{19B01814-06AB-27C7-2C1F-1CC2F5F3C816}"/>
              </a:ext>
            </a:extLst>
          </p:cNvPr>
          <p:cNvGrpSpPr/>
          <p:nvPr/>
        </p:nvGrpSpPr>
        <p:grpSpPr>
          <a:xfrm>
            <a:off x="1484201" y="2743440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6200000" scaled="1"/>
            <a:tileRect/>
          </a:gradFill>
        </p:grpSpPr>
        <p:sp>
          <p:nvSpPr>
            <p:cNvPr id="7" name="Google Shape;1894;p54">
              <a:extLst>
                <a:ext uri="{FF2B5EF4-FFF2-40B4-BE49-F238E27FC236}">
                  <a16:creationId xmlns:a16="http://schemas.microsoft.com/office/drawing/2014/main" id="{C5DB876F-FC41-3B9A-5CC4-46EB5A2F3DD4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" name="Google Shape;1895;p54">
              <a:extLst>
                <a:ext uri="{FF2B5EF4-FFF2-40B4-BE49-F238E27FC236}">
                  <a16:creationId xmlns:a16="http://schemas.microsoft.com/office/drawing/2014/main" id="{4410A9D6-C872-2B26-6E6A-46C07CE5AD5A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" name="Google Shape;1893;p54">
            <a:extLst>
              <a:ext uri="{FF2B5EF4-FFF2-40B4-BE49-F238E27FC236}">
                <a16:creationId xmlns:a16="http://schemas.microsoft.com/office/drawing/2014/main" id="{96DB7F4E-6FF0-5F9F-67A1-20AB649D52E1}"/>
              </a:ext>
            </a:extLst>
          </p:cNvPr>
          <p:cNvGrpSpPr/>
          <p:nvPr/>
        </p:nvGrpSpPr>
        <p:grpSpPr>
          <a:xfrm>
            <a:off x="2276038" y="3611018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0" scaled="1"/>
            <a:tileRect/>
          </a:gradFill>
        </p:grpSpPr>
        <p:sp>
          <p:nvSpPr>
            <p:cNvPr id="11" name="Google Shape;1894;p54">
              <a:extLst>
                <a:ext uri="{FF2B5EF4-FFF2-40B4-BE49-F238E27FC236}">
                  <a16:creationId xmlns:a16="http://schemas.microsoft.com/office/drawing/2014/main" id="{85BAB40C-C5E2-A5B2-D01D-0465F32C8C40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" name="Google Shape;1895;p54">
              <a:extLst>
                <a:ext uri="{FF2B5EF4-FFF2-40B4-BE49-F238E27FC236}">
                  <a16:creationId xmlns:a16="http://schemas.microsoft.com/office/drawing/2014/main" id="{63719D97-8015-C5BD-8E91-CF4616558D83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" name="Google Shape;158;p30">
            <a:extLst>
              <a:ext uri="{FF2B5EF4-FFF2-40B4-BE49-F238E27FC236}">
                <a16:creationId xmlns:a16="http://schemas.microsoft.com/office/drawing/2014/main" id="{9E7CD6FA-459C-4FCE-9EE1-5FB6F3B83C49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1693150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6">
          <a:extLst>
            <a:ext uri="{FF2B5EF4-FFF2-40B4-BE49-F238E27FC236}">
              <a16:creationId xmlns:a16="http://schemas.microsoft.com/office/drawing/2014/main" id="{F45D4239-022A-1097-ADFA-99519772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>
            <a:extLst>
              <a:ext uri="{FF2B5EF4-FFF2-40B4-BE49-F238E27FC236}">
                <a16:creationId xmlns:a16="http://schemas.microsoft.com/office/drawing/2014/main" id="{36CA002A-7872-6295-9095-9C338E6F6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155" y="1567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Multi-cloud</a:t>
            </a:r>
          </a:p>
        </p:txBody>
      </p:sp>
      <p:sp>
        <p:nvSpPr>
          <p:cNvPr id="213" name="Google Shape;213;p34">
            <a:extLst>
              <a:ext uri="{FF2B5EF4-FFF2-40B4-BE49-F238E27FC236}">
                <a16:creationId xmlns:a16="http://schemas.microsoft.com/office/drawing/2014/main" id="{80705CBB-A33B-8E53-3641-7108AA11A1C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57978" y="1299841"/>
            <a:ext cx="4661400" cy="5440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A company uses services from multiple public cloud providers simultaneously (AWS + Azure + Google Cloud)</a:t>
            </a:r>
          </a:p>
        </p:txBody>
      </p:sp>
      <p:sp>
        <p:nvSpPr>
          <p:cNvPr id="214" name="Google Shape;214;p34">
            <a:extLst>
              <a:ext uri="{FF2B5EF4-FFF2-40B4-BE49-F238E27FC236}">
                <a16:creationId xmlns:a16="http://schemas.microsoft.com/office/drawing/2014/main" id="{168CF201-5E89-0349-BEF2-87C7B2B7923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00552" y="954447"/>
            <a:ext cx="4661400" cy="43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/>
              <a:t>Step 1</a:t>
            </a:r>
            <a:endParaRPr/>
          </a:p>
        </p:txBody>
      </p:sp>
      <p:pic>
        <p:nvPicPr>
          <p:cNvPr id="4" name="Segnaposto immagine 3" descr="Immagine che contiene testo, schermata, diagramma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F3AEA0EC-017D-4AB1-EDFB-A867F4B42388}"/>
              </a:ext>
            </a:extLst>
          </p:cNvPr>
          <p:cNvPicPr>
            <a:picLocks noGrp="1" noChangeAspect="1"/>
          </p:cNvPicPr>
          <p:nvPr>
            <p:ph type="pic" idx="5"/>
          </p:nvPr>
        </p:nvPicPr>
        <p:blipFill>
          <a:blip r:embed="rId3"/>
          <a:srcRect t="2650" b="4783"/>
          <a:stretch>
            <a:fillRect/>
          </a:stretch>
        </p:blipFill>
        <p:spPr>
          <a:xfrm>
            <a:off x="5510941" y="226925"/>
            <a:ext cx="3301290" cy="2317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Google Shape;213;p34">
            <a:extLst>
              <a:ext uri="{FF2B5EF4-FFF2-40B4-BE49-F238E27FC236}">
                <a16:creationId xmlns:a16="http://schemas.microsoft.com/office/drawing/2014/main" id="{1209BDF0-A95E-71B5-3AE5-E1CBE88EC9BE}"/>
              </a:ext>
            </a:extLst>
          </p:cNvPr>
          <p:cNvSpPr txBox="1">
            <a:spLocks/>
          </p:cNvSpPr>
          <p:nvPr/>
        </p:nvSpPr>
        <p:spPr>
          <a:xfrm>
            <a:off x="1035210" y="2497576"/>
            <a:ext cx="4661400" cy="478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/>
            <a:r>
              <a:rPr lang="it-IT" err="1"/>
              <a:t>Different</a:t>
            </a:r>
            <a:r>
              <a:rPr lang="it-IT"/>
              <a:t> providers are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different</a:t>
            </a:r>
            <a:r>
              <a:rPr lang="it-IT"/>
              <a:t> </a:t>
            </a:r>
            <a:r>
              <a:rPr lang="it-IT" err="1"/>
              <a:t>strenghts</a:t>
            </a:r>
            <a:r>
              <a:rPr lang="it-IT"/>
              <a:t>: </a:t>
            </a:r>
            <a:r>
              <a:rPr lang="it-IT" err="1"/>
              <a:t>maybe</a:t>
            </a:r>
            <a:r>
              <a:rPr lang="it-IT"/>
              <a:t> AWS for compute, Google Cloud for AI/ML, Azure for Microsoft </a:t>
            </a:r>
            <a:r>
              <a:rPr lang="it-IT" err="1"/>
              <a:t>integrations</a:t>
            </a:r>
            <a:r>
              <a:rPr lang="it-IT"/>
              <a:t>.</a:t>
            </a:r>
          </a:p>
        </p:txBody>
      </p:sp>
      <p:sp>
        <p:nvSpPr>
          <p:cNvPr id="12" name="Google Shape;214;p34">
            <a:extLst>
              <a:ext uri="{FF2B5EF4-FFF2-40B4-BE49-F238E27FC236}">
                <a16:creationId xmlns:a16="http://schemas.microsoft.com/office/drawing/2014/main" id="{C0E80307-6328-98C3-A229-D5AF71E2674B}"/>
              </a:ext>
            </a:extLst>
          </p:cNvPr>
          <p:cNvSpPr txBox="1">
            <a:spLocks/>
          </p:cNvSpPr>
          <p:nvPr/>
        </p:nvSpPr>
        <p:spPr>
          <a:xfrm>
            <a:off x="1035210" y="2147734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2</a:t>
            </a:r>
          </a:p>
        </p:txBody>
      </p:sp>
      <p:sp>
        <p:nvSpPr>
          <p:cNvPr id="16" name="Google Shape;214;p34">
            <a:extLst>
              <a:ext uri="{FF2B5EF4-FFF2-40B4-BE49-F238E27FC236}">
                <a16:creationId xmlns:a16="http://schemas.microsoft.com/office/drawing/2014/main" id="{F8EE34C6-FAD2-63A5-1D62-839F141A4B4E}"/>
              </a:ext>
            </a:extLst>
          </p:cNvPr>
          <p:cNvSpPr txBox="1">
            <a:spLocks/>
          </p:cNvSpPr>
          <p:nvPr/>
        </p:nvSpPr>
        <p:spPr>
          <a:xfrm>
            <a:off x="2059679" y="3427489"/>
            <a:ext cx="466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it-IT"/>
              <a:t>Step 3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287B2AC-4E0B-1FB3-5055-C92594110E8F}"/>
              </a:ext>
            </a:extLst>
          </p:cNvPr>
          <p:cNvSpPr txBox="1"/>
          <p:nvPr/>
        </p:nvSpPr>
        <p:spPr>
          <a:xfrm>
            <a:off x="2056463" y="3841396"/>
            <a:ext cx="510267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it-IT"/>
              <a:t>Management </a:t>
            </a:r>
            <a:r>
              <a:rPr lang="it-IT" err="1"/>
              <a:t>platforms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on top to </a:t>
            </a:r>
            <a:r>
              <a:rPr lang="it-IT" err="1"/>
              <a:t>unify</a:t>
            </a:r>
            <a:r>
              <a:rPr lang="it-IT"/>
              <a:t> monitoring, billing, and security </a:t>
            </a:r>
            <a:r>
              <a:rPr lang="it-IT" err="1"/>
              <a:t>across</a:t>
            </a:r>
            <a:r>
              <a:rPr lang="it-IT"/>
              <a:t> </a:t>
            </a:r>
            <a:r>
              <a:rPr lang="it-IT" err="1"/>
              <a:t>all</a:t>
            </a:r>
            <a:r>
              <a:rPr lang="it-IT"/>
              <a:t> providers.</a:t>
            </a:r>
          </a:p>
        </p:txBody>
      </p:sp>
      <p:grpSp>
        <p:nvGrpSpPr>
          <p:cNvPr id="25" name="Google Shape;1893;p54">
            <a:extLst>
              <a:ext uri="{FF2B5EF4-FFF2-40B4-BE49-F238E27FC236}">
                <a16:creationId xmlns:a16="http://schemas.microsoft.com/office/drawing/2014/main" id="{60E14E8E-6FEC-243C-89D2-43FB64F31FBD}"/>
              </a:ext>
            </a:extLst>
          </p:cNvPr>
          <p:cNvGrpSpPr/>
          <p:nvPr/>
        </p:nvGrpSpPr>
        <p:grpSpPr>
          <a:xfrm flipV="1">
            <a:off x="191413" y="1024832"/>
            <a:ext cx="334864" cy="292853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23" name="Google Shape;1894;p54">
              <a:extLst>
                <a:ext uri="{FF2B5EF4-FFF2-40B4-BE49-F238E27FC236}">
                  <a16:creationId xmlns:a16="http://schemas.microsoft.com/office/drawing/2014/main" id="{4206FF4D-5BC2-C469-E2DF-7C8E75444F98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" name="Google Shape;1895;p54">
              <a:extLst>
                <a:ext uri="{FF2B5EF4-FFF2-40B4-BE49-F238E27FC236}">
                  <a16:creationId xmlns:a16="http://schemas.microsoft.com/office/drawing/2014/main" id="{6F0E3165-14AC-F90A-9E1C-AF41AA4D434A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" name="Google Shape;1893;p54">
            <a:extLst>
              <a:ext uri="{FF2B5EF4-FFF2-40B4-BE49-F238E27FC236}">
                <a16:creationId xmlns:a16="http://schemas.microsoft.com/office/drawing/2014/main" id="{159CB567-2917-1B1A-111F-B9990495CDF4}"/>
              </a:ext>
            </a:extLst>
          </p:cNvPr>
          <p:cNvGrpSpPr/>
          <p:nvPr/>
        </p:nvGrpSpPr>
        <p:grpSpPr>
          <a:xfrm>
            <a:off x="733677" y="2215959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path path="circle">
              <a:fillToRect t="100000" r="100000"/>
            </a:path>
            <a:tileRect l="-100000" b="-100000"/>
          </a:gradFill>
        </p:grpSpPr>
        <p:sp>
          <p:nvSpPr>
            <p:cNvPr id="3" name="Google Shape;1894;p54">
              <a:extLst>
                <a:ext uri="{FF2B5EF4-FFF2-40B4-BE49-F238E27FC236}">
                  <a16:creationId xmlns:a16="http://schemas.microsoft.com/office/drawing/2014/main" id="{ECBB2601-A973-9A43-741B-67E2C8DE3670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" name="Google Shape;1895;p54">
              <a:extLst>
                <a:ext uri="{FF2B5EF4-FFF2-40B4-BE49-F238E27FC236}">
                  <a16:creationId xmlns:a16="http://schemas.microsoft.com/office/drawing/2014/main" id="{60997D65-56EF-A504-B9C2-C6C36DADF3A3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" name="Google Shape;1893;p54">
            <a:extLst>
              <a:ext uri="{FF2B5EF4-FFF2-40B4-BE49-F238E27FC236}">
                <a16:creationId xmlns:a16="http://schemas.microsoft.com/office/drawing/2014/main" id="{80872BAC-5B8E-BAD1-3672-5FD389C39F86}"/>
              </a:ext>
            </a:extLst>
          </p:cNvPr>
          <p:cNvGrpSpPr/>
          <p:nvPr/>
        </p:nvGrpSpPr>
        <p:grpSpPr>
          <a:xfrm>
            <a:off x="1769951" y="3498637"/>
            <a:ext cx="290615" cy="290616"/>
            <a:chOff x="1802222" y="3356400"/>
            <a:chExt cx="543900" cy="543900"/>
          </a:xfr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6200000" scaled="1"/>
            <a:tileRect/>
          </a:gradFill>
        </p:grpSpPr>
        <p:sp>
          <p:nvSpPr>
            <p:cNvPr id="7" name="Google Shape;1894;p54">
              <a:extLst>
                <a:ext uri="{FF2B5EF4-FFF2-40B4-BE49-F238E27FC236}">
                  <a16:creationId xmlns:a16="http://schemas.microsoft.com/office/drawing/2014/main" id="{9640CF1A-C87B-32DA-FF20-3B252E49519C}"/>
                </a:ext>
              </a:extLst>
            </p:cNvPr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" name="Google Shape;1895;p54">
              <a:extLst>
                <a:ext uri="{FF2B5EF4-FFF2-40B4-BE49-F238E27FC236}">
                  <a16:creationId xmlns:a16="http://schemas.microsoft.com/office/drawing/2014/main" id="{4FCF3EC6-F13C-5DEC-8F1C-78B28451DFE4}"/>
                </a:ext>
              </a:extLst>
            </p:cNvPr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name="adj1" fmla="val 16200000"/>
                <a:gd name="adj2" fmla="val 10755368"/>
              </a:avLst>
            </a:prstGeom>
            <a:grp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" name="Google Shape;158;p30">
            <a:extLst>
              <a:ext uri="{FF2B5EF4-FFF2-40B4-BE49-F238E27FC236}">
                <a16:creationId xmlns:a16="http://schemas.microsoft.com/office/drawing/2014/main" id="{1CF704B1-4451-24BC-3CE0-BB388CC4DF3F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70453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5DD42B82-FD7A-0F33-1429-DD62B0D29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81B9334D-F1FE-C9F4-4693-4B87C6E74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EFEEE7"/>
                </a:solidFill>
              </a:rPr>
              <a:t>Real World Examples</a:t>
            </a:r>
            <a:endParaRPr lang="it-IT"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4AE16E25-A7F6-DD0F-BAAB-297A780E105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</a:p>
        </p:txBody>
      </p:sp>
      <p:sp>
        <p:nvSpPr>
          <p:cNvPr id="2" name="Google Shape;158;p30">
            <a:extLst>
              <a:ext uri="{FF2B5EF4-FFF2-40B4-BE49-F238E27FC236}">
                <a16:creationId xmlns:a16="http://schemas.microsoft.com/office/drawing/2014/main" id="{303321B2-3280-78ED-A339-351A4DB9AFD4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3571558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Examples</a:t>
            </a:r>
            <a:endParaRPr/>
          </a:p>
        </p:txBody>
      </p:sp>
      <p:sp>
        <p:nvSpPr>
          <p:cNvPr id="267" name="Google Shape;267;p38"/>
          <p:cNvSpPr txBox="1"/>
          <p:nvPr/>
        </p:nvSpPr>
        <p:spPr>
          <a:xfrm>
            <a:off x="718662" y="1091825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Netflix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718662" y="3374801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Government Agency</a:t>
            </a:r>
          </a:p>
        </p:txBody>
      </p:sp>
      <p:sp>
        <p:nvSpPr>
          <p:cNvPr id="270" name="Google Shape;270;p38"/>
          <p:cNvSpPr txBox="1"/>
          <p:nvPr/>
        </p:nvSpPr>
        <p:spPr>
          <a:xfrm>
            <a:off x="6369937" y="1091825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Major Bank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6368400" y="3449745"/>
            <a:ext cx="2055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Spotify</a:t>
            </a:r>
            <a:endParaRPr sz="16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718662" y="1692729"/>
            <a:ext cx="20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Cloud (AWS)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718662" y="3975700"/>
            <a:ext cx="20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Cloud</a:t>
            </a:r>
          </a:p>
        </p:txBody>
      </p:sp>
      <p:sp>
        <p:nvSpPr>
          <p:cNvPr id="276" name="Google Shape;276;p38"/>
          <p:cNvSpPr txBox="1"/>
          <p:nvPr/>
        </p:nvSpPr>
        <p:spPr>
          <a:xfrm>
            <a:off x="6369938" y="1692729"/>
            <a:ext cx="20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Hybrid Cloud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6363769" y="3971630"/>
            <a:ext cx="205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Multi-Cloud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38"/>
          <p:cNvSpPr/>
          <p:nvPr/>
        </p:nvSpPr>
        <p:spPr>
          <a:xfrm>
            <a:off x="3868288" y="1390393"/>
            <a:ext cx="1407579" cy="2685758"/>
          </a:xfrm>
          <a:custGeom>
            <a:avLst/>
            <a:gdLst/>
            <a:ahLst/>
            <a:cxnLst/>
            <a:rect l="l" t="t" r="r" b="b"/>
            <a:pathLst>
              <a:path w="84552" h="161331" extrusionOk="0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0" name="Google Shape;280;p38"/>
          <p:cNvGrpSpPr/>
          <p:nvPr/>
        </p:nvGrpSpPr>
        <p:grpSpPr>
          <a:xfrm>
            <a:off x="3796173" y="1236027"/>
            <a:ext cx="1551654" cy="3149588"/>
            <a:chOff x="5186401" y="494525"/>
            <a:chExt cx="1834973" cy="3724678"/>
          </a:xfrm>
        </p:grpSpPr>
        <p:sp>
          <p:nvSpPr>
            <p:cNvPr id="281" name="Google Shape;281;p38"/>
            <p:cNvSpPr/>
            <p:nvPr/>
          </p:nvSpPr>
          <p:spPr>
            <a:xfrm>
              <a:off x="5186401" y="494525"/>
              <a:ext cx="1834973" cy="3724678"/>
            </a:xfrm>
            <a:custGeom>
              <a:avLst/>
              <a:gdLst/>
              <a:ahLst/>
              <a:cxnLst/>
              <a:rect l="l" t="t" r="r" b="b"/>
              <a:pathLst>
                <a:path w="93205" h="189190" extrusionOk="0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8"/>
            <p:cNvSpPr/>
            <p:nvPr/>
          </p:nvSpPr>
          <p:spPr>
            <a:xfrm>
              <a:off x="5890455" y="3969678"/>
              <a:ext cx="458108" cy="154724"/>
            </a:xfrm>
            <a:custGeom>
              <a:avLst/>
              <a:gdLst/>
              <a:ahLst/>
              <a:cxnLst/>
              <a:rect l="l" t="t" r="r" b="b"/>
              <a:pathLst>
                <a:path w="23269" h="7859" extrusionOk="0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83" name="Google Shape;283;p38" title="surreal-geometric-shapes-barren-desert.jpg"/>
          <p:cNvPicPr preferRelativeResize="0"/>
          <p:nvPr/>
        </p:nvPicPr>
        <p:blipFill rotWithShape="1">
          <a:blip r:embed="rId3">
            <a:alphaModFix/>
          </a:blip>
          <a:srcRect l="10685" r="10685"/>
          <a:stretch/>
        </p:blipFill>
        <p:spPr>
          <a:xfrm>
            <a:off x="3868295" y="1390396"/>
            <a:ext cx="1407612" cy="268591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38"/>
          <p:cNvCxnSpPr>
            <a:stCxn id="267" idx="3"/>
          </p:cNvCxnSpPr>
          <p:nvPr/>
        </p:nvCxnSpPr>
        <p:spPr>
          <a:xfrm>
            <a:off x="2774262" y="1430375"/>
            <a:ext cx="1658400" cy="2442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6" name="Google Shape;286;p38"/>
          <p:cNvCxnSpPr>
            <a:stCxn id="269" idx="3"/>
          </p:cNvCxnSpPr>
          <p:nvPr/>
        </p:nvCxnSpPr>
        <p:spPr>
          <a:xfrm rot="10800000" flipH="1">
            <a:off x="2774262" y="3086951"/>
            <a:ext cx="1749000" cy="6264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7" name="Google Shape;287;p38"/>
          <p:cNvCxnSpPr/>
          <p:nvPr/>
        </p:nvCxnSpPr>
        <p:spPr>
          <a:xfrm flipH="1">
            <a:off x="4728337" y="1430538"/>
            <a:ext cx="1641600" cy="597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89" name="Google Shape;289;p38"/>
          <p:cNvCxnSpPr>
            <a:stCxn id="272" idx="1"/>
          </p:cNvCxnSpPr>
          <p:nvPr/>
        </p:nvCxnSpPr>
        <p:spPr>
          <a:xfrm flipH="1">
            <a:off x="4521600" y="3788295"/>
            <a:ext cx="1846800" cy="189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grpSp>
        <p:nvGrpSpPr>
          <p:cNvPr id="2" name="Google Shape;3152;p57">
            <a:extLst>
              <a:ext uri="{FF2B5EF4-FFF2-40B4-BE49-F238E27FC236}">
                <a16:creationId xmlns:a16="http://schemas.microsoft.com/office/drawing/2014/main" id="{A890AB02-CD1B-86AD-7319-63A46BA385C7}"/>
              </a:ext>
            </a:extLst>
          </p:cNvPr>
          <p:cNvGrpSpPr/>
          <p:nvPr/>
        </p:nvGrpSpPr>
        <p:grpSpPr>
          <a:xfrm>
            <a:off x="7798383" y="1452138"/>
            <a:ext cx="418103" cy="554100"/>
            <a:chOff x="3584201" y="4294996"/>
            <a:chExt cx="267574" cy="329415"/>
          </a:xfrm>
          <a:solidFill>
            <a:schemeClr val="tx1"/>
          </a:solidFill>
        </p:grpSpPr>
        <p:sp>
          <p:nvSpPr>
            <p:cNvPr id="3" name="Google Shape;3153;p57">
              <a:extLst>
                <a:ext uri="{FF2B5EF4-FFF2-40B4-BE49-F238E27FC236}">
                  <a16:creationId xmlns:a16="http://schemas.microsoft.com/office/drawing/2014/main" id="{FA14D637-1B2C-46B9-A1A1-B3CCF63F3256}"/>
                </a:ext>
              </a:extLst>
            </p:cNvPr>
            <p:cNvSpPr/>
            <p:nvPr/>
          </p:nvSpPr>
          <p:spPr>
            <a:xfrm>
              <a:off x="3584201" y="4294996"/>
              <a:ext cx="267574" cy="329415"/>
            </a:xfrm>
            <a:custGeom>
              <a:avLst/>
              <a:gdLst/>
              <a:ahLst/>
              <a:cxnLst/>
              <a:rect l="l" t="t" r="r" b="b"/>
              <a:pathLst>
                <a:path w="8407" h="10350" extrusionOk="0">
                  <a:moveTo>
                    <a:pt x="4191" y="321"/>
                  </a:moveTo>
                  <a:lnTo>
                    <a:pt x="8097" y="1095"/>
                  </a:lnTo>
                  <a:lnTo>
                    <a:pt x="8097" y="6727"/>
                  </a:lnTo>
                  <a:lnTo>
                    <a:pt x="4191" y="10001"/>
                  </a:lnTo>
                  <a:lnTo>
                    <a:pt x="298" y="6727"/>
                  </a:lnTo>
                  <a:lnTo>
                    <a:pt x="298" y="1095"/>
                  </a:lnTo>
                  <a:lnTo>
                    <a:pt x="4191" y="321"/>
                  </a:lnTo>
                  <a:close/>
                  <a:moveTo>
                    <a:pt x="4168" y="0"/>
                  </a:moveTo>
                  <a:lnTo>
                    <a:pt x="120" y="810"/>
                  </a:lnTo>
                  <a:cubicBezTo>
                    <a:pt x="48" y="822"/>
                    <a:pt x="0" y="881"/>
                    <a:pt x="0" y="953"/>
                  </a:cubicBezTo>
                  <a:lnTo>
                    <a:pt x="0" y="6787"/>
                  </a:lnTo>
                  <a:cubicBezTo>
                    <a:pt x="0" y="6834"/>
                    <a:pt x="12" y="6882"/>
                    <a:pt x="60" y="6906"/>
                  </a:cubicBezTo>
                  <a:lnTo>
                    <a:pt x="4108" y="10323"/>
                  </a:lnTo>
                  <a:cubicBezTo>
                    <a:pt x="4138" y="10341"/>
                    <a:pt x="4171" y="10350"/>
                    <a:pt x="4203" y="10350"/>
                  </a:cubicBezTo>
                  <a:cubicBezTo>
                    <a:pt x="4236" y="10350"/>
                    <a:pt x="4269" y="10341"/>
                    <a:pt x="4299" y="10323"/>
                  </a:cubicBezTo>
                  <a:lnTo>
                    <a:pt x="8347" y="6906"/>
                  </a:lnTo>
                  <a:cubicBezTo>
                    <a:pt x="8382" y="6882"/>
                    <a:pt x="8406" y="6834"/>
                    <a:pt x="8406" y="6787"/>
                  </a:cubicBezTo>
                  <a:lnTo>
                    <a:pt x="8406" y="953"/>
                  </a:lnTo>
                  <a:cubicBezTo>
                    <a:pt x="8406" y="881"/>
                    <a:pt x="8347" y="822"/>
                    <a:pt x="8275" y="810"/>
                  </a:cubicBezTo>
                  <a:lnTo>
                    <a:pt x="42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54;p57">
              <a:extLst>
                <a:ext uri="{FF2B5EF4-FFF2-40B4-BE49-F238E27FC236}">
                  <a16:creationId xmlns:a16="http://schemas.microsoft.com/office/drawing/2014/main" id="{3B137688-83F7-28E6-1B96-EB9DC0249D33}"/>
                </a:ext>
              </a:extLst>
            </p:cNvPr>
            <p:cNvSpPr/>
            <p:nvPr/>
          </p:nvSpPr>
          <p:spPr>
            <a:xfrm>
              <a:off x="3604666" y="4315811"/>
              <a:ext cx="226644" cy="281610"/>
            </a:xfrm>
            <a:custGeom>
              <a:avLst/>
              <a:gdLst/>
              <a:ahLst/>
              <a:cxnLst/>
              <a:rect l="l" t="t" r="r" b="b"/>
              <a:pathLst>
                <a:path w="7121" h="8848" extrusionOk="0">
                  <a:moveTo>
                    <a:pt x="3525" y="1"/>
                  </a:moveTo>
                  <a:lnTo>
                    <a:pt x="119" y="691"/>
                  </a:lnTo>
                  <a:cubicBezTo>
                    <a:pt x="36" y="703"/>
                    <a:pt x="0" y="763"/>
                    <a:pt x="0" y="834"/>
                  </a:cubicBezTo>
                  <a:lnTo>
                    <a:pt x="0" y="5835"/>
                  </a:lnTo>
                  <a:cubicBezTo>
                    <a:pt x="0" y="5883"/>
                    <a:pt x="12" y="5930"/>
                    <a:pt x="60" y="5954"/>
                  </a:cubicBezTo>
                  <a:lnTo>
                    <a:pt x="3465" y="8811"/>
                  </a:lnTo>
                  <a:cubicBezTo>
                    <a:pt x="3495" y="8835"/>
                    <a:pt x="3528" y="8847"/>
                    <a:pt x="3560" y="8847"/>
                  </a:cubicBezTo>
                  <a:cubicBezTo>
                    <a:pt x="3593" y="8847"/>
                    <a:pt x="3626" y="8835"/>
                    <a:pt x="3656" y="8811"/>
                  </a:cubicBezTo>
                  <a:lnTo>
                    <a:pt x="7061" y="5954"/>
                  </a:lnTo>
                  <a:cubicBezTo>
                    <a:pt x="7097" y="5930"/>
                    <a:pt x="7120" y="5883"/>
                    <a:pt x="7120" y="5835"/>
                  </a:cubicBezTo>
                  <a:lnTo>
                    <a:pt x="7120" y="4609"/>
                  </a:lnTo>
                  <a:cubicBezTo>
                    <a:pt x="7120" y="4513"/>
                    <a:pt x="7049" y="4454"/>
                    <a:pt x="6977" y="4454"/>
                  </a:cubicBezTo>
                  <a:cubicBezTo>
                    <a:pt x="6882" y="4454"/>
                    <a:pt x="6823" y="4525"/>
                    <a:pt x="6823" y="4609"/>
                  </a:cubicBezTo>
                  <a:lnTo>
                    <a:pt x="6823" y="5763"/>
                  </a:lnTo>
                  <a:lnTo>
                    <a:pt x="3572" y="8502"/>
                  </a:lnTo>
                  <a:lnTo>
                    <a:pt x="298" y="5763"/>
                  </a:lnTo>
                  <a:lnTo>
                    <a:pt x="298" y="953"/>
                  </a:lnTo>
                  <a:lnTo>
                    <a:pt x="3548" y="299"/>
                  </a:lnTo>
                  <a:lnTo>
                    <a:pt x="6811" y="953"/>
                  </a:lnTo>
                  <a:lnTo>
                    <a:pt x="6811" y="3847"/>
                  </a:lnTo>
                  <a:cubicBezTo>
                    <a:pt x="6799" y="3930"/>
                    <a:pt x="6870" y="4013"/>
                    <a:pt x="6966" y="4013"/>
                  </a:cubicBezTo>
                  <a:cubicBezTo>
                    <a:pt x="7049" y="4013"/>
                    <a:pt x="7108" y="3930"/>
                    <a:pt x="7108" y="3858"/>
                  </a:cubicBezTo>
                  <a:lnTo>
                    <a:pt x="7108" y="834"/>
                  </a:lnTo>
                  <a:cubicBezTo>
                    <a:pt x="7108" y="763"/>
                    <a:pt x="7061" y="703"/>
                    <a:pt x="6989" y="691"/>
                  </a:cubicBezTo>
                  <a:lnTo>
                    <a:pt x="35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55;p57">
              <a:extLst>
                <a:ext uri="{FF2B5EF4-FFF2-40B4-BE49-F238E27FC236}">
                  <a16:creationId xmlns:a16="http://schemas.microsoft.com/office/drawing/2014/main" id="{FEF1AC3C-958C-4687-1206-7D70A5A42C8B}"/>
                </a:ext>
              </a:extLst>
            </p:cNvPr>
            <p:cNvSpPr/>
            <p:nvPr/>
          </p:nvSpPr>
          <p:spPr>
            <a:xfrm>
              <a:off x="3645597" y="4362056"/>
              <a:ext cx="144019" cy="144019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322"/>
                  </a:moveTo>
                  <a:cubicBezTo>
                    <a:pt x="3334" y="322"/>
                    <a:pt x="4215" y="1203"/>
                    <a:pt x="4215" y="2275"/>
                  </a:cubicBezTo>
                  <a:cubicBezTo>
                    <a:pt x="4215" y="3346"/>
                    <a:pt x="3334" y="4227"/>
                    <a:pt x="2262" y="4227"/>
                  </a:cubicBezTo>
                  <a:cubicBezTo>
                    <a:pt x="1191" y="4227"/>
                    <a:pt x="322" y="3346"/>
                    <a:pt x="322" y="2275"/>
                  </a:cubicBezTo>
                  <a:cubicBezTo>
                    <a:pt x="322" y="1203"/>
                    <a:pt x="1191" y="322"/>
                    <a:pt x="2262" y="322"/>
                  </a:cubicBezTo>
                  <a:close/>
                  <a:moveTo>
                    <a:pt x="2262" y="0"/>
                  </a:moveTo>
                  <a:cubicBezTo>
                    <a:pt x="1012" y="0"/>
                    <a:pt x="0" y="1012"/>
                    <a:pt x="0" y="2263"/>
                  </a:cubicBezTo>
                  <a:cubicBezTo>
                    <a:pt x="0" y="3513"/>
                    <a:pt x="1012" y="4525"/>
                    <a:pt x="2262" y="4525"/>
                  </a:cubicBezTo>
                  <a:cubicBezTo>
                    <a:pt x="3513" y="4525"/>
                    <a:pt x="4525" y="3513"/>
                    <a:pt x="4525" y="2263"/>
                  </a:cubicBezTo>
                  <a:cubicBezTo>
                    <a:pt x="4525" y="1012"/>
                    <a:pt x="3513" y="0"/>
                    <a:pt x="22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56;p57">
              <a:extLst>
                <a:ext uri="{FF2B5EF4-FFF2-40B4-BE49-F238E27FC236}">
                  <a16:creationId xmlns:a16="http://schemas.microsoft.com/office/drawing/2014/main" id="{FBFAE507-3B53-4379-B518-FD6960B746D7}"/>
                </a:ext>
              </a:extLst>
            </p:cNvPr>
            <p:cNvSpPr/>
            <p:nvPr/>
          </p:nvSpPr>
          <p:spPr>
            <a:xfrm>
              <a:off x="3692574" y="4377970"/>
              <a:ext cx="51561" cy="112574"/>
            </a:xfrm>
            <a:custGeom>
              <a:avLst/>
              <a:gdLst/>
              <a:ahLst/>
              <a:cxnLst/>
              <a:rect l="l" t="t" r="r" b="b"/>
              <a:pathLst>
                <a:path w="1620" h="3537" extrusionOk="0">
                  <a:moveTo>
                    <a:pt x="810" y="0"/>
                  </a:moveTo>
                  <a:cubicBezTo>
                    <a:pt x="727" y="0"/>
                    <a:pt x="656" y="72"/>
                    <a:pt x="656" y="155"/>
                  </a:cubicBezTo>
                  <a:lnTo>
                    <a:pt x="656" y="489"/>
                  </a:lnTo>
                  <a:cubicBezTo>
                    <a:pt x="298" y="524"/>
                    <a:pt x="1" y="834"/>
                    <a:pt x="1" y="1203"/>
                  </a:cubicBezTo>
                  <a:cubicBezTo>
                    <a:pt x="1" y="1608"/>
                    <a:pt x="334" y="1917"/>
                    <a:pt x="715" y="1917"/>
                  </a:cubicBezTo>
                  <a:lnTo>
                    <a:pt x="882" y="1917"/>
                  </a:lnTo>
                  <a:cubicBezTo>
                    <a:pt x="1108" y="1917"/>
                    <a:pt x="1298" y="2108"/>
                    <a:pt x="1298" y="2334"/>
                  </a:cubicBezTo>
                  <a:cubicBezTo>
                    <a:pt x="1298" y="2560"/>
                    <a:pt x="1108" y="2751"/>
                    <a:pt x="882" y="2751"/>
                  </a:cubicBezTo>
                  <a:lnTo>
                    <a:pt x="644" y="2751"/>
                  </a:lnTo>
                  <a:cubicBezTo>
                    <a:pt x="465" y="2751"/>
                    <a:pt x="310" y="2608"/>
                    <a:pt x="310" y="2429"/>
                  </a:cubicBezTo>
                  <a:cubicBezTo>
                    <a:pt x="310" y="2334"/>
                    <a:pt x="239" y="2275"/>
                    <a:pt x="167" y="2275"/>
                  </a:cubicBezTo>
                  <a:cubicBezTo>
                    <a:pt x="84" y="2275"/>
                    <a:pt x="13" y="2346"/>
                    <a:pt x="13" y="2429"/>
                  </a:cubicBezTo>
                  <a:cubicBezTo>
                    <a:pt x="13" y="2787"/>
                    <a:pt x="298" y="3060"/>
                    <a:pt x="656" y="3060"/>
                  </a:cubicBezTo>
                  <a:lnTo>
                    <a:pt x="667" y="3060"/>
                  </a:lnTo>
                  <a:lnTo>
                    <a:pt x="667" y="3394"/>
                  </a:lnTo>
                  <a:cubicBezTo>
                    <a:pt x="667" y="3477"/>
                    <a:pt x="739" y="3537"/>
                    <a:pt x="822" y="3537"/>
                  </a:cubicBezTo>
                  <a:cubicBezTo>
                    <a:pt x="894" y="3537"/>
                    <a:pt x="965" y="3465"/>
                    <a:pt x="965" y="3394"/>
                  </a:cubicBezTo>
                  <a:lnTo>
                    <a:pt x="965" y="3048"/>
                  </a:lnTo>
                  <a:cubicBezTo>
                    <a:pt x="1322" y="3025"/>
                    <a:pt x="1620" y="2703"/>
                    <a:pt x="1620" y="2334"/>
                  </a:cubicBezTo>
                  <a:cubicBezTo>
                    <a:pt x="1620" y="1929"/>
                    <a:pt x="1298" y="1620"/>
                    <a:pt x="906" y="1620"/>
                  </a:cubicBezTo>
                  <a:lnTo>
                    <a:pt x="739" y="1620"/>
                  </a:lnTo>
                  <a:cubicBezTo>
                    <a:pt x="525" y="1620"/>
                    <a:pt x="334" y="1429"/>
                    <a:pt x="334" y="1203"/>
                  </a:cubicBezTo>
                  <a:cubicBezTo>
                    <a:pt x="334" y="977"/>
                    <a:pt x="525" y="786"/>
                    <a:pt x="739" y="786"/>
                  </a:cubicBezTo>
                  <a:lnTo>
                    <a:pt x="977" y="786"/>
                  </a:lnTo>
                  <a:cubicBezTo>
                    <a:pt x="1167" y="786"/>
                    <a:pt x="1310" y="941"/>
                    <a:pt x="1310" y="1120"/>
                  </a:cubicBezTo>
                  <a:lnTo>
                    <a:pt x="1310" y="1286"/>
                  </a:lnTo>
                  <a:cubicBezTo>
                    <a:pt x="1310" y="1358"/>
                    <a:pt x="1382" y="1429"/>
                    <a:pt x="1465" y="1429"/>
                  </a:cubicBezTo>
                  <a:cubicBezTo>
                    <a:pt x="1548" y="1429"/>
                    <a:pt x="1608" y="1358"/>
                    <a:pt x="1608" y="1286"/>
                  </a:cubicBezTo>
                  <a:lnTo>
                    <a:pt x="1608" y="1120"/>
                  </a:lnTo>
                  <a:cubicBezTo>
                    <a:pt x="1608" y="762"/>
                    <a:pt x="1322" y="477"/>
                    <a:pt x="965" y="477"/>
                  </a:cubicBezTo>
                  <a:lnTo>
                    <a:pt x="953" y="477"/>
                  </a:lnTo>
                  <a:lnTo>
                    <a:pt x="953" y="155"/>
                  </a:lnTo>
                  <a:cubicBezTo>
                    <a:pt x="953" y="60"/>
                    <a:pt x="882" y="0"/>
                    <a:pt x="8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941;p55">
            <a:extLst>
              <a:ext uri="{FF2B5EF4-FFF2-40B4-BE49-F238E27FC236}">
                <a16:creationId xmlns:a16="http://schemas.microsoft.com/office/drawing/2014/main" id="{1F3BF0CF-7378-5478-D0ED-9403572AF0D2}"/>
              </a:ext>
            </a:extLst>
          </p:cNvPr>
          <p:cNvGrpSpPr/>
          <p:nvPr/>
        </p:nvGrpSpPr>
        <p:grpSpPr>
          <a:xfrm>
            <a:off x="7391568" y="3727618"/>
            <a:ext cx="731842" cy="577834"/>
            <a:chOff x="3049653" y="2321468"/>
            <a:chExt cx="362992" cy="290018"/>
          </a:xfrm>
          <a:solidFill>
            <a:schemeClr val="tx1"/>
          </a:solidFill>
        </p:grpSpPr>
        <p:sp>
          <p:nvSpPr>
            <p:cNvPr id="9" name="Google Shape;1942;p55">
              <a:extLst>
                <a:ext uri="{FF2B5EF4-FFF2-40B4-BE49-F238E27FC236}">
                  <a16:creationId xmlns:a16="http://schemas.microsoft.com/office/drawing/2014/main" id="{9AE2915E-084A-730D-DDB4-A745CCE93558}"/>
                </a:ext>
              </a:extLst>
            </p:cNvPr>
            <p:cNvSpPr/>
            <p:nvPr/>
          </p:nvSpPr>
          <p:spPr>
            <a:xfrm>
              <a:off x="3280289" y="2429690"/>
              <a:ext cx="82771" cy="57961"/>
            </a:xfrm>
            <a:custGeom>
              <a:avLst/>
              <a:gdLst/>
              <a:ahLst/>
              <a:cxnLst/>
              <a:rect l="l" t="t" r="r" b="b"/>
              <a:pathLst>
                <a:path w="942" h="2329" extrusionOk="0">
                  <a:moveTo>
                    <a:pt x="200" y="1"/>
                  </a:moveTo>
                  <a:cubicBezTo>
                    <a:pt x="158" y="1"/>
                    <a:pt x="114" y="16"/>
                    <a:pt x="72" y="45"/>
                  </a:cubicBezTo>
                  <a:cubicBezTo>
                    <a:pt x="13" y="93"/>
                    <a:pt x="13" y="200"/>
                    <a:pt x="72" y="283"/>
                  </a:cubicBezTo>
                  <a:cubicBezTo>
                    <a:pt x="572" y="772"/>
                    <a:pt x="572" y="1569"/>
                    <a:pt x="72" y="2046"/>
                  </a:cubicBezTo>
                  <a:cubicBezTo>
                    <a:pt x="1" y="2129"/>
                    <a:pt x="1" y="2224"/>
                    <a:pt x="72" y="2284"/>
                  </a:cubicBezTo>
                  <a:cubicBezTo>
                    <a:pt x="102" y="2313"/>
                    <a:pt x="144" y="2328"/>
                    <a:pt x="187" y="2328"/>
                  </a:cubicBezTo>
                  <a:cubicBezTo>
                    <a:pt x="230" y="2328"/>
                    <a:pt x="275" y="2313"/>
                    <a:pt x="310" y="2284"/>
                  </a:cubicBezTo>
                  <a:cubicBezTo>
                    <a:pt x="941" y="1665"/>
                    <a:pt x="941" y="664"/>
                    <a:pt x="310" y="45"/>
                  </a:cubicBezTo>
                  <a:cubicBezTo>
                    <a:pt x="280" y="16"/>
                    <a:pt x="242" y="1"/>
                    <a:pt x="2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943;p55">
              <a:extLst>
                <a:ext uri="{FF2B5EF4-FFF2-40B4-BE49-F238E27FC236}">
                  <a16:creationId xmlns:a16="http://schemas.microsoft.com/office/drawing/2014/main" id="{FA6B121A-5015-3640-DAE7-8C03C4B52246}"/>
                </a:ext>
              </a:extLst>
            </p:cNvPr>
            <p:cNvSpPr/>
            <p:nvPr/>
          </p:nvSpPr>
          <p:spPr>
            <a:xfrm>
              <a:off x="3317729" y="2392250"/>
              <a:ext cx="49570" cy="148836"/>
            </a:xfrm>
            <a:custGeom>
              <a:avLst/>
              <a:gdLst/>
              <a:ahLst/>
              <a:cxnLst/>
              <a:rect l="l" t="t" r="r" b="b"/>
              <a:pathLst>
                <a:path w="1561" h="4687" extrusionOk="0">
                  <a:moveTo>
                    <a:pt x="183" y="1"/>
                  </a:moveTo>
                  <a:cubicBezTo>
                    <a:pt x="140" y="1"/>
                    <a:pt x="96" y="16"/>
                    <a:pt x="60" y="46"/>
                  </a:cubicBezTo>
                  <a:cubicBezTo>
                    <a:pt x="0" y="105"/>
                    <a:pt x="0" y="212"/>
                    <a:pt x="60" y="284"/>
                  </a:cubicBezTo>
                  <a:cubicBezTo>
                    <a:pt x="1191" y="1415"/>
                    <a:pt x="1191" y="3272"/>
                    <a:pt x="60" y="4403"/>
                  </a:cubicBezTo>
                  <a:cubicBezTo>
                    <a:pt x="0" y="4475"/>
                    <a:pt x="0" y="4582"/>
                    <a:pt x="60" y="4641"/>
                  </a:cubicBezTo>
                  <a:cubicBezTo>
                    <a:pt x="90" y="4671"/>
                    <a:pt x="131" y="4686"/>
                    <a:pt x="175" y="4686"/>
                  </a:cubicBezTo>
                  <a:cubicBezTo>
                    <a:pt x="218" y="4686"/>
                    <a:pt x="262" y="4671"/>
                    <a:pt x="298" y="4641"/>
                  </a:cubicBezTo>
                  <a:cubicBezTo>
                    <a:pt x="1560" y="3379"/>
                    <a:pt x="1560" y="1308"/>
                    <a:pt x="298" y="46"/>
                  </a:cubicBezTo>
                  <a:cubicBezTo>
                    <a:pt x="268" y="16"/>
                    <a:pt x="227" y="1"/>
                    <a:pt x="1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944;p55">
              <a:extLst>
                <a:ext uri="{FF2B5EF4-FFF2-40B4-BE49-F238E27FC236}">
                  <a16:creationId xmlns:a16="http://schemas.microsoft.com/office/drawing/2014/main" id="{5D3536D0-0BF1-AF48-D84D-CCD1CB2C58CF}"/>
                </a:ext>
              </a:extLst>
            </p:cNvPr>
            <p:cNvSpPr/>
            <p:nvPr/>
          </p:nvSpPr>
          <p:spPr>
            <a:xfrm>
              <a:off x="3354406" y="2355954"/>
              <a:ext cx="58239" cy="222317"/>
            </a:xfrm>
            <a:custGeom>
              <a:avLst/>
              <a:gdLst/>
              <a:ahLst/>
              <a:cxnLst/>
              <a:rect l="l" t="t" r="r" b="b"/>
              <a:pathLst>
                <a:path w="1834" h="7001" extrusionOk="0">
                  <a:moveTo>
                    <a:pt x="174" y="1"/>
                  </a:moveTo>
                  <a:cubicBezTo>
                    <a:pt x="131" y="1"/>
                    <a:pt x="90" y="16"/>
                    <a:pt x="60" y="46"/>
                  </a:cubicBezTo>
                  <a:cubicBezTo>
                    <a:pt x="0" y="105"/>
                    <a:pt x="0" y="200"/>
                    <a:pt x="60" y="284"/>
                  </a:cubicBezTo>
                  <a:cubicBezTo>
                    <a:pt x="1834" y="2046"/>
                    <a:pt x="1834" y="4939"/>
                    <a:pt x="60" y="6713"/>
                  </a:cubicBezTo>
                  <a:cubicBezTo>
                    <a:pt x="0" y="6773"/>
                    <a:pt x="0" y="6868"/>
                    <a:pt x="60" y="6951"/>
                  </a:cubicBezTo>
                  <a:cubicBezTo>
                    <a:pt x="88" y="6985"/>
                    <a:pt x="128" y="7000"/>
                    <a:pt x="169" y="7000"/>
                  </a:cubicBezTo>
                  <a:cubicBezTo>
                    <a:pt x="214" y="7000"/>
                    <a:pt x="261" y="6982"/>
                    <a:pt x="298" y="6951"/>
                  </a:cubicBezTo>
                  <a:cubicBezTo>
                    <a:pt x="1227" y="6023"/>
                    <a:pt x="1727" y="4808"/>
                    <a:pt x="1727" y="3498"/>
                  </a:cubicBezTo>
                  <a:cubicBezTo>
                    <a:pt x="1727" y="2189"/>
                    <a:pt x="1227" y="962"/>
                    <a:pt x="298" y="46"/>
                  </a:cubicBezTo>
                  <a:cubicBezTo>
                    <a:pt x="262" y="16"/>
                    <a:pt x="218" y="1"/>
                    <a:pt x="1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45;p55">
              <a:extLst>
                <a:ext uri="{FF2B5EF4-FFF2-40B4-BE49-F238E27FC236}">
                  <a16:creationId xmlns:a16="http://schemas.microsoft.com/office/drawing/2014/main" id="{3695BD04-9FBC-1BB1-D37C-4663D36C2113}"/>
                </a:ext>
              </a:extLst>
            </p:cNvPr>
            <p:cNvSpPr/>
            <p:nvPr/>
          </p:nvSpPr>
          <p:spPr>
            <a:xfrm>
              <a:off x="3049653" y="2321468"/>
              <a:ext cx="210250" cy="290018"/>
            </a:xfrm>
            <a:custGeom>
              <a:avLst/>
              <a:gdLst/>
              <a:ahLst/>
              <a:cxnLst/>
              <a:rect l="l" t="t" r="r" b="b"/>
              <a:pathLst>
                <a:path w="6621" h="9133" extrusionOk="0">
                  <a:moveTo>
                    <a:pt x="5216" y="1072"/>
                  </a:moveTo>
                  <a:lnTo>
                    <a:pt x="5216" y="8097"/>
                  </a:lnTo>
                  <a:cubicBezTo>
                    <a:pt x="4156" y="7751"/>
                    <a:pt x="3287" y="7037"/>
                    <a:pt x="2739" y="6061"/>
                  </a:cubicBezTo>
                  <a:lnTo>
                    <a:pt x="2739" y="3084"/>
                  </a:lnTo>
                  <a:cubicBezTo>
                    <a:pt x="3275" y="2120"/>
                    <a:pt x="4156" y="1405"/>
                    <a:pt x="5216" y="1072"/>
                  </a:cubicBezTo>
                  <a:close/>
                  <a:moveTo>
                    <a:pt x="5716" y="0"/>
                  </a:moveTo>
                  <a:cubicBezTo>
                    <a:pt x="5430" y="0"/>
                    <a:pt x="5216" y="215"/>
                    <a:pt x="5216" y="501"/>
                  </a:cubicBezTo>
                  <a:lnTo>
                    <a:pt x="5216" y="691"/>
                  </a:lnTo>
                  <a:cubicBezTo>
                    <a:pt x="4049" y="1048"/>
                    <a:pt x="3096" y="1810"/>
                    <a:pt x="2489" y="2858"/>
                  </a:cubicBezTo>
                  <a:lnTo>
                    <a:pt x="1227" y="2858"/>
                  </a:lnTo>
                  <a:cubicBezTo>
                    <a:pt x="549" y="2858"/>
                    <a:pt x="13" y="3394"/>
                    <a:pt x="13" y="4061"/>
                  </a:cubicBezTo>
                  <a:lnTo>
                    <a:pt x="13" y="5037"/>
                  </a:lnTo>
                  <a:cubicBezTo>
                    <a:pt x="1" y="5692"/>
                    <a:pt x="489" y="6227"/>
                    <a:pt x="1120" y="6275"/>
                  </a:cubicBezTo>
                  <a:cubicBezTo>
                    <a:pt x="1203" y="6275"/>
                    <a:pt x="1287" y="6216"/>
                    <a:pt x="1299" y="6132"/>
                  </a:cubicBezTo>
                  <a:cubicBezTo>
                    <a:pt x="1299" y="6037"/>
                    <a:pt x="1239" y="5966"/>
                    <a:pt x="1144" y="5954"/>
                  </a:cubicBezTo>
                  <a:cubicBezTo>
                    <a:pt x="703" y="5918"/>
                    <a:pt x="346" y="5537"/>
                    <a:pt x="346" y="5073"/>
                  </a:cubicBezTo>
                  <a:lnTo>
                    <a:pt x="346" y="4084"/>
                  </a:lnTo>
                  <a:cubicBezTo>
                    <a:pt x="346" y="3608"/>
                    <a:pt x="727" y="3215"/>
                    <a:pt x="1227" y="3215"/>
                  </a:cubicBezTo>
                  <a:lnTo>
                    <a:pt x="2418" y="3215"/>
                  </a:lnTo>
                  <a:lnTo>
                    <a:pt x="2418" y="5954"/>
                  </a:lnTo>
                  <a:lnTo>
                    <a:pt x="1918" y="5954"/>
                  </a:lnTo>
                  <a:cubicBezTo>
                    <a:pt x="1834" y="5954"/>
                    <a:pt x="1763" y="6025"/>
                    <a:pt x="1763" y="6108"/>
                  </a:cubicBezTo>
                  <a:cubicBezTo>
                    <a:pt x="1763" y="6204"/>
                    <a:pt x="1834" y="6275"/>
                    <a:pt x="1918" y="6275"/>
                  </a:cubicBezTo>
                  <a:lnTo>
                    <a:pt x="2489" y="6275"/>
                  </a:lnTo>
                  <a:cubicBezTo>
                    <a:pt x="3096" y="7323"/>
                    <a:pt x="4049" y="8097"/>
                    <a:pt x="5216" y="8430"/>
                  </a:cubicBezTo>
                  <a:lnTo>
                    <a:pt x="5216" y="8633"/>
                  </a:lnTo>
                  <a:cubicBezTo>
                    <a:pt x="5216" y="8906"/>
                    <a:pt x="5430" y="9133"/>
                    <a:pt x="5716" y="9133"/>
                  </a:cubicBezTo>
                  <a:lnTo>
                    <a:pt x="6121" y="9133"/>
                  </a:lnTo>
                  <a:cubicBezTo>
                    <a:pt x="6406" y="9133"/>
                    <a:pt x="6621" y="8906"/>
                    <a:pt x="6621" y="8633"/>
                  </a:cubicBezTo>
                  <a:lnTo>
                    <a:pt x="6621" y="4953"/>
                  </a:lnTo>
                  <a:cubicBezTo>
                    <a:pt x="6621" y="4858"/>
                    <a:pt x="6549" y="4787"/>
                    <a:pt x="6466" y="4787"/>
                  </a:cubicBezTo>
                  <a:cubicBezTo>
                    <a:pt x="6371" y="4787"/>
                    <a:pt x="6299" y="4858"/>
                    <a:pt x="6299" y="4953"/>
                  </a:cubicBezTo>
                  <a:lnTo>
                    <a:pt x="6299" y="8633"/>
                  </a:lnTo>
                  <a:cubicBezTo>
                    <a:pt x="6299" y="8728"/>
                    <a:pt x="6228" y="8811"/>
                    <a:pt x="6121" y="8811"/>
                  </a:cubicBezTo>
                  <a:lnTo>
                    <a:pt x="5716" y="8811"/>
                  </a:lnTo>
                  <a:cubicBezTo>
                    <a:pt x="5609" y="8811"/>
                    <a:pt x="5537" y="8728"/>
                    <a:pt x="5537" y="8633"/>
                  </a:cubicBezTo>
                  <a:lnTo>
                    <a:pt x="5537" y="501"/>
                  </a:lnTo>
                  <a:cubicBezTo>
                    <a:pt x="5537" y="393"/>
                    <a:pt x="5609" y="322"/>
                    <a:pt x="5716" y="322"/>
                  </a:cubicBezTo>
                  <a:lnTo>
                    <a:pt x="6121" y="322"/>
                  </a:lnTo>
                  <a:cubicBezTo>
                    <a:pt x="6228" y="322"/>
                    <a:pt x="6299" y="393"/>
                    <a:pt x="6299" y="501"/>
                  </a:cubicBezTo>
                  <a:lnTo>
                    <a:pt x="6299" y="4180"/>
                  </a:lnTo>
                  <a:cubicBezTo>
                    <a:pt x="6299" y="4263"/>
                    <a:pt x="6371" y="4346"/>
                    <a:pt x="6466" y="4346"/>
                  </a:cubicBezTo>
                  <a:cubicBezTo>
                    <a:pt x="6549" y="4346"/>
                    <a:pt x="6621" y="4263"/>
                    <a:pt x="6621" y="4180"/>
                  </a:cubicBezTo>
                  <a:lnTo>
                    <a:pt x="6621" y="501"/>
                  </a:lnTo>
                  <a:cubicBezTo>
                    <a:pt x="6621" y="215"/>
                    <a:pt x="6406" y="0"/>
                    <a:pt x="61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2711;p56">
            <a:extLst>
              <a:ext uri="{FF2B5EF4-FFF2-40B4-BE49-F238E27FC236}">
                <a16:creationId xmlns:a16="http://schemas.microsoft.com/office/drawing/2014/main" id="{10DA91C8-7FAA-2692-B88E-EB826888E384}"/>
              </a:ext>
            </a:extLst>
          </p:cNvPr>
          <p:cNvSpPr/>
          <p:nvPr/>
        </p:nvSpPr>
        <p:spPr>
          <a:xfrm>
            <a:off x="1996700" y="3736751"/>
            <a:ext cx="631945" cy="554100"/>
          </a:xfrm>
          <a:custGeom>
            <a:avLst/>
            <a:gdLst/>
            <a:ahLst/>
            <a:cxnLst/>
            <a:rect l="l" t="t" r="r" b="b"/>
            <a:pathLst>
              <a:path w="10895" h="11216" extrusionOk="0">
                <a:moveTo>
                  <a:pt x="5454" y="322"/>
                </a:moveTo>
                <a:cubicBezTo>
                  <a:pt x="5740" y="322"/>
                  <a:pt x="5954" y="548"/>
                  <a:pt x="5954" y="834"/>
                </a:cubicBezTo>
                <a:cubicBezTo>
                  <a:pt x="5954" y="1012"/>
                  <a:pt x="5871" y="1155"/>
                  <a:pt x="5716" y="1250"/>
                </a:cubicBezTo>
                <a:lnTo>
                  <a:pt x="5704" y="1262"/>
                </a:lnTo>
                <a:lnTo>
                  <a:pt x="5692" y="1262"/>
                </a:lnTo>
                <a:cubicBezTo>
                  <a:pt x="5680" y="1262"/>
                  <a:pt x="5680" y="1274"/>
                  <a:pt x="5656" y="1274"/>
                </a:cubicBezTo>
                <a:lnTo>
                  <a:pt x="5644" y="1274"/>
                </a:lnTo>
                <a:cubicBezTo>
                  <a:pt x="5644" y="1274"/>
                  <a:pt x="5632" y="1274"/>
                  <a:pt x="5632" y="1298"/>
                </a:cubicBezTo>
                <a:lnTo>
                  <a:pt x="5621" y="1298"/>
                </a:lnTo>
                <a:cubicBezTo>
                  <a:pt x="5597" y="1298"/>
                  <a:pt x="5597" y="1298"/>
                  <a:pt x="5585" y="1310"/>
                </a:cubicBezTo>
                <a:lnTo>
                  <a:pt x="5263" y="1310"/>
                </a:lnTo>
                <a:cubicBezTo>
                  <a:pt x="5240" y="1310"/>
                  <a:pt x="5240" y="1310"/>
                  <a:pt x="5228" y="1298"/>
                </a:cubicBezTo>
                <a:lnTo>
                  <a:pt x="5216" y="1298"/>
                </a:lnTo>
                <a:cubicBezTo>
                  <a:pt x="5216" y="1298"/>
                  <a:pt x="5204" y="1298"/>
                  <a:pt x="5204" y="1274"/>
                </a:cubicBezTo>
                <a:lnTo>
                  <a:pt x="5180" y="1274"/>
                </a:lnTo>
                <a:cubicBezTo>
                  <a:pt x="5168" y="1274"/>
                  <a:pt x="5168" y="1262"/>
                  <a:pt x="5156" y="1262"/>
                </a:cubicBezTo>
                <a:lnTo>
                  <a:pt x="5144" y="1262"/>
                </a:lnTo>
                <a:cubicBezTo>
                  <a:pt x="5144" y="1262"/>
                  <a:pt x="5120" y="1262"/>
                  <a:pt x="5120" y="1250"/>
                </a:cubicBezTo>
                <a:cubicBezTo>
                  <a:pt x="4989" y="1155"/>
                  <a:pt x="4882" y="1012"/>
                  <a:pt x="4882" y="834"/>
                </a:cubicBezTo>
                <a:cubicBezTo>
                  <a:pt x="4942" y="548"/>
                  <a:pt x="5168" y="322"/>
                  <a:pt x="5454" y="322"/>
                </a:cubicBezTo>
                <a:close/>
                <a:moveTo>
                  <a:pt x="5644" y="1631"/>
                </a:moveTo>
                <a:lnTo>
                  <a:pt x="5644" y="1834"/>
                </a:lnTo>
                <a:lnTo>
                  <a:pt x="5240" y="1834"/>
                </a:lnTo>
                <a:lnTo>
                  <a:pt x="5240" y="1631"/>
                </a:lnTo>
                <a:lnTo>
                  <a:pt x="5263" y="1631"/>
                </a:lnTo>
                <a:cubicBezTo>
                  <a:pt x="5275" y="1631"/>
                  <a:pt x="5287" y="1631"/>
                  <a:pt x="5287" y="1655"/>
                </a:cubicBezTo>
                <a:lnTo>
                  <a:pt x="5632" y="1655"/>
                </a:lnTo>
                <a:cubicBezTo>
                  <a:pt x="5621" y="1631"/>
                  <a:pt x="5632" y="1631"/>
                  <a:pt x="5644" y="1631"/>
                </a:cubicBezTo>
                <a:close/>
                <a:moveTo>
                  <a:pt x="7002" y="2143"/>
                </a:moveTo>
                <a:cubicBezTo>
                  <a:pt x="7418" y="2143"/>
                  <a:pt x="7799" y="2310"/>
                  <a:pt x="8085" y="2584"/>
                </a:cubicBezTo>
                <a:cubicBezTo>
                  <a:pt x="8335" y="2858"/>
                  <a:pt x="8680" y="3001"/>
                  <a:pt x="9050" y="3001"/>
                </a:cubicBezTo>
                <a:lnTo>
                  <a:pt x="10514" y="3001"/>
                </a:lnTo>
                <a:lnTo>
                  <a:pt x="10514" y="3334"/>
                </a:lnTo>
                <a:lnTo>
                  <a:pt x="9050" y="3334"/>
                </a:lnTo>
                <a:lnTo>
                  <a:pt x="9050" y="3346"/>
                </a:lnTo>
                <a:cubicBezTo>
                  <a:pt x="8597" y="3346"/>
                  <a:pt x="8180" y="3167"/>
                  <a:pt x="7859" y="2846"/>
                </a:cubicBezTo>
                <a:cubicBezTo>
                  <a:pt x="7645" y="2608"/>
                  <a:pt x="7323" y="2465"/>
                  <a:pt x="7002" y="2465"/>
                </a:cubicBezTo>
                <a:lnTo>
                  <a:pt x="3942" y="2465"/>
                </a:lnTo>
                <a:cubicBezTo>
                  <a:pt x="3573" y="2465"/>
                  <a:pt x="3227" y="2620"/>
                  <a:pt x="2977" y="2882"/>
                </a:cubicBezTo>
                <a:cubicBezTo>
                  <a:pt x="2715" y="3167"/>
                  <a:pt x="2311" y="3334"/>
                  <a:pt x="1894" y="3334"/>
                </a:cubicBezTo>
                <a:lnTo>
                  <a:pt x="370" y="3334"/>
                </a:lnTo>
                <a:lnTo>
                  <a:pt x="370" y="3001"/>
                </a:lnTo>
                <a:lnTo>
                  <a:pt x="1834" y="3001"/>
                </a:lnTo>
                <a:cubicBezTo>
                  <a:pt x="2203" y="3001"/>
                  <a:pt x="2549" y="2858"/>
                  <a:pt x="2799" y="2584"/>
                </a:cubicBezTo>
                <a:cubicBezTo>
                  <a:pt x="3073" y="2310"/>
                  <a:pt x="3477" y="2143"/>
                  <a:pt x="3894" y="2143"/>
                </a:cubicBezTo>
                <a:close/>
                <a:moveTo>
                  <a:pt x="1525" y="3894"/>
                </a:moveTo>
                <a:lnTo>
                  <a:pt x="2644" y="6382"/>
                </a:lnTo>
                <a:lnTo>
                  <a:pt x="406" y="6382"/>
                </a:lnTo>
                <a:lnTo>
                  <a:pt x="1525" y="3894"/>
                </a:lnTo>
                <a:close/>
                <a:moveTo>
                  <a:pt x="9371" y="3894"/>
                </a:moveTo>
                <a:lnTo>
                  <a:pt x="10478" y="6382"/>
                </a:lnTo>
                <a:lnTo>
                  <a:pt x="8252" y="6382"/>
                </a:lnTo>
                <a:lnTo>
                  <a:pt x="9371" y="3894"/>
                </a:lnTo>
                <a:close/>
                <a:moveTo>
                  <a:pt x="2739" y="6692"/>
                </a:moveTo>
                <a:cubicBezTo>
                  <a:pt x="2727" y="7335"/>
                  <a:pt x="2227" y="7847"/>
                  <a:pt x="1596" y="7847"/>
                </a:cubicBezTo>
                <a:lnTo>
                  <a:pt x="1477" y="7847"/>
                </a:lnTo>
                <a:cubicBezTo>
                  <a:pt x="858" y="7847"/>
                  <a:pt x="334" y="7335"/>
                  <a:pt x="334" y="6692"/>
                </a:cubicBezTo>
                <a:close/>
                <a:moveTo>
                  <a:pt x="10574" y="6692"/>
                </a:moveTo>
                <a:cubicBezTo>
                  <a:pt x="10574" y="7335"/>
                  <a:pt x="10050" y="7847"/>
                  <a:pt x="9431" y="7847"/>
                </a:cubicBezTo>
                <a:lnTo>
                  <a:pt x="9300" y="7847"/>
                </a:lnTo>
                <a:cubicBezTo>
                  <a:pt x="8680" y="7847"/>
                  <a:pt x="8157" y="7335"/>
                  <a:pt x="8157" y="6692"/>
                </a:cubicBezTo>
                <a:close/>
                <a:moveTo>
                  <a:pt x="7645" y="9585"/>
                </a:moveTo>
                <a:cubicBezTo>
                  <a:pt x="7728" y="9585"/>
                  <a:pt x="7811" y="9656"/>
                  <a:pt x="7811" y="9763"/>
                </a:cubicBezTo>
                <a:lnTo>
                  <a:pt x="7811" y="10049"/>
                </a:lnTo>
                <a:lnTo>
                  <a:pt x="4418" y="10049"/>
                </a:lnTo>
                <a:cubicBezTo>
                  <a:pt x="4335" y="10049"/>
                  <a:pt x="4263" y="10121"/>
                  <a:pt x="4263" y="10204"/>
                </a:cubicBezTo>
                <a:cubicBezTo>
                  <a:pt x="4263" y="10299"/>
                  <a:pt x="4335" y="10371"/>
                  <a:pt x="4418" y="10371"/>
                </a:cubicBezTo>
                <a:lnTo>
                  <a:pt x="8407" y="10371"/>
                </a:lnTo>
                <a:cubicBezTo>
                  <a:pt x="8514" y="10371"/>
                  <a:pt x="8585" y="10442"/>
                  <a:pt x="8585" y="10549"/>
                </a:cubicBezTo>
                <a:lnTo>
                  <a:pt x="8585" y="10906"/>
                </a:lnTo>
                <a:lnTo>
                  <a:pt x="2275" y="10906"/>
                </a:lnTo>
                <a:lnTo>
                  <a:pt x="2275" y="10549"/>
                </a:lnTo>
                <a:cubicBezTo>
                  <a:pt x="2275" y="10442"/>
                  <a:pt x="2358" y="10371"/>
                  <a:pt x="2453" y="10371"/>
                </a:cubicBezTo>
                <a:lnTo>
                  <a:pt x="3382" y="10371"/>
                </a:lnTo>
                <a:cubicBezTo>
                  <a:pt x="3465" y="10371"/>
                  <a:pt x="3549" y="10299"/>
                  <a:pt x="3549" y="10204"/>
                </a:cubicBezTo>
                <a:cubicBezTo>
                  <a:pt x="3549" y="10121"/>
                  <a:pt x="3465" y="10049"/>
                  <a:pt x="3382" y="10049"/>
                </a:cubicBezTo>
                <a:lnTo>
                  <a:pt x="3073" y="10049"/>
                </a:lnTo>
                <a:lnTo>
                  <a:pt x="3073" y="9763"/>
                </a:lnTo>
                <a:cubicBezTo>
                  <a:pt x="3073" y="9668"/>
                  <a:pt x="3144" y="9585"/>
                  <a:pt x="3251" y="9585"/>
                </a:cubicBezTo>
                <a:close/>
                <a:moveTo>
                  <a:pt x="5454" y="0"/>
                </a:moveTo>
                <a:cubicBezTo>
                  <a:pt x="4989" y="0"/>
                  <a:pt x="4632" y="369"/>
                  <a:pt x="4632" y="822"/>
                </a:cubicBezTo>
                <a:cubicBezTo>
                  <a:pt x="4632" y="1072"/>
                  <a:pt x="4751" y="1298"/>
                  <a:pt x="4930" y="1453"/>
                </a:cubicBezTo>
                <a:lnTo>
                  <a:pt x="4930" y="1810"/>
                </a:lnTo>
                <a:lnTo>
                  <a:pt x="3894" y="1810"/>
                </a:lnTo>
                <a:cubicBezTo>
                  <a:pt x="3382" y="1810"/>
                  <a:pt x="2906" y="2024"/>
                  <a:pt x="2584" y="2370"/>
                </a:cubicBezTo>
                <a:cubicBezTo>
                  <a:pt x="2382" y="2572"/>
                  <a:pt x="2120" y="2691"/>
                  <a:pt x="1834" y="2691"/>
                </a:cubicBezTo>
                <a:lnTo>
                  <a:pt x="346" y="2691"/>
                </a:lnTo>
                <a:cubicBezTo>
                  <a:pt x="179" y="2691"/>
                  <a:pt x="48" y="2822"/>
                  <a:pt x="48" y="2989"/>
                </a:cubicBezTo>
                <a:lnTo>
                  <a:pt x="48" y="3382"/>
                </a:lnTo>
                <a:cubicBezTo>
                  <a:pt x="48" y="3536"/>
                  <a:pt x="179" y="3679"/>
                  <a:pt x="346" y="3679"/>
                </a:cubicBezTo>
                <a:lnTo>
                  <a:pt x="1263" y="3679"/>
                </a:lnTo>
                <a:lnTo>
                  <a:pt x="1" y="6477"/>
                </a:lnTo>
                <a:lnTo>
                  <a:pt x="1" y="6489"/>
                </a:lnTo>
                <a:lnTo>
                  <a:pt x="1" y="6501"/>
                </a:lnTo>
                <a:lnTo>
                  <a:pt x="1" y="6513"/>
                </a:lnTo>
                <a:lnTo>
                  <a:pt x="1" y="6537"/>
                </a:lnTo>
                <a:lnTo>
                  <a:pt x="1" y="6692"/>
                </a:lnTo>
                <a:cubicBezTo>
                  <a:pt x="1" y="7501"/>
                  <a:pt x="656" y="8168"/>
                  <a:pt x="1477" y="8168"/>
                </a:cubicBezTo>
                <a:lnTo>
                  <a:pt x="1596" y="8168"/>
                </a:lnTo>
                <a:cubicBezTo>
                  <a:pt x="2406" y="8168"/>
                  <a:pt x="3073" y="7513"/>
                  <a:pt x="3073" y="6692"/>
                </a:cubicBezTo>
                <a:lnTo>
                  <a:pt x="3073" y="6537"/>
                </a:lnTo>
                <a:lnTo>
                  <a:pt x="3073" y="6513"/>
                </a:lnTo>
                <a:lnTo>
                  <a:pt x="3073" y="6501"/>
                </a:lnTo>
                <a:lnTo>
                  <a:pt x="3073" y="6489"/>
                </a:lnTo>
                <a:lnTo>
                  <a:pt x="3073" y="6477"/>
                </a:lnTo>
                <a:lnTo>
                  <a:pt x="1811" y="3679"/>
                </a:lnTo>
                <a:lnTo>
                  <a:pt x="1930" y="3679"/>
                </a:lnTo>
                <a:cubicBezTo>
                  <a:pt x="2430" y="3679"/>
                  <a:pt x="2906" y="3465"/>
                  <a:pt x="3239" y="3120"/>
                </a:cubicBezTo>
                <a:cubicBezTo>
                  <a:pt x="3430" y="2917"/>
                  <a:pt x="3692" y="2798"/>
                  <a:pt x="3977" y="2798"/>
                </a:cubicBezTo>
                <a:lnTo>
                  <a:pt x="4942" y="2798"/>
                </a:lnTo>
                <a:lnTo>
                  <a:pt x="4942" y="9251"/>
                </a:lnTo>
                <a:lnTo>
                  <a:pt x="3275" y="9251"/>
                </a:lnTo>
                <a:cubicBezTo>
                  <a:pt x="3013" y="9251"/>
                  <a:pt x="2787" y="9478"/>
                  <a:pt x="2787" y="9752"/>
                </a:cubicBezTo>
                <a:lnTo>
                  <a:pt x="2787" y="10025"/>
                </a:lnTo>
                <a:lnTo>
                  <a:pt x="2501" y="10025"/>
                </a:lnTo>
                <a:cubicBezTo>
                  <a:pt x="2227" y="10025"/>
                  <a:pt x="2001" y="10252"/>
                  <a:pt x="2001" y="10537"/>
                </a:cubicBezTo>
                <a:lnTo>
                  <a:pt x="2001" y="11061"/>
                </a:lnTo>
                <a:cubicBezTo>
                  <a:pt x="2001" y="11145"/>
                  <a:pt x="2072" y="11216"/>
                  <a:pt x="2168" y="11216"/>
                </a:cubicBezTo>
                <a:lnTo>
                  <a:pt x="8799" y="11216"/>
                </a:lnTo>
                <a:cubicBezTo>
                  <a:pt x="8895" y="11216"/>
                  <a:pt x="8966" y="11145"/>
                  <a:pt x="8966" y="11061"/>
                </a:cubicBezTo>
                <a:lnTo>
                  <a:pt x="8966" y="10537"/>
                </a:lnTo>
                <a:cubicBezTo>
                  <a:pt x="8966" y="10252"/>
                  <a:pt x="8740" y="10025"/>
                  <a:pt x="8454" y="10025"/>
                </a:cubicBezTo>
                <a:lnTo>
                  <a:pt x="8180" y="10025"/>
                </a:lnTo>
                <a:lnTo>
                  <a:pt x="8180" y="9752"/>
                </a:lnTo>
                <a:cubicBezTo>
                  <a:pt x="8180" y="9478"/>
                  <a:pt x="7954" y="9251"/>
                  <a:pt x="7680" y="9251"/>
                </a:cubicBezTo>
                <a:lnTo>
                  <a:pt x="5978" y="9251"/>
                </a:lnTo>
                <a:lnTo>
                  <a:pt x="5978" y="4572"/>
                </a:lnTo>
                <a:cubicBezTo>
                  <a:pt x="5978" y="4477"/>
                  <a:pt x="5894" y="4406"/>
                  <a:pt x="5811" y="4406"/>
                </a:cubicBezTo>
                <a:cubicBezTo>
                  <a:pt x="5716" y="4406"/>
                  <a:pt x="5644" y="4477"/>
                  <a:pt x="5644" y="4572"/>
                </a:cubicBezTo>
                <a:lnTo>
                  <a:pt x="5644" y="9251"/>
                </a:lnTo>
                <a:lnTo>
                  <a:pt x="5240" y="9251"/>
                </a:lnTo>
                <a:lnTo>
                  <a:pt x="5240" y="2798"/>
                </a:lnTo>
                <a:lnTo>
                  <a:pt x="5644" y="2798"/>
                </a:lnTo>
                <a:lnTo>
                  <a:pt x="5644" y="3536"/>
                </a:lnTo>
                <a:cubicBezTo>
                  <a:pt x="5644" y="3632"/>
                  <a:pt x="5716" y="3703"/>
                  <a:pt x="5811" y="3703"/>
                </a:cubicBezTo>
                <a:cubicBezTo>
                  <a:pt x="5894" y="3703"/>
                  <a:pt x="5978" y="3632"/>
                  <a:pt x="5978" y="3536"/>
                </a:cubicBezTo>
                <a:lnTo>
                  <a:pt x="5978" y="2798"/>
                </a:lnTo>
                <a:lnTo>
                  <a:pt x="7002" y="2798"/>
                </a:lnTo>
                <a:cubicBezTo>
                  <a:pt x="7240" y="2798"/>
                  <a:pt x="7466" y="2905"/>
                  <a:pt x="7621" y="3060"/>
                </a:cubicBezTo>
                <a:cubicBezTo>
                  <a:pt x="8002" y="3453"/>
                  <a:pt x="8502" y="3679"/>
                  <a:pt x="9050" y="3679"/>
                </a:cubicBezTo>
                <a:lnTo>
                  <a:pt x="9097" y="3679"/>
                </a:lnTo>
                <a:lnTo>
                  <a:pt x="7835" y="6477"/>
                </a:lnTo>
                <a:lnTo>
                  <a:pt x="7835" y="6489"/>
                </a:lnTo>
                <a:lnTo>
                  <a:pt x="7835" y="6501"/>
                </a:lnTo>
                <a:lnTo>
                  <a:pt x="7835" y="6513"/>
                </a:lnTo>
                <a:lnTo>
                  <a:pt x="7835" y="6537"/>
                </a:lnTo>
                <a:lnTo>
                  <a:pt x="7835" y="6692"/>
                </a:lnTo>
                <a:cubicBezTo>
                  <a:pt x="7835" y="7501"/>
                  <a:pt x="8490" y="8168"/>
                  <a:pt x="9311" y="8168"/>
                </a:cubicBezTo>
                <a:lnTo>
                  <a:pt x="9431" y="8168"/>
                </a:lnTo>
                <a:cubicBezTo>
                  <a:pt x="10228" y="8168"/>
                  <a:pt x="10895" y="7513"/>
                  <a:pt x="10895" y="6692"/>
                </a:cubicBezTo>
                <a:lnTo>
                  <a:pt x="10895" y="6537"/>
                </a:lnTo>
                <a:lnTo>
                  <a:pt x="10895" y="6513"/>
                </a:lnTo>
                <a:lnTo>
                  <a:pt x="10895" y="6501"/>
                </a:lnTo>
                <a:lnTo>
                  <a:pt x="10895" y="6489"/>
                </a:lnTo>
                <a:lnTo>
                  <a:pt x="10895" y="6465"/>
                </a:lnTo>
                <a:lnTo>
                  <a:pt x="9633" y="3667"/>
                </a:lnTo>
                <a:lnTo>
                  <a:pt x="10562" y="3667"/>
                </a:lnTo>
                <a:cubicBezTo>
                  <a:pt x="10716" y="3667"/>
                  <a:pt x="10859" y="3536"/>
                  <a:pt x="10859" y="3370"/>
                </a:cubicBezTo>
                <a:lnTo>
                  <a:pt x="10859" y="2989"/>
                </a:lnTo>
                <a:cubicBezTo>
                  <a:pt x="10859" y="2822"/>
                  <a:pt x="10716" y="2691"/>
                  <a:pt x="10562" y="2691"/>
                </a:cubicBezTo>
                <a:lnTo>
                  <a:pt x="9073" y="2691"/>
                </a:lnTo>
                <a:cubicBezTo>
                  <a:pt x="8788" y="2691"/>
                  <a:pt x="8514" y="2572"/>
                  <a:pt x="8323" y="2370"/>
                </a:cubicBezTo>
                <a:cubicBezTo>
                  <a:pt x="8002" y="2012"/>
                  <a:pt x="7502" y="1810"/>
                  <a:pt x="7014" y="1810"/>
                </a:cubicBezTo>
                <a:lnTo>
                  <a:pt x="5978" y="1810"/>
                </a:lnTo>
                <a:lnTo>
                  <a:pt x="5978" y="1453"/>
                </a:lnTo>
                <a:cubicBezTo>
                  <a:pt x="6156" y="1310"/>
                  <a:pt x="6275" y="1072"/>
                  <a:pt x="6275" y="822"/>
                </a:cubicBezTo>
                <a:cubicBezTo>
                  <a:pt x="6275" y="358"/>
                  <a:pt x="5894" y="0"/>
                  <a:pt x="545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2516;p56">
            <a:extLst>
              <a:ext uri="{FF2B5EF4-FFF2-40B4-BE49-F238E27FC236}">
                <a16:creationId xmlns:a16="http://schemas.microsoft.com/office/drawing/2014/main" id="{98C83AAA-01C9-9580-55CD-CD40F19BFFE0}"/>
              </a:ext>
            </a:extLst>
          </p:cNvPr>
          <p:cNvGrpSpPr/>
          <p:nvPr/>
        </p:nvGrpSpPr>
        <p:grpSpPr>
          <a:xfrm>
            <a:off x="2170321" y="1493974"/>
            <a:ext cx="539041" cy="559291"/>
            <a:chOff x="2567841" y="1994124"/>
            <a:chExt cx="399812" cy="306477"/>
          </a:xfrm>
          <a:solidFill>
            <a:schemeClr val="tx1"/>
          </a:solidFill>
        </p:grpSpPr>
        <p:sp>
          <p:nvSpPr>
            <p:cNvPr id="15" name="Google Shape;2517;p56">
              <a:extLst>
                <a:ext uri="{FF2B5EF4-FFF2-40B4-BE49-F238E27FC236}">
                  <a16:creationId xmlns:a16="http://schemas.microsoft.com/office/drawing/2014/main" id="{6A4F585D-5216-6313-B161-97CE378D4D05}"/>
                </a:ext>
              </a:extLst>
            </p:cNvPr>
            <p:cNvSpPr/>
            <p:nvPr/>
          </p:nvSpPr>
          <p:spPr>
            <a:xfrm>
              <a:off x="2567841" y="1994124"/>
              <a:ext cx="399812" cy="306477"/>
            </a:xfrm>
            <a:custGeom>
              <a:avLst/>
              <a:gdLst/>
              <a:ahLst/>
              <a:cxnLst/>
              <a:rect l="l" t="t" r="r" b="b"/>
              <a:pathLst>
                <a:path w="12551" h="9621" extrusionOk="0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18;p56">
              <a:extLst>
                <a:ext uri="{FF2B5EF4-FFF2-40B4-BE49-F238E27FC236}">
                  <a16:creationId xmlns:a16="http://schemas.microsoft.com/office/drawing/2014/main" id="{8218DA46-B9E9-4014-A575-3D45B8B520DB}"/>
                </a:ext>
              </a:extLst>
            </p:cNvPr>
            <p:cNvSpPr/>
            <p:nvPr/>
          </p:nvSpPr>
          <p:spPr>
            <a:xfrm>
              <a:off x="2623237" y="2113963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19;p56">
              <a:extLst>
                <a:ext uri="{FF2B5EF4-FFF2-40B4-BE49-F238E27FC236}">
                  <a16:creationId xmlns:a16="http://schemas.microsoft.com/office/drawing/2014/main" id="{5B4D388E-5012-680F-EDF9-C1403C4CBA59}"/>
                </a:ext>
              </a:extLst>
            </p:cNvPr>
            <p:cNvSpPr/>
            <p:nvPr/>
          </p:nvSpPr>
          <p:spPr>
            <a:xfrm>
              <a:off x="2623237" y="2017251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58;p30">
            <a:extLst>
              <a:ext uri="{FF2B5EF4-FFF2-40B4-BE49-F238E27FC236}">
                <a16:creationId xmlns:a16="http://schemas.microsoft.com/office/drawing/2014/main" id="{9FEB8B6B-84E2-5D4C-8B22-BAA19844A465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bg2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2D7F8F17-DF04-840E-8AFD-2656520B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534786F3-F458-5135-9DEE-6DB5DD2A09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EFEEE7"/>
                </a:solidFill>
              </a:rPr>
              <a:t>Advantages &amp; Benefits</a:t>
            </a:r>
            <a:endParaRPr lang="it-IT"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4F67D02B-9FF9-7947-15E8-F961315661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</a:p>
        </p:txBody>
      </p:sp>
      <p:sp>
        <p:nvSpPr>
          <p:cNvPr id="2" name="Google Shape;158;p30">
            <a:extLst>
              <a:ext uri="{FF2B5EF4-FFF2-40B4-BE49-F238E27FC236}">
                <a16:creationId xmlns:a16="http://schemas.microsoft.com/office/drawing/2014/main" id="{F990BA45-9AAC-FEBB-35E1-EDCEFAC0EE29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4174610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001B237F-FA67-2B85-D2D8-3946A18F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>
            <a:extLst>
              <a:ext uri="{FF2B5EF4-FFF2-40B4-BE49-F238E27FC236}">
                <a16:creationId xmlns:a16="http://schemas.microsoft.com/office/drawing/2014/main" id="{C2831043-C39B-B48B-F4D8-6FA90D4B2575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30">
            <a:extLst>
              <a:ext uri="{FF2B5EF4-FFF2-40B4-BE49-F238E27FC236}">
                <a16:creationId xmlns:a16="http://schemas.microsoft.com/office/drawing/2014/main" id="{F62D495E-99F9-87B2-C587-6A85345B6338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30">
            <a:extLst>
              <a:ext uri="{FF2B5EF4-FFF2-40B4-BE49-F238E27FC236}">
                <a16:creationId xmlns:a16="http://schemas.microsoft.com/office/drawing/2014/main" id="{C40B89FC-4954-F6F2-496A-793BAA99D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err="1">
                <a:solidFill>
                  <a:schemeClr val="tx1"/>
                </a:solidFill>
              </a:rPr>
              <a:t>Advantages</a:t>
            </a:r>
            <a:r>
              <a:rPr lang="it-IT">
                <a:solidFill>
                  <a:schemeClr val="tx1"/>
                </a:solidFill>
              </a:rPr>
              <a:t> &amp; Benefits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030D0F2-AA04-D541-5D4E-891BA0E33C10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13225" y="1400863"/>
            <a:ext cx="939406" cy="677100"/>
          </a:xfrm>
        </p:spPr>
        <p:txBody>
          <a:bodyPr/>
          <a:lstStyle/>
          <a:p>
            <a:r>
              <a:rPr lang="it-IT"/>
              <a:t>Public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B4E56FDE-6D9A-4D83-17A5-74369E3B395B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713223" y="2093563"/>
            <a:ext cx="939406" cy="677100"/>
          </a:xfrm>
        </p:spPr>
        <p:txBody>
          <a:bodyPr/>
          <a:lstStyle/>
          <a:p>
            <a:r>
              <a:rPr lang="it-IT"/>
              <a:t>Private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11" name="Titolo 10">
            <a:extLst>
              <a:ext uri="{FF2B5EF4-FFF2-40B4-BE49-F238E27FC236}">
                <a16:creationId xmlns:a16="http://schemas.microsoft.com/office/drawing/2014/main" id="{DD97E6C3-B81A-FE8A-163D-A33C7D7D42E8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742020" y="2795181"/>
            <a:ext cx="939404" cy="677100"/>
          </a:xfrm>
        </p:spPr>
        <p:txBody>
          <a:bodyPr/>
          <a:lstStyle/>
          <a:p>
            <a:r>
              <a:rPr lang="it-IT" err="1"/>
              <a:t>Hybrid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15" name="Sottotitolo 14">
            <a:extLst>
              <a:ext uri="{FF2B5EF4-FFF2-40B4-BE49-F238E27FC236}">
                <a16:creationId xmlns:a16="http://schemas.microsoft.com/office/drawing/2014/main" id="{78AB19FF-2752-DD76-B678-037CDABF2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629" y="1598094"/>
            <a:ext cx="6147669" cy="364930"/>
          </a:xfrm>
        </p:spPr>
        <p:txBody>
          <a:bodyPr/>
          <a:lstStyle/>
          <a:p>
            <a:r>
              <a:rPr lang="it-IT" sz="1200" err="1"/>
              <a:t>Shines</a:t>
            </a:r>
            <a:r>
              <a:rPr lang="it-IT" sz="1200"/>
              <a:t> on cost (no </a:t>
            </a:r>
            <a:r>
              <a:rPr lang="it-IT" sz="1200" err="1"/>
              <a:t>upfront</a:t>
            </a:r>
            <a:r>
              <a:rPr lang="it-IT" sz="1200"/>
              <a:t> investment), speed of deployment, infinite </a:t>
            </a:r>
            <a:r>
              <a:rPr lang="it-IT" sz="1200" err="1"/>
              <a:t>scalability</a:t>
            </a:r>
            <a:endParaRPr lang="it-IT" sz="1200"/>
          </a:p>
        </p:txBody>
      </p:sp>
      <p:sp>
        <p:nvSpPr>
          <p:cNvPr id="19" name="Sottotitolo 18">
            <a:extLst>
              <a:ext uri="{FF2B5EF4-FFF2-40B4-BE49-F238E27FC236}">
                <a16:creationId xmlns:a16="http://schemas.microsoft.com/office/drawing/2014/main" id="{FCACF8A1-CB70-0AA1-1F9D-67098B3EAA67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1681424" y="2887977"/>
            <a:ext cx="6778146" cy="292500"/>
          </a:xfrm>
        </p:spPr>
        <p:txBody>
          <a:bodyPr/>
          <a:lstStyle/>
          <a:p>
            <a:r>
              <a:rPr lang="it-IT" sz="1200" err="1"/>
              <a:t>Offers</a:t>
            </a:r>
            <a:r>
              <a:rPr lang="it-IT" sz="1200"/>
              <a:t> the best of </a:t>
            </a:r>
            <a:r>
              <a:rPr lang="it-IT" sz="1200" err="1"/>
              <a:t>both</a:t>
            </a:r>
            <a:r>
              <a:rPr lang="it-IT" sz="1200"/>
              <a:t> worlds</a:t>
            </a:r>
          </a:p>
        </p:txBody>
      </p:sp>
      <p:sp>
        <p:nvSpPr>
          <p:cNvPr id="26" name="Sottotitolo 14">
            <a:extLst>
              <a:ext uri="{FF2B5EF4-FFF2-40B4-BE49-F238E27FC236}">
                <a16:creationId xmlns:a16="http://schemas.microsoft.com/office/drawing/2014/main" id="{D7EDF474-D199-F4AF-6623-7EC1214FD6E3}"/>
              </a:ext>
            </a:extLst>
          </p:cNvPr>
          <p:cNvSpPr txBox="1">
            <a:spLocks/>
          </p:cNvSpPr>
          <p:nvPr/>
        </p:nvSpPr>
        <p:spPr>
          <a:xfrm>
            <a:off x="654338" y="2145880"/>
            <a:ext cx="6147669" cy="36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algn="ctr"/>
            <a:r>
              <a:rPr lang="it-IT" sz="1200"/>
              <a:t>Easy to control, </a:t>
            </a:r>
            <a:r>
              <a:rPr lang="it-IT" sz="1200" err="1"/>
              <a:t>guarantee</a:t>
            </a:r>
            <a:r>
              <a:rPr lang="it-IT" sz="1200"/>
              <a:t> security and compliance.</a:t>
            </a:r>
          </a:p>
        </p:txBody>
      </p:sp>
      <p:sp>
        <p:nvSpPr>
          <p:cNvPr id="27" name="Titolo 10">
            <a:extLst>
              <a:ext uri="{FF2B5EF4-FFF2-40B4-BE49-F238E27FC236}">
                <a16:creationId xmlns:a16="http://schemas.microsoft.com/office/drawing/2014/main" id="{79FF2EB1-6965-7D44-63DD-539076B0AD74}"/>
              </a:ext>
            </a:extLst>
          </p:cNvPr>
          <p:cNvSpPr txBox="1">
            <a:spLocks/>
          </p:cNvSpPr>
          <p:nvPr/>
        </p:nvSpPr>
        <p:spPr>
          <a:xfrm>
            <a:off x="742020" y="3409936"/>
            <a:ext cx="939404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it-IT"/>
              <a:t>Multi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28" name="Sottotitolo 18">
            <a:extLst>
              <a:ext uri="{FF2B5EF4-FFF2-40B4-BE49-F238E27FC236}">
                <a16:creationId xmlns:a16="http://schemas.microsoft.com/office/drawing/2014/main" id="{468BB4C3-AB8B-BB57-E7AC-C36E25981D94}"/>
              </a:ext>
            </a:extLst>
          </p:cNvPr>
          <p:cNvSpPr txBox="1">
            <a:spLocks/>
          </p:cNvSpPr>
          <p:nvPr/>
        </p:nvSpPr>
        <p:spPr>
          <a:xfrm>
            <a:off x="1681424" y="3540776"/>
            <a:ext cx="677814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it-IT" sz="1200" err="1"/>
              <a:t>Reduces</a:t>
            </a:r>
            <a:r>
              <a:rPr lang="it-IT" sz="1200"/>
              <a:t> </a:t>
            </a:r>
            <a:r>
              <a:rPr lang="it-IT" sz="1200" err="1"/>
              <a:t>vendore</a:t>
            </a:r>
            <a:r>
              <a:rPr lang="it-IT" sz="1200"/>
              <a:t> </a:t>
            </a:r>
            <a:r>
              <a:rPr lang="it-IT" sz="1200" err="1"/>
              <a:t>dependency</a:t>
            </a:r>
            <a:r>
              <a:rPr lang="it-IT" sz="1200"/>
              <a:t>, </a:t>
            </a:r>
            <a:r>
              <a:rPr lang="it-IT" sz="1200" err="1"/>
              <a:t>maximizes</a:t>
            </a:r>
            <a:r>
              <a:rPr lang="it-IT" sz="1200"/>
              <a:t> </a:t>
            </a:r>
            <a:r>
              <a:rPr lang="it-IT" sz="1200" err="1"/>
              <a:t>resilience</a:t>
            </a:r>
            <a:r>
              <a:rPr lang="it-IT" sz="1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5034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>
          <a:extLst>
            <a:ext uri="{FF2B5EF4-FFF2-40B4-BE49-F238E27FC236}">
              <a16:creationId xmlns:a16="http://schemas.microsoft.com/office/drawing/2014/main" id="{DC51248F-C809-189A-3C49-2ED87B20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>
            <a:extLst>
              <a:ext uri="{FF2B5EF4-FFF2-40B4-BE49-F238E27FC236}">
                <a16:creationId xmlns:a16="http://schemas.microsoft.com/office/drawing/2014/main" id="{06EBCBC4-C596-5792-1876-9DC9F08327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2376" y="1861301"/>
            <a:ext cx="4131900" cy="15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>
                <a:solidFill>
                  <a:srgbClr val="EFEEE7"/>
                </a:solidFill>
              </a:rPr>
              <a:t>Risks &amp; Challenges</a:t>
            </a:r>
            <a:endParaRPr lang="en"/>
          </a:p>
        </p:txBody>
      </p:sp>
      <p:sp>
        <p:nvSpPr>
          <p:cNvPr id="192" name="Google Shape;192;p32">
            <a:extLst>
              <a:ext uri="{FF2B5EF4-FFF2-40B4-BE49-F238E27FC236}">
                <a16:creationId xmlns:a16="http://schemas.microsoft.com/office/drawing/2014/main" id="{E667D1A9-7C5D-BC40-96D1-5046988352E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2376" y="984098"/>
            <a:ext cx="1235700" cy="8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</a:p>
        </p:txBody>
      </p:sp>
      <p:sp>
        <p:nvSpPr>
          <p:cNvPr id="2" name="Google Shape;158;p30">
            <a:extLst>
              <a:ext uri="{FF2B5EF4-FFF2-40B4-BE49-F238E27FC236}">
                <a16:creationId xmlns:a16="http://schemas.microsoft.com/office/drawing/2014/main" id="{F3E4A523-43B0-DDF8-EEA5-D92BB6FCD83A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  <p:extLst>
      <p:ext uri="{BB962C8B-B14F-4D97-AF65-F5344CB8AC3E}">
        <p14:creationId xmlns:p14="http://schemas.microsoft.com/office/powerpoint/2010/main" val="4424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E38C4D09-AD0C-36D4-A60B-B545CDC9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>
            <a:extLst>
              <a:ext uri="{FF2B5EF4-FFF2-40B4-BE49-F238E27FC236}">
                <a16:creationId xmlns:a16="http://schemas.microsoft.com/office/drawing/2014/main" id="{FA0F827E-84F1-52B7-C048-1FE0F7804DBE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30">
            <a:extLst>
              <a:ext uri="{FF2B5EF4-FFF2-40B4-BE49-F238E27FC236}">
                <a16:creationId xmlns:a16="http://schemas.microsoft.com/office/drawing/2014/main" id="{E04BB073-9188-0756-1700-0BEE2797B701}"/>
              </a:ext>
            </a:extLst>
          </p:cNvPr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30">
            <a:extLst>
              <a:ext uri="{FF2B5EF4-FFF2-40B4-BE49-F238E27FC236}">
                <a16:creationId xmlns:a16="http://schemas.microsoft.com/office/drawing/2014/main" id="{29D82670-8172-F1B9-E871-4F6DB5F19C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>
                <a:solidFill>
                  <a:schemeClr val="tx1"/>
                </a:solidFill>
              </a:rPr>
              <a:t>Risks &amp; Challenges 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F27BD86F-3B25-7B7F-2951-D5023CD170DF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713225" y="1400863"/>
            <a:ext cx="939406" cy="677100"/>
          </a:xfrm>
        </p:spPr>
        <p:txBody>
          <a:bodyPr/>
          <a:lstStyle/>
          <a:p>
            <a:r>
              <a:rPr lang="it-IT"/>
              <a:t>Public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6C1AFB2F-94AA-69EA-1668-37650ACC0DF3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xfrm>
            <a:off x="713223" y="2093563"/>
            <a:ext cx="939406" cy="677100"/>
          </a:xfrm>
        </p:spPr>
        <p:txBody>
          <a:bodyPr/>
          <a:lstStyle/>
          <a:p>
            <a:r>
              <a:rPr lang="it-IT"/>
              <a:t>Private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11" name="Titolo 10">
            <a:extLst>
              <a:ext uri="{FF2B5EF4-FFF2-40B4-BE49-F238E27FC236}">
                <a16:creationId xmlns:a16="http://schemas.microsoft.com/office/drawing/2014/main" id="{D9808AC4-5BA1-6A2B-D226-40508BA73229}"/>
              </a:ext>
            </a:extLst>
          </p:cNvPr>
          <p:cNvSpPr>
            <a:spLocks noGrp="1"/>
          </p:cNvSpPr>
          <p:nvPr>
            <p:ph type="title" idx="6"/>
          </p:nvPr>
        </p:nvSpPr>
        <p:spPr>
          <a:xfrm>
            <a:off x="742020" y="2795181"/>
            <a:ext cx="939404" cy="677100"/>
          </a:xfrm>
        </p:spPr>
        <p:txBody>
          <a:bodyPr/>
          <a:lstStyle/>
          <a:p>
            <a:r>
              <a:rPr lang="it-IT" err="1"/>
              <a:t>Hybrid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15" name="Sottotitolo 14">
            <a:extLst>
              <a:ext uri="{FF2B5EF4-FFF2-40B4-BE49-F238E27FC236}">
                <a16:creationId xmlns:a16="http://schemas.microsoft.com/office/drawing/2014/main" id="{FC06B665-0502-6ED3-5DB1-CAE51F563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7917" y="1400851"/>
            <a:ext cx="6926527" cy="673438"/>
          </a:xfr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it-IT" sz="1200"/>
              <a:t>Comes with </a:t>
            </a:r>
            <a:r>
              <a:rPr lang="it-IT" sz="1200" err="1"/>
              <a:t>less</a:t>
            </a:r>
            <a:r>
              <a:rPr lang="it-IT" sz="1200"/>
              <a:t> control over </a:t>
            </a:r>
            <a:r>
              <a:rPr lang="it-IT" sz="1200" err="1"/>
              <a:t>where</a:t>
            </a:r>
            <a:r>
              <a:rPr lang="it-IT" sz="1200"/>
              <a:t> data </a:t>
            </a:r>
            <a:r>
              <a:rPr lang="it-IT" sz="1200" err="1"/>
              <a:t>physically</a:t>
            </a:r>
            <a:r>
              <a:rPr lang="it-IT" sz="1200"/>
              <a:t> </a:t>
            </a:r>
            <a:r>
              <a:rPr lang="it-IT" sz="1200" err="1"/>
              <a:t>lives</a:t>
            </a:r>
            <a:r>
              <a:rPr lang="it-IT" sz="1200"/>
              <a:t>, </a:t>
            </a:r>
            <a:r>
              <a:rPr lang="it-IT" sz="1200" err="1"/>
              <a:t>potential</a:t>
            </a:r>
            <a:r>
              <a:rPr lang="it-IT" sz="1200"/>
              <a:t> compliance </a:t>
            </a:r>
            <a:r>
              <a:rPr lang="it-IT" sz="1200" err="1"/>
              <a:t>headaches</a:t>
            </a:r>
            <a:r>
              <a:rPr lang="it-IT" sz="1200"/>
              <a:t> in </a:t>
            </a:r>
            <a:r>
              <a:rPr lang="it-IT" sz="1200" err="1"/>
              <a:t>regulated</a:t>
            </a:r>
            <a:r>
              <a:rPr lang="it-IT" sz="1200"/>
              <a:t> </a:t>
            </a:r>
            <a:r>
              <a:rPr lang="it-IT" sz="1200" err="1"/>
              <a:t>industries</a:t>
            </a:r>
            <a:r>
              <a:rPr lang="it-IT" sz="1200"/>
              <a:t>, and the risk of </a:t>
            </a:r>
            <a:r>
              <a:rPr lang="it-IT" sz="1200" err="1"/>
              <a:t>unexpected</a:t>
            </a:r>
            <a:r>
              <a:rPr lang="it-IT" sz="1200"/>
              <a:t> costs </a:t>
            </a:r>
            <a:r>
              <a:rPr lang="it-IT" sz="1200" err="1"/>
              <a:t>if</a:t>
            </a:r>
            <a:r>
              <a:rPr lang="it-IT" sz="1200"/>
              <a:t> </a:t>
            </a:r>
            <a:r>
              <a:rPr lang="it-IT" sz="1200" err="1"/>
              <a:t>consumption</a:t>
            </a:r>
            <a:r>
              <a:rPr lang="it-IT" sz="1200"/>
              <a:t> </a:t>
            </a:r>
            <a:r>
              <a:rPr lang="it-IT" sz="1200" err="1"/>
              <a:t>isn't</a:t>
            </a:r>
            <a:r>
              <a:rPr lang="it-IT" sz="1200"/>
              <a:t> </a:t>
            </a:r>
            <a:r>
              <a:rPr lang="it-IT" sz="1200" err="1"/>
              <a:t>monitored</a:t>
            </a:r>
            <a:r>
              <a:rPr lang="it-IT" sz="1200"/>
              <a:t> </a:t>
            </a:r>
            <a:r>
              <a:rPr lang="it-IT" sz="1200" err="1"/>
              <a:t>carefully</a:t>
            </a:r>
            <a:r>
              <a:rPr lang="it-IT" sz="1200"/>
              <a:t> (cloud bills can </a:t>
            </a:r>
            <a:r>
              <a:rPr lang="it-IT" sz="1200" err="1"/>
              <a:t>spiral</a:t>
            </a:r>
            <a:r>
              <a:rPr lang="it-IT" sz="1200"/>
              <a:t> fast)</a:t>
            </a:r>
          </a:p>
        </p:txBody>
      </p:sp>
      <p:sp>
        <p:nvSpPr>
          <p:cNvPr id="19" name="Sottotitolo 18">
            <a:extLst>
              <a:ext uri="{FF2B5EF4-FFF2-40B4-BE49-F238E27FC236}">
                <a16:creationId xmlns:a16="http://schemas.microsoft.com/office/drawing/2014/main" id="{527A03EC-70FB-DBE2-BBDE-60E904E19384}"/>
              </a:ext>
            </a:extLst>
          </p:cNvPr>
          <p:cNvSpPr>
            <a:spLocks noGrp="1"/>
          </p:cNvSpPr>
          <p:nvPr>
            <p:ph type="subTitle" idx="9"/>
          </p:nvPr>
        </p:nvSpPr>
        <p:spPr>
          <a:xfrm>
            <a:off x="1681424" y="2887977"/>
            <a:ext cx="6778146" cy="292500"/>
          </a:xfrm>
        </p:spPr>
        <p:txBody>
          <a:bodyPr/>
          <a:lstStyle/>
          <a:p>
            <a:r>
              <a:rPr lang="it-IT" sz="1200" err="1"/>
              <a:t>Introduces</a:t>
            </a:r>
            <a:r>
              <a:rPr lang="it-IT" sz="1200"/>
              <a:t> </a:t>
            </a:r>
            <a:r>
              <a:rPr lang="it-IT" sz="1200" err="1"/>
              <a:t>significant</a:t>
            </a:r>
            <a:r>
              <a:rPr lang="it-IT" sz="1200"/>
              <a:t> </a:t>
            </a:r>
            <a:r>
              <a:rPr lang="it-IT" sz="1200" err="1"/>
              <a:t>complexity</a:t>
            </a:r>
            <a:r>
              <a:rPr lang="it-IT" sz="1200"/>
              <a:t>. </a:t>
            </a:r>
            <a:r>
              <a:rPr lang="it-IT" sz="1200" err="1"/>
              <a:t>Connectiong</a:t>
            </a:r>
            <a:r>
              <a:rPr lang="it-IT" sz="1200"/>
              <a:t> </a:t>
            </a:r>
            <a:r>
              <a:rPr lang="it-IT" sz="1200" err="1"/>
              <a:t>two</a:t>
            </a:r>
            <a:r>
              <a:rPr lang="it-IT" sz="1200"/>
              <a:t> </a:t>
            </a:r>
            <a:r>
              <a:rPr lang="it-IT" sz="1200" err="1"/>
              <a:t>enviroments</a:t>
            </a:r>
            <a:r>
              <a:rPr lang="it-IT" sz="1200"/>
              <a:t> </a:t>
            </a:r>
            <a:r>
              <a:rPr lang="it-IT" sz="1200" err="1"/>
              <a:t>securely</a:t>
            </a:r>
            <a:r>
              <a:rPr lang="it-IT" sz="1200"/>
              <a:t>, keeping data </a:t>
            </a:r>
            <a:r>
              <a:rPr lang="it-IT" sz="1200" err="1"/>
              <a:t>synchronized</a:t>
            </a:r>
            <a:r>
              <a:rPr lang="it-IT" sz="1200"/>
              <a:t>, and </a:t>
            </a:r>
            <a:r>
              <a:rPr lang="it-IT" sz="1200" err="1"/>
              <a:t>managing</a:t>
            </a:r>
            <a:r>
              <a:rPr lang="it-IT" sz="1200"/>
              <a:t> policies </a:t>
            </a:r>
            <a:r>
              <a:rPr lang="it-IT" sz="1200" err="1"/>
              <a:t>across</a:t>
            </a:r>
            <a:r>
              <a:rPr lang="it-IT" sz="1200"/>
              <a:t> </a:t>
            </a:r>
            <a:r>
              <a:rPr lang="it-IT" sz="1200" err="1"/>
              <a:t>both</a:t>
            </a:r>
            <a:r>
              <a:rPr lang="it-IT" sz="1200"/>
              <a:t> </a:t>
            </a:r>
            <a:r>
              <a:rPr lang="it-IT" sz="1200" err="1"/>
              <a:t>requires</a:t>
            </a:r>
            <a:r>
              <a:rPr lang="it-IT" sz="1200"/>
              <a:t> sophisticated </a:t>
            </a:r>
            <a:r>
              <a:rPr lang="it-IT" sz="1200" err="1"/>
              <a:t>tooling</a:t>
            </a:r>
            <a:r>
              <a:rPr lang="it-IT" sz="1200"/>
              <a:t> and expertise. Integration </a:t>
            </a:r>
            <a:r>
              <a:rPr lang="it-IT" sz="1200" err="1"/>
              <a:t>failures</a:t>
            </a:r>
            <a:r>
              <a:rPr lang="it-IT" sz="1200"/>
              <a:t> can create security gaps.</a:t>
            </a:r>
            <a:endParaRPr lang="it-IT"/>
          </a:p>
        </p:txBody>
      </p:sp>
      <p:sp>
        <p:nvSpPr>
          <p:cNvPr id="26" name="Sottotitolo 14">
            <a:extLst>
              <a:ext uri="{FF2B5EF4-FFF2-40B4-BE49-F238E27FC236}">
                <a16:creationId xmlns:a16="http://schemas.microsoft.com/office/drawing/2014/main" id="{9D8802EF-1B6F-5148-9CC9-8B17D65B203A}"/>
              </a:ext>
            </a:extLst>
          </p:cNvPr>
          <p:cNvSpPr txBox="1">
            <a:spLocks/>
          </p:cNvSpPr>
          <p:nvPr/>
        </p:nvSpPr>
        <p:spPr>
          <a:xfrm>
            <a:off x="1701245" y="2095305"/>
            <a:ext cx="6875952" cy="71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algn="ctr"/>
            <a:r>
              <a:rPr lang="it-IT" sz="1200" err="1"/>
              <a:t>Is</a:t>
            </a:r>
            <a:r>
              <a:rPr lang="it-IT" sz="1200"/>
              <a:t> </a:t>
            </a:r>
            <a:r>
              <a:rPr lang="it-IT" sz="1200" err="1"/>
              <a:t>expensive</a:t>
            </a:r>
            <a:r>
              <a:rPr lang="it-IT" sz="1200"/>
              <a:t>. </a:t>
            </a:r>
            <a:r>
              <a:rPr lang="it-IT" sz="1200" err="1"/>
              <a:t>You're</a:t>
            </a:r>
            <a:r>
              <a:rPr lang="it-IT" sz="1200"/>
              <a:t> </a:t>
            </a:r>
            <a:r>
              <a:rPr lang="it-IT" sz="1200" err="1"/>
              <a:t>essentially</a:t>
            </a:r>
            <a:r>
              <a:rPr lang="it-IT" sz="1200"/>
              <a:t> </a:t>
            </a:r>
            <a:r>
              <a:rPr lang="it-IT" sz="1200" err="1"/>
              <a:t>buying</a:t>
            </a:r>
            <a:r>
              <a:rPr lang="it-IT" sz="1200"/>
              <a:t> and </a:t>
            </a:r>
            <a:r>
              <a:rPr lang="it-IT" sz="1200" err="1"/>
              <a:t>managing</a:t>
            </a:r>
            <a:r>
              <a:rPr lang="it-IT" sz="1200"/>
              <a:t> </a:t>
            </a:r>
            <a:r>
              <a:rPr lang="it-IT" sz="1200" err="1"/>
              <a:t>your</a:t>
            </a:r>
            <a:r>
              <a:rPr lang="it-IT" sz="1200"/>
              <a:t> </a:t>
            </a:r>
            <a:r>
              <a:rPr lang="it-IT" sz="1200" err="1"/>
              <a:t>own</a:t>
            </a:r>
            <a:r>
              <a:rPr lang="it-IT" sz="1200"/>
              <a:t> hardware. </a:t>
            </a:r>
            <a:r>
              <a:rPr lang="it-IT" sz="1200" err="1"/>
              <a:t>It</a:t>
            </a:r>
            <a:r>
              <a:rPr lang="it-IT" sz="1200"/>
              <a:t> </a:t>
            </a:r>
            <a:r>
              <a:rPr lang="it-IT" sz="1200" err="1"/>
              <a:t>requires</a:t>
            </a:r>
            <a:r>
              <a:rPr lang="it-IT" sz="1200"/>
              <a:t> a </a:t>
            </a:r>
            <a:r>
              <a:rPr lang="it-IT" sz="1200" err="1"/>
              <a:t>skilled</a:t>
            </a:r>
            <a:r>
              <a:rPr lang="it-IT" sz="1200"/>
              <a:t> </a:t>
            </a:r>
            <a:r>
              <a:rPr lang="it-IT" sz="1200" err="1"/>
              <a:t>internal</a:t>
            </a:r>
            <a:r>
              <a:rPr lang="it-IT" sz="1200"/>
              <a:t> IT team, and scaling </a:t>
            </a:r>
            <a:r>
              <a:rPr lang="it-IT" sz="1200" err="1"/>
              <a:t>is</a:t>
            </a:r>
            <a:r>
              <a:rPr lang="it-IT" sz="1200"/>
              <a:t> limited by </a:t>
            </a:r>
            <a:r>
              <a:rPr lang="it-IT" sz="1200" err="1"/>
              <a:t>physical</a:t>
            </a:r>
            <a:r>
              <a:rPr lang="it-IT" sz="1200"/>
              <a:t> </a:t>
            </a:r>
            <a:r>
              <a:rPr lang="it-IT" sz="1200" err="1"/>
              <a:t>capacity</a:t>
            </a:r>
            <a:r>
              <a:rPr lang="it-IT" sz="1200"/>
              <a:t>. </a:t>
            </a:r>
            <a:r>
              <a:rPr lang="it-IT" sz="1200" err="1"/>
              <a:t>It</a:t>
            </a:r>
            <a:r>
              <a:rPr lang="it-IT" sz="1200"/>
              <a:t> </a:t>
            </a:r>
            <a:r>
              <a:rPr lang="it-IT" sz="1200" err="1"/>
              <a:t>also</a:t>
            </a:r>
            <a:r>
              <a:rPr lang="it-IT" sz="1200"/>
              <a:t> </a:t>
            </a:r>
            <a:r>
              <a:rPr lang="it-IT" sz="1200" err="1"/>
              <a:t>lacks</a:t>
            </a:r>
            <a:r>
              <a:rPr lang="it-IT" sz="1200"/>
              <a:t> </a:t>
            </a:r>
            <a:r>
              <a:rPr lang="it-IT" sz="1200" err="1"/>
              <a:t>tha</a:t>
            </a:r>
            <a:r>
              <a:rPr lang="it-IT" sz="1200"/>
              <a:t> global </a:t>
            </a:r>
            <a:r>
              <a:rPr lang="it-IT" sz="1200" err="1"/>
              <a:t>reach</a:t>
            </a:r>
            <a:r>
              <a:rPr lang="it-IT" sz="1200"/>
              <a:t> </a:t>
            </a:r>
            <a:r>
              <a:rPr lang="it-IT" sz="1200" err="1"/>
              <a:t>that</a:t>
            </a:r>
            <a:r>
              <a:rPr lang="it-IT" sz="1200"/>
              <a:t> public cloud providers </a:t>
            </a:r>
            <a:r>
              <a:rPr lang="it-IT" sz="1200" err="1"/>
              <a:t>offer</a:t>
            </a:r>
            <a:r>
              <a:rPr lang="it-IT" sz="1200"/>
              <a:t> out the box.</a:t>
            </a:r>
          </a:p>
        </p:txBody>
      </p:sp>
      <p:sp>
        <p:nvSpPr>
          <p:cNvPr id="27" name="Titolo 10">
            <a:extLst>
              <a:ext uri="{FF2B5EF4-FFF2-40B4-BE49-F238E27FC236}">
                <a16:creationId xmlns:a16="http://schemas.microsoft.com/office/drawing/2014/main" id="{406B93C7-41BF-B669-3A7E-3F4907371CA2}"/>
              </a:ext>
            </a:extLst>
          </p:cNvPr>
          <p:cNvSpPr txBox="1">
            <a:spLocks/>
          </p:cNvSpPr>
          <p:nvPr/>
        </p:nvSpPr>
        <p:spPr>
          <a:xfrm>
            <a:off x="742020" y="3409936"/>
            <a:ext cx="939404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Medium"/>
              <a:buNone/>
              <a:defRPr sz="30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r>
              <a:rPr lang="it-IT"/>
              <a:t>Multi</a:t>
            </a:r>
            <a:br>
              <a:rPr lang="it-IT"/>
            </a:br>
            <a:r>
              <a:rPr lang="it-IT"/>
              <a:t>Cloud</a:t>
            </a:r>
          </a:p>
        </p:txBody>
      </p:sp>
      <p:sp>
        <p:nvSpPr>
          <p:cNvPr id="28" name="Sottotitolo 18">
            <a:extLst>
              <a:ext uri="{FF2B5EF4-FFF2-40B4-BE49-F238E27FC236}">
                <a16:creationId xmlns:a16="http://schemas.microsoft.com/office/drawing/2014/main" id="{86406F37-910C-6EB7-9740-B4D3099AC745}"/>
              </a:ext>
            </a:extLst>
          </p:cNvPr>
          <p:cNvSpPr txBox="1">
            <a:spLocks/>
          </p:cNvSpPr>
          <p:nvPr/>
        </p:nvSpPr>
        <p:spPr>
          <a:xfrm>
            <a:off x="1681424" y="3540776"/>
            <a:ext cx="677814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1600" b="0" i="0" u="none" strike="noStrike" cap="non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Inter"/>
              <a:buNone/>
              <a:defRPr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it-IT" sz="1200" err="1"/>
              <a:t>Is</a:t>
            </a:r>
            <a:r>
              <a:rPr lang="it-IT" sz="1200"/>
              <a:t> </a:t>
            </a:r>
            <a:r>
              <a:rPr lang="it-IT" sz="1200" err="1"/>
              <a:t>arguably</a:t>
            </a:r>
            <a:r>
              <a:rPr lang="it-IT" sz="1200"/>
              <a:t> the </a:t>
            </a:r>
            <a:r>
              <a:rPr lang="it-IT" sz="1200" err="1"/>
              <a:t>most</a:t>
            </a:r>
            <a:r>
              <a:rPr lang="it-IT" sz="1200"/>
              <a:t> </a:t>
            </a:r>
            <a:r>
              <a:rPr lang="it-IT" sz="1200" err="1"/>
              <a:t>complex</a:t>
            </a:r>
            <a:r>
              <a:rPr lang="it-IT" sz="1200"/>
              <a:t> of </a:t>
            </a:r>
            <a:r>
              <a:rPr lang="it-IT" sz="1200" err="1"/>
              <a:t>all</a:t>
            </a:r>
            <a:r>
              <a:rPr lang="it-IT" sz="1200"/>
              <a:t>. </a:t>
            </a:r>
            <a:r>
              <a:rPr lang="it-IT" sz="1200" err="1"/>
              <a:t>Managing</a:t>
            </a:r>
            <a:r>
              <a:rPr lang="it-IT" sz="1200"/>
              <a:t> billing, security, </a:t>
            </a:r>
            <a:r>
              <a:rPr lang="it-IT" sz="1200" err="1"/>
              <a:t>identity</a:t>
            </a:r>
            <a:r>
              <a:rPr lang="it-IT" sz="1200"/>
              <a:t>, and compliance </a:t>
            </a:r>
            <a:r>
              <a:rPr lang="it-IT" sz="1200" err="1"/>
              <a:t>across</a:t>
            </a:r>
            <a:r>
              <a:rPr lang="it-IT" sz="1200"/>
              <a:t> </a:t>
            </a:r>
            <a:r>
              <a:rPr lang="it-IT" sz="1200" err="1"/>
              <a:t>three</a:t>
            </a:r>
            <a:r>
              <a:rPr lang="it-IT" sz="1200"/>
              <a:t> or </a:t>
            </a:r>
            <a:r>
              <a:rPr lang="it-IT" sz="1200" err="1"/>
              <a:t>four</a:t>
            </a:r>
            <a:r>
              <a:rPr lang="it-IT" sz="1200"/>
              <a:t> </a:t>
            </a:r>
            <a:r>
              <a:rPr lang="it-IT" sz="1200" err="1"/>
              <a:t>different</a:t>
            </a:r>
            <a:r>
              <a:rPr lang="it-IT" sz="1200"/>
              <a:t> providers, </a:t>
            </a:r>
            <a:r>
              <a:rPr lang="it-IT" sz="1200" err="1"/>
              <a:t>each</a:t>
            </a:r>
            <a:r>
              <a:rPr lang="it-IT" sz="1200"/>
              <a:t> with </a:t>
            </a:r>
            <a:r>
              <a:rPr lang="it-IT" sz="1200" err="1"/>
              <a:t>their</a:t>
            </a:r>
            <a:r>
              <a:rPr lang="it-IT" sz="1200"/>
              <a:t> </a:t>
            </a:r>
            <a:r>
              <a:rPr lang="it-IT" sz="1200" err="1"/>
              <a:t>own</a:t>
            </a:r>
            <a:r>
              <a:rPr lang="it-IT" sz="1200"/>
              <a:t> tools, </a:t>
            </a:r>
            <a:r>
              <a:rPr lang="it-IT" sz="1200" err="1"/>
              <a:t>APIs</a:t>
            </a:r>
            <a:r>
              <a:rPr lang="it-IT" sz="1200"/>
              <a:t>, and pricing models. Demands </a:t>
            </a:r>
            <a:r>
              <a:rPr lang="it-IT" sz="1200" err="1"/>
              <a:t>serious</a:t>
            </a:r>
            <a:r>
              <a:rPr lang="it-IT" sz="1200"/>
              <a:t> </a:t>
            </a:r>
            <a:r>
              <a:rPr lang="it-IT" sz="1200" err="1"/>
              <a:t>orchestration</a:t>
            </a:r>
            <a:r>
              <a:rPr lang="it-IT" sz="1200"/>
              <a:t> overhead. </a:t>
            </a:r>
            <a:r>
              <a:rPr lang="it-IT" sz="1200" err="1"/>
              <a:t>It</a:t>
            </a:r>
            <a:r>
              <a:rPr lang="it-IT" sz="1200"/>
              <a:t> can </a:t>
            </a:r>
            <a:r>
              <a:rPr lang="it-IT" sz="1200" err="1"/>
              <a:t>also</a:t>
            </a:r>
            <a:r>
              <a:rPr lang="it-IT" sz="1200"/>
              <a:t> make </a:t>
            </a:r>
            <a:r>
              <a:rPr lang="it-IT" sz="1200" err="1"/>
              <a:t>it</a:t>
            </a:r>
            <a:r>
              <a:rPr lang="it-IT" sz="1200"/>
              <a:t> </a:t>
            </a:r>
            <a:r>
              <a:rPr lang="it-IT" sz="1200" err="1"/>
              <a:t>harder</a:t>
            </a:r>
            <a:r>
              <a:rPr lang="it-IT" sz="1200"/>
              <a:t> ti </a:t>
            </a:r>
            <a:r>
              <a:rPr lang="it-IT" sz="1200" err="1"/>
              <a:t>iprimize</a:t>
            </a:r>
            <a:r>
              <a:rPr lang="it-IT" sz="1200"/>
              <a:t> costs, </a:t>
            </a:r>
            <a:r>
              <a:rPr lang="it-IT" sz="1200" err="1"/>
              <a:t>since</a:t>
            </a:r>
            <a:r>
              <a:rPr lang="it-IT" sz="1200"/>
              <a:t> </a:t>
            </a:r>
            <a:r>
              <a:rPr lang="it-IT" sz="1200" err="1"/>
              <a:t>workloads</a:t>
            </a:r>
            <a:r>
              <a:rPr lang="it-IT" sz="1200"/>
              <a:t> are </a:t>
            </a:r>
            <a:r>
              <a:rPr lang="it-IT" sz="1200" err="1"/>
              <a:t>scattered</a:t>
            </a:r>
            <a:r>
              <a:rPr lang="it-IT" sz="1200"/>
              <a:t> </a:t>
            </a:r>
            <a:r>
              <a:rPr lang="it-IT" sz="1200" err="1"/>
              <a:t>across</a:t>
            </a:r>
            <a:r>
              <a:rPr lang="it-IT" sz="1200"/>
              <a:t> </a:t>
            </a:r>
            <a:r>
              <a:rPr lang="it-IT" sz="1200" err="1"/>
              <a:t>platforms</a:t>
            </a:r>
            <a:r>
              <a:rPr lang="it-IT" sz="1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022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2"/>
          <p:cNvSpPr txBox="1">
            <a:spLocks noGrp="1"/>
          </p:cNvSpPr>
          <p:nvPr>
            <p:ph type="title"/>
          </p:nvPr>
        </p:nvSpPr>
        <p:spPr>
          <a:xfrm>
            <a:off x="713225" y="539506"/>
            <a:ext cx="4448100" cy="95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55" name="Google Shape;355;p42"/>
          <p:cNvSpPr txBox="1">
            <a:spLocks noGrp="1"/>
          </p:cNvSpPr>
          <p:nvPr>
            <p:ph type="subTitle" idx="1"/>
          </p:nvPr>
        </p:nvSpPr>
        <p:spPr>
          <a:xfrm>
            <a:off x="805980" y="1548988"/>
            <a:ext cx="44481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Do you have any questions?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713225" y="3908194"/>
            <a:ext cx="4151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Please keep this slide for attribution</a:t>
            </a:r>
            <a:endParaRPr sz="1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42"/>
          <p:cNvSpPr/>
          <p:nvPr/>
        </p:nvSpPr>
        <p:spPr>
          <a:xfrm>
            <a:off x="1051753" y="2650870"/>
            <a:ext cx="291347" cy="291669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42"/>
          <p:cNvGrpSpPr/>
          <p:nvPr/>
        </p:nvGrpSpPr>
        <p:grpSpPr>
          <a:xfrm>
            <a:off x="1485762" y="2650398"/>
            <a:ext cx="288091" cy="292613"/>
            <a:chOff x="3303268" y="3817349"/>
            <a:chExt cx="346056" cy="345674"/>
          </a:xfrm>
        </p:grpSpPr>
        <p:sp>
          <p:nvSpPr>
            <p:cNvPr id="359" name="Google Shape;359;p42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2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2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2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" name="Google Shape;363;p42"/>
          <p:cNvGrpSpPr/>
          <p:nvPr/>
        </p:nvGrpSpPr>
        <p:grpSpPr>
          <a:xfrm>
            <a:off x="1928136" y="2650398"/>
            <a:ext cx="292625" cy="292613"/>
            <a:chOff x="3752358" y="3817349"/>
            <a:chExt cx="346056" cy="345674"/>
          </a:xfrm>
        </p:grpSpPr>
        <p:sp>
          <p:nvSpPr>
            <p:cNvPr id="364" name="Google Shape;364;p42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2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2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2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" name="Google Shape;368;p42"/>
          <p:cNvGrpSpPr/>
          <p:nvPr/>
        </p:nvGrpSpPr>
        <p:grpSpPr>
          <a:xfrm>
            <a:off x="2357868" y="2650393"/>
            <a:ext cx="292620" cy="292623"/>
            <a:chOff x="8145888" y="2870792"/>
            <a:chExt cx="292620" cy="292623"/>
          </a:xfrm>
        </p:grpSpPr>
        <p:sp>
          <p:nvSpPr>
            <p:cNvPr id="369" name="Google Shape;369;p42"/>
            <p:cNvSpPr/>
            <p:nvPr/>
          </p:nvSpPr>
          <p:spPr>
            <a:xfrm>
              <a:off x="8211186" y="2934325"/>
              <a:ext cx="162023" cy="165580"/>
            </a:xfrm>
            <a:custGeom>
              <a:avLst/>
              <a:gdLst/>
              <a:ahLst/>
              <a:cxnLst/>
              <a:rect l="l" t="t" r="r" b="b"/>
              <a:pathLst>
                <a:path w="494728" h="505587" extrusionOk="0">
                  <a:moveTo>
                    <a:pt x="294418" y="214122"/>
                  </a:moveTo>
                  <a:lnTo>
                    <a:pt x="478631" y="0"/>
                  </a:lnTo>
                  <a:lnTo>
                    <a:pt x="435007" y="0"/>
                  </a:lnTo>
                  <a:lnTo>
                    <a:pt x="275082" y="185928"/>
                  </a:lnTo>
                  <a:lnTo>
                    <a:pt x="147352" y="0"/>
                  </a:lnTo>
                  <a:lnTo>
                    <a:pt x="0" y="0"/>
                  </a:lnTo>
                  <a:lnTo>
                    <a:pt x="193167" y="281083"/>
                  </a:lnTo>
                  <a:lnTo>
                    <a:pt x="0" y="505587"/>
                  </a:lnTo>
                  <a:lnTo>
                    <a:pt x="43625" y="505587"/>
                  </a:lnTo>
                  <a:lnTo>
                    <a:pt x="212503" y="309277"/>
                  </a:lnTo>
                  <a:lnTo>
                    <a:pt x="347377" y="505587"/>
                  </a:lnTo>
                  <a:lnTo>
                    <a:pt x="494729" y="505587"/>
                  </a:lnTo>
                  <a:lnTo>
                    <a:pt x="294418" y="214027"/>
                  </a:lnTo>
                  <a:lnTo>
                    <a:pt x="294418" y="214027"/>
                  </a:lnTo>
                  <a:close/>
                  <a:moveTo>
                    <a:pt x="234601" y="283655"/>
                  </a:moveTo>
                  <a:lnTo>
                    <a:pt x="215075" y="255651"/>
                  </a:lnTo>
                  <a:lnTo>
                    <a:pt x="59341" y="32861"/>
                  </a:lnTo>
                  <a:lnTo>
                    <a:pt x="126397" y="32861"/>
                  </a:lnTo>
                  <a:lnTo>
                    <a:pt x="252032" y="212598"/>
                  </a:lnTo>
                  <a:lnTo>
                    <a:pt x="271558" y="240601"/>
                  </a:lnTo>
                  <a:lnTo>
                    <a:pt x="434912" y="474250"/>
                  </a:lnTo>
                  <a:lnTo>
                    <a:pt x="367855" y="474250"/>
                  </a:lnTo>
                  <a:lnTo>
                    <a:pt x="234505" y="283559"/>
                  </a:lnTo>
                  <a:lnTo>
                    <a:pt x="234505" y="28355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42"/>
            <p:cNvSpPr/>
            <p:nvPr/>
          </p:nvSpPr>
          <p:spPr>
            <a:xfrm>
              <a:off x="8145888" y="2870792"/>
              <a:ext cx="292620" cy="292623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3" name="Google Shape;373;p42"/>
          <p:cNvSpPr txBox="1"/>
          <p:nvPr/>
        </p:nvSpPr>
        <p:spPr>
          <a:xfrm>
            <a:off x="7800300" y="4851000"/>
            <a:ext cx="12258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 Company Name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E6B56AB-9226-F2D5-A805-3769808578E8}"/>
              </a:ext>
            </a:extLst>
          </p:cNvPr>
          <p:cNvSpPr/>
          <p:nvPr/>
        </p:nvSpPr>
        <p:spPr>
          <a:xfrm>
            <a:off x="570451" y="2466364"/>
            <a:ext cx="3380764" cy="19126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Google Shape;158;p30">
            <a:extLst>
              <a:ext uri="{FF2B5EF4-FFF2-40B4-BE49-F238E27FC236}">
                <a16:creationId xmlns:a16="http://schemas.microsoft.com/office/drawing/2014/main" id="{B639A92F-1347-6D2F-717E-94934C9471CF}"/>
              </a:ext>
            </a:extLst>
          </p:cNvPr>
          <p:cNvSpPr txBox="1"/>
          <p:nvPr/>
        </p:nvSpPr>
        <p:spPr>
          <a:xfrm>
            <a:off x="260059" y="4851000"/>
            <a:ext cx="2309066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Daniele Buscemi Luca Tarallo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</Words>
  <Application>Microsoft Office PowerPoint</Application>
  <PresentationFormat>Presentazione su schermo (16:9)</PresentationFormat>
  <Paragraphs>119</Paragraphs>
  <Slides>17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5" baseType="lpstr">
      <vt:lpstr>Roboto</vt:lpstr>
      <vt:lpstr>Inter Medium</vt:lpstr>
      <vt:lpstr>Arial</vt:lpstr>
      <vt:lpstr>Calibri</vt:lpstr>
      <vt:lpstr>Inter</vt:lpstr>
      <vt:lpstr>Open Sans</vt:lpstr>
      <vt:lpstr>Nunito Light</vt:lpstr>
      <vt:lpstr>Minimalist Pitch Deck by Slidesgo</vt:lpstr>
      <vt:lpstr>Cloud Deployment Models</vt:lpstr>
      <vt:lpstr>Definition</vt:lpstr>
      <vt:lpstr>Definition</vt:lpstr>
      <vt:lpstr>Why It Exists</vt:lpstr>
      <vt:lpstr>Let’s have a look</vt:lpstr>
      <vt:lpstr>How It Works</vt:lpstr>
      <vt:lpstr>Public cloud</vt:lpstr>
      <vt:lpstr>Private cloud</vt:lpstr>
      <vt:lpstr>Hybrid cloud</vt:lpstr>
      <vt:lpstr>Multi-cloud</vt:lpstr>
      <vt:lpstr>Real World Examples</vt:lpstr>
      <vt:lpstr>Real-World Examples</vt:lpstr>
      <vt:lpstr>Advantages &amp; Benefits</vt:lpstr>
      <vt:lpstr>Advantages &amp; Benefits</vt:lpstr>
      <vt:lpstr>Risks &amp; Challenges</vt:lpstr>
      <vt:lpstr>Risks &amp; Challenges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Luca Tarallo</dc:creator>
  <cp:lastModifiedBy>Luca Tarallo</cp:lastModifiedBy>
  <cp:revision>2</cp:revision>
  <dcterms:modified xsi:type="dcterms:W3CDTF">2026-03-16T15:31:35Z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2026-02-17T15:28:43Z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d02caafd-d7d6-4ef9-970b-9350c6790fba</vt:lpwstr>
  </property>
  <property fmtid="{D5CDD505-2E9C-101B-9397-08002B2CF9AE}" pid="7" name="MSIP_Label_defa4170-0d19-0005-0004-bc88714345d2_ActionId">
    <vt:lpwstr>84c2d471-ba69-4435-8ce8-3ecee342b8c8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