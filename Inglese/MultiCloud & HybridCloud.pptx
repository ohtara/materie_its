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9" autoAdjust="0"/>
    <p:restoredTop sz="94990" autoAdjust="0"/>
  </p:normalViewPr>
  <p:slideViewPr>
    <p:cSldViewPr snapToGrid="0" snapToObjects="1">
      <p:cViewPr>
        <p:scale>
          <a:sx n="147" d="100"/>
          <a:sy n="147" d="100"/>
        </p:scale>
        <p:origin x="39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96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498080" y="-54864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229600" y="274320"/>
            <a:ext cx="1828800" cy="1828800"/>
          </a:xfrm>
          <a:prstGeom prst="ellipse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84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ARCHITECTURE SERIES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11480" y="100584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&amp;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Cloud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11480" y="2788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Models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11480" y="3364992"/>
            <a:ext cx="5029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1148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Strategies, Benefits &amp; Best Practices for Modern Cloud Infrastructure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11480" y="47091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 |  Deployment Models  |  Enterprise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22960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Multi-Cloud?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architecture, and key providers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6576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Hybrid Cloud?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848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architecture, and 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6576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&amp; Challenges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considerations for each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355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vs Hybrid Cloud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and when to use each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502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4165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examples and deployment scenarios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Multi-Cloud?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7840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868680"/>
            <a:ext cx="7498080" cy="8686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is the use of two or more cloud computing services from different providers — such as AWS, Azure, and Google Cloud — within a single architecture, allowing organizations to leverage the unique strengths of each.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26060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87552" y="2221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1874520"/>
            <a:ext cx="260604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2219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822192" y="2221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035040" y="1874520"/>
            <a:ext cx="260604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659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5683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656832" y="2221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36576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Characteristics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36576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365760" y="3337560"/>
            <a:ext cx="26060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8328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240" y="33741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Diversity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3767328"/>
            <a:ext cx="242316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spread across multiple public cloud vendors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20040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0"/>
          <p:cNvSpPr/>
          <p:nvPr/>
        </p:nvSpPr>
        <p:spPr>
          <a:xfrm>
            <a:off x="3200400" y="3337560"/>
            <a:ext cx="26060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383280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611880" y="33741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 Vendor Lock-in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291840" y="3767328"/>
            <a:ext cx="242316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switch or combine services as needed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035040" y="33375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4"/>
          <p:cNvSpPr/>
          <p:nvPr/>
        </p:nvSpPr>
        <p:spPr>
          <a:xfrm>
            <a:off x="6035040" y="3337560"/>
            <a:ext cx="26060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83280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446520" y="33741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Performance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126480" y="3767328"/>
            <a:ext cx="242316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workload runs on the best-suited platform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distributed across multiple independent cloud providers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1051560"/>
            <a:ext cx="2286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1155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04488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29000" y="1444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Management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29000" y="1627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Orchestration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21945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871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264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" y="2907792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EC2, S3, Lambda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&amp; AI/ML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29000" y="3291840"/>
            <a:ext cx="21945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4015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41064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20440" y="3822192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400800" y="2377440"/>
            <a:ext cx="219456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8716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12864" y="2496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92240" y="2907792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GKE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554480" y="23317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7"/>
          <p:cNvSpPr/>
          <p:nvPr/>
        </p:nvSpPr>
        <p:spPr>
          <a:xfrm>
            <a:off x="5760720" y="1965960"/>
            <a:ext cx="1874520" cy="41148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4572000" y="1965960"/>
            <a:ext cx="0" cy="1325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0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cloud provider operates independently — the organization connects to all through unified management tools (e.g., Terraform, Kubernetes)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2651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926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Vendor Lock-in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371600"/>
            <a:ext cx="2450592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to migrate workloads between providers, negotiate better pricing, and avoid dependency on a single vendor's roadmap.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9611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246120" y="896112"/>
            <a:ext cx="2651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9692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 Flexibility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55848" y="1371600"/>
            <a:ext cx="2450592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workloads in specific regions or data centers to meet data sovereignty requirements and minimize latency.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89611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6126480" y="896112"/>
            <a:ext cx="2651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96926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969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Best-of-Breed Services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36208" y="1371600"/>
            <a:ext cx="2450592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optimal service from each provider — AWS for storage, Azure for identity, GCP for ML — maximizing capability.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286207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365760" y="2862072"/>
            <a:ext cx="2651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3522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Availability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5488" y="3337560"/>
            <a:ext cx="2450592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Distributing across providers eliminates single points of failure, ensuring business continuity even if one provider faces an outage.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46120" y="286207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3246120" y="2862072"/>
            <a:ext cx="2651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93522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3931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Optimization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55848" y="3337560"/>
            <a:ext cx="2450592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competitive pricing and specialized pricing tiers across providers to minimize total cloud spend.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2862072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6126480" y="2862072"/>
            <a:ext cx="2651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93522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19672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36208" y="3337560"/>
            <a:ext cx="2450592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data residency and compliance requirements by routing specific workloads to certified provider regions.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15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05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Increased Complexity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298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provider consoles, APIs, and toolchains simultaneously demands highly skilled teams and robust governance frameworks.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90195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65760" y="1901952"/>
            <a:ext cx="54864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031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19933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Governance Gaps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14400" y="2286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has different security models and compliance certifications, creating potential gaps that attackers can exploit.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89504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365760" y="2889504"/>
            <a:ext cx="54864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09067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980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Transfer Costs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14400" y="327355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data between cloud providers (egress fees) can be surprisingly expensive and must be carefully planned in architecture decisions.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877056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365760" y="3877056"/>
            <a:ext cx="54864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7822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3968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Expertise Requirements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4400" y="42611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deep expertise in multiple platforms simultaneously — AWS, Azure, and GCP each have unique services and terminology.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Hybrid Cloud?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7840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868680"/>
            <a:ext cx="7498080" cy="8686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combines a private cloud (on-premises data center or dedicated infrastructure) with one or more public clouds, connected through secure network links — allowing data and applications to move seamlessly between environments.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41605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Cloud / On-Premises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65760" y="2286000"/>
            <a:ext cx="4160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42316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4231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Organization's own data center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88036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" y="28803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 resources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33756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33375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security &amp; control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9476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9808" y="37947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/ regulated data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25196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9808" y="42519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application hosting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4846320" y="1874520"/>
            <a:ext cx="41605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920240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66944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Cloud</a:t>
            </a:r>
            <a:endParaRPr lang="en-US" sz="1300" dirty="0"/>
          </a:p>
        </p:txBody>
      </p:sp>
      <p:sp>
        <p:nvSpPr>
          <p:cNvPr id="25" name="Shape 15"/>
          <p:cNvSpPr/>
          <p:nvPr/>
        </p:nvSpPr>
        <p:spPr>
          <a:xfrm>
            <a:off x="4846320" y="2286000"/>
            <a:ext cx="4160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42316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30368" y="24231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cloud provider (AWS, Azure, GCP)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88036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30368" y="28803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on-demand resources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337560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30368" y="33375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for variable workloads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794760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230368" y="37947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modern services</a:t>
            </a:r>
            <a:endParaRPr lang="en-US" sz="11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251960"/>
            <a:ext cx="201168" cy="20116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230368" y="42519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geographic reach</a:t>
            </a:r>
            <a:endParaRPr lang="en-US" sz="1100" dirty="0"/>
          </a:p>
        </p:txBody>
      </p:sp>
      <p:sp>
        <p:nvSpPr>
          <p:cNvPr id="36" name="Shape 21"/>
          <p:cNvSpPr/>
          <p:nvPr/>
        </p:nvSpPr>
        <p:spPr>
          <a:xfrm>
            <a:off x="4315968" y="2926080"/>
            <a:ext cx="5120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2"/>
          <p:cNvSpPr/>
          <p:nvPr/>
        </p:nvSpPr>
        <p:spPr>
          <a:xfrm>
            <a:off x="4288536" y="32004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Direct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2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Cloud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infrastructure connected to public cloud through secure, high-speed links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10896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10896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743200" cy="685800"/>
          </a:xfrm>
          <a:prstGeom prst="rect">
            <a:avLst/>
          </a:prstGeom>
          <a:solidFill>
            <a:srgbClr val="032D3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007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2743200" cy="685800"/>
          </a:xfrm>
          <a:prstGeom prst="rect">
            <a:avLst/>
          </a:prstGeom>
          <a:solidFill>
            <a:srgbClr val="032D3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5694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Applications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2743200" cy="685800"/>
          </a:xfrm>
          <a:prstGeom prst="rect">
            <a:avLst/>
          </a:prstGeom>
          <a:solidFill>
            <a:srgbClr val="032D3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381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474720" y="2194560"/>
            <a:ext cx="2194560" cy="1051560"/>
          </a:xfrm>
          <a:prstGeom prst="rect">
            <a:avLst/>
          </a:prstGeom>
          <a:solidFill>
            <a:srgbClr val="032D3E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2860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3192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3520440" y="2679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Direct Connect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SD-WAN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474720" y="2715768"/>
            <a:ext cx="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5669280" y="1051560"/>
            <a:ext cx="3108960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CLOUD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0" y="1417320"/>
            <a:ext cx="31089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5852160" y="1554480"/>
            <a:ext cx="2743200" cy="685800"/>
          </a:xfrm>
          <a:prstGeom prst="rect">
            <a:avLst/>
          </a:prstGeom>
          <a:solidFill>
            <a:srgbClr val="032D3E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170078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19088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Compute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852160" y="2423160"/>
            <a:ext cx="2743200" cy="685800"/>
          </a:xfrm>
          <a:prstGeom prst="rect">
            <a:avLst/>
          </a:prstGeom>
          <a:solidFill>
            <a:srgbClr val="032D3E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2569464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19088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AI/ML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852160" y="3291840"/>
            <a:ext cx="2743200" cy="685800"/>
          </a:xfrm>
          <a:prstGeom prst="rect">
            <a:avLst/>
          </a:prstGeom>
          <a:solidFill>
            <a:srgbClr val="032D3E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3438144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19088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Global Reach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26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model ensures sensitive workloads remain private while elastic and innovative capabilities are sourced from the public cloud.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Cloud: Benefits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Benefits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4864" cy="7680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399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Control &amp; Compliance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73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on-premises; regulated industries meet compliance without cloud barriers.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54864" cy="7680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Flexibility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542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to public cloud for peak demand while keeping baseline workloads on private infrastructure.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54864" cy="7680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capital expenditure by leveraging public cloud for variable workloads and storage.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54864" cy="7680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 Cloud Adoption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79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applications incrementally at your own pace, reducing transformation risk significantly.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841248"/>
            <a:ext cx="402336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846320" y="877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 Challenges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754880" y="1325880"/>
            <a:ext cx="54864" cy="7680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937760" y="1399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Complexity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16733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on-premises and cloud environments requires careful networking, API design, and security configuration.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19456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754880" y="2194560"/>
            <a:ext cx="54864" cy="7680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937760" y="2267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Concerns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542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moving between private and public environments introduces latency that can impact application performance.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06324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4754880" y="3063240"/>
            <a:ext cx="54864" cy="7680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937760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Overhead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4107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on-premises hardware alongside cloud subscriptions increases operational and capital expenses.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931920"/>
            <a:ext cx="4023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4754880" y="3931920"/>
            <a:ext cx="54864" cy="7680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937760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Boundary Management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4279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connection between environments and ensuring consistent policies across both is a significant challenge.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vs. Hybrid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2560320" cy="411480"/>
          </a:xfrm>
          <a:prstGeom prst="rect">
            <a:avLst/>
          </a:prstGeom>
          <a:solidFill>
            <a:srgbClr val="021E2D"/>
          </a:solidFill>
          <a:ln w="12700">
            <a:solidFill>
              <a:srgbClr val="021E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786384"/>
            <a:ext cx="29260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786384"/>
            <a:ext cx="29260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4360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Cloud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3444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926080" y="123444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852160" y="123444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5488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35808" y="1344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public cloud providers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61888" y="1344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+ private/on-prem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78308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926080" y="1783080"/>
            <a:ext cx="2926080" cy="521208"/>
          </a:xfrm>
          <a:prstGeom prst="rect">
            <a:avLst/>
          </a:prstGeom>
          <a:solidFill>
            <a:srgbClr val="F0F9FC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852160" y="1783080"/>
            <a:ext cx="2926080" cy="521208"/>
          </a:xfrm>
          <a:prstGeom prst="rect">
            <a:avLst/>
          </a:prstGeom>
          <a:solidFill>
            <a:srgbClr val="F0F9FC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5488" y="1892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Goal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35808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lock-in, best-of-breed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61888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+ cloud scalability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33172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2926080" y="233172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5852160" y="233172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" y="2441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35808" y="2441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public cloud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61888" y="2441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owned &amp; rented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2926080" y="2880360"/>
            <a:ext cx="2926080" cy="521208"/>
          </a:xfrm>
          <a:prstGeom prst="rect">
            <a:avLst/>
          </a:prstGeom>
          <a:solidFill>
            <a:srgbClr val="F0F9FC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5852160" y="2880360"/>
            <a:ext cx="2926080" cy="521208"/>
          </a:xfrm>
          <a:prstGeom prst="rect">
            <a:avLst/>
          </a:prstGeom>
          <a:solidFill>
            <a:srgbClr val="F0F9FC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75488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35808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public clouds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61888" y="2990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or public per policy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42900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2926080" y="342900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5852160" y="342900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475488" y="3538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35808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(multi-vendor management)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61888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(integration-focused)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97764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40"/>
          <p:cNvSpPr/>
          <p:nvPr/>
        </p:nvSpPr>
        <p:spPr>
          <a:xfrm>
            <a:off x="2926080" y="3977640"/>
            <a:ext cx="2926080" cy="521208"/>
          </a:xfrm>
          <a:prstGeom prst="rect">
            <a:avLst/>
          </a:prstGeom>
          <a:solidFill>
            <a:srgbClr val="F0F9FC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5852160" y="3977640"/>
            <a:ext cx="2926080" cy="521208"/>
          </a:xfrm>
          <a:prstGeom prst="rect">
            <a:avLst/>
          </a:prstGeom>
          <a:solidFill>
            <a:srgbClr val="F0F9FC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475488" y="4087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Model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35808" y="4087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cloud subscriptions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61888" y="4087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+ OpEx hybrid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526280"/>
            <a:ext cx="2560320" cy="521208"/>
          </a:xfrm>
          <a:prstGeom prst="rect">
            <a:avLst/>
          </a:prstGeom>
          <a:solidFill>
            <a:srgbClr val="E8F4F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2926080" y="452628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7"/>
          <p:cNvSpPr/>
          <p:nvPr/>
        </p:nvSpPr>
        <p:spPr>
          <a:xfrm>
            <a:off x="5852160" y="4526280"/>
            <a:ext cx="292608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475488" y="4636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Suited For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035808" y="4636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enterprises, tech-first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61888" y="4636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industries, legacy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1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C5DDE8"/>
          </a:solidFill>
          <a:ln w="12700">
            <a:solidFill>
              <a:srgbClr val="C5DD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7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886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Use Cases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29844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4023360" cy="32004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457200" y="1344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6824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&amp; Spotify use AWS for streaming while using GCP for analytics and recommendation engines.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414016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65760" y="2414016"/>
            <a:ext cx="4023360" cy="32004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57200" y="2459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2798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distributes risk by running trading systems on AWS while backup/DR sits on Azure.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3529584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365760" y="3529584"/>
            <a:ext cx="4023360" cy="32004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57200" y="3575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913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uses multi-cloud to avoid lock-in, optimize costs per region, and ensure global availability.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82296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7782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66360" y="886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Cloud Use Cases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754880" y="129844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0"/>
          <p:cNvSpPr/>
          <p:nvPr/>
        </p:nvSpPr>
        <p:spPr>
          <a:xfrm>
            <a:off x="4754880" y="1298448"/>
            <a:ext cx="4023360" cy="32004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4846320" y="1344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46320" y="16824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store patient EHR data on-premises for HIPAA compliance, burst to cloud for AI diagnostics.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54880" y="2414016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4"/>
          <p:cNvSpPr/>
          <p:nvPr/>
        </p:nvSpPr>
        <p:spPr>
          <a:xfrm>
            <a:off x="4754880" y="2414016"/>
            <a:ext cx="4023360" cy="32004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5"/>
          <p:cNvSpPr/>
          <p:nvPr/>
        </p:nvSpPr>
        <p:spPr>
          <a:xfrm>
            <a:off x="4846320" y="24597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846320" y="2798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keep core transaction systems in private data centers while customer apps scale on public cloud.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754880" y="3529584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8"/>
          <p:cNvSpPr/>
          <p:nvPr/>
        </p:nvSpPr>
        <p:spPr>
          <a:xfrm>
            <a:off x="4754880" y="3529584"/>
            <a:ext cx="4023360" cy="320040"/>
          </a:xfrm>
          <a:prstGeom prst="rect">
            <a:avLst/>
          </a:prstGeom>
          <a:solidFill>
            <a:srgbClr val="032D3E"/>
          </a:solidFill>
          <a:ln w="12700">
            <a:solidFill>
              <a:srgbClr val="032D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29"/>
          <p:cNvSpPr/>
          <p:nvPr/>
        </p:nvSpPr>
        <p:spPr>
          <a:xfrm>
            <a:off x="4846320" y="35753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846320" y="3913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agencies use private cloud for classified data and Azure Government for collaboration services.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032D3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365760" y="960120"/>
            <a:ext cx="4572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179576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0515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Multi-Cloud = Provider Diversity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0120" y="14173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best capabilities from AWS, Azure, and GCP without being locked to one vendor.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1938528"/>
            <a:ext cx="8412480" cy="822960"/>
          </a:xfrm>
          <a:prstGeom prst="rect">
            <a:avLst/>
          </a:prstGeom>
          <a:solidFill>
            <a:srgbClr val="032D3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65760" y="1938528"/>
            <a:ext cx="45720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15798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029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Cloud = Controlled Integration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60120" y="23957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on-premises security with cloud scalability through secure, high-speed connections.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916936"/>
            <a:ext cx="8412480" cy="822960"/>
          </a:xfrm>
          <a:prstGeom prst="rect">
            <a:avLst/>
          </a:prstGeom>
          <a:solidFill>
            <a:srgbClr val="032D3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365760" y="2916936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3639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00837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Based on Your Needs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60120" y="33741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often favor hybrid; growth-focused tech companies lean toward multi-cloud.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3895344"/>
            <a:ext cx="8412480" cy="822960"/>
          </a:xfrm>
          <a:prstGeom prst="rect">
            <a:avLst/>
          </a:prstGeom>
          <a:solidFill>
            <a:srgbClr val="032D3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8"/>
          <p:cNvSpPr/>
          <p:nvPr/>
        </p:nvSpPr>
        <p:spPr>
          <a:xfrm>
            <a:off x="365760" y="3895344"/>
            <a:ext cx="45720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1148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0120" y="39867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is Non-Negotiable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60120" y="43525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require robust identity management, encryption, and consistent governance policies.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not cloud vs. on-premises — it is the right workload on the right platform.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</Words>
  <Application>Microsoft Office PowerPoint</Application>
  <PresentationFormat>Presentazione su schermo (16:9)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Multi-Cloud &amp; Hybrid Cloud Deployment Models</dc:title>
  <dc:subject>PptxGenJS Presentation</dc:subject>
  <dc:creator>PptxGenJS</dc:creator>
  <cp:lastModifiedBy>Luca Tarallo</cp:lastModifiedBy>
  <cp:revision>2</cp:revision>
  <dcterms:created xsi:type="dcterms:W3CDTF">2026-03-19T13:59:37Z</dcterms:created>
  <dcterms:modified xsi:type="dcterms:W3CDTF">2026-03-19T14:05:46Z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2026-03-19T14:05:46Z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d02caafd-d7d6-4ef9-970b-9350c6790fba</vt:lpwstr>
  </property>
  <property fmtid="{D5CDD505-2E9C-101B-9397-08002B2CF9AE}" pid="7" name="MSIP_Label_defa4170-0d19-0005-0004-bc88714345d2_ActionId">
    <vt:lpwstr>2caca95b-3b55-4d22-ab77-9afb09d23f2e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